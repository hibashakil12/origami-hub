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72" r:id="rId16"/>
    <p:sldId id="273" r:id="rId17"/>
    <p:sldId id="274" r:id="rId18"/>
    <p:sldId id="271" r:id="rId19"/>
    <p:sldId id="269"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9" autoAdjust="0"/>
    <p:restoredTop sz="94951" autoAdjust="0"/>
  </p:normalViewPr>
  <p:slideViewPr>
    <p:cSldViewPr snapToGrid="0">
      <p:cViewPr varScale="1">
        <p:scale>
          <a:sx n="82" d="100"/>
          <a:sy n="82" d="100"/>
        </p:scale>
        <p:origin x="25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B33FDF-4461-43E6-9427-6C42F0931708}" type="datetimeFigureOut">
              <a:rPr lang="en-US" smtClean="0"/>
              <a:t>12/27/2025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4AF18F-EA49-4230-9F1E-694C7D47F40D}" type="slidenum">
              <a:rPr lang="en-US" smtClean="0"/>
              <a:t>‹#›</a:t>
            </a:fld>
            <a:endParaRPr lang="en-US"/>
          </a:p>
        </p:txBody>
      </p:sp>
    </p:spTree>
    <p:extLst>
      <p:ext uri="{BB962C8B-B14F-4D97-AF65-F5344CB8AC3E}">
        <p14:creationId xmlns:p14="http://schemas.microsoft.com/office/powerpoint/2010/main" val="3553558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04AF18F-EA49-4230-9F1E-694C7D47F40D}" type="slidenum">
              <a:rPr lang="en-US" smtClean="0"/>
              <a:t>5</a:t>
            </a:fld>
            <a:endParaRPr lang="en-US"/>
          </a:p>
        </p:txBody>
      </p:sp>
    </p:spTree>
    <p:extLst>
      <p:ext uri="{BB962C8B-B14F-4D97-AF65-F5344CB8AC3E}">
        <p14:creationId xmlns:p14="http://schemas.microsoft.com/office/powerpoint/2010/main" val="858965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65672FA-A06F-4C04-B344-47F9A2C8E552}"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BBD456C-CCCD-4FC7-AF08-155EC06E38BA}" type="slidenum">
              <a:rPr lang="en-US" smtClean="0"/>
              <a:t>‹#›</a:t>
            </a:fld>
            <a:endParaRPr lang="en-US"/>
          </a:p>
        </p:txBody>
      </p:sp>
    </p:spTree>
    <p:extLst>
      <p:ext uri="{BB962C8B-B14F-4D97-AF65-F5344CB8AC3E}">
        <p14:creationId xmlns:p14="http://schemas.microsoft.com/office/powerpoint/2010/main" val="358939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5672FA-A06F-4C04-B344-47F9A2C8E552}"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BBD456C-CCCD-4FC7-AF08-155EC06E38BA}" type="slidenum">
              <a:rPr lang="en-US" smtClean="0"/>
              <a:t>‹#›</a:t>
            </a:fld>
            <a:endParaRPr lang="en-US"/>
          </a:p>
        </p:txBody>
      </p:sp>
    </p:spTree>
    <p:extLst>
      <p:ext uri="{BB962C8B-B14F-4D97-AF65-F5344CB8AC3E}">
        <p14:creationId xmlns:p14="http://schemas.microsoft.com/office/powerpoint/2010/main" val="546081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5672FA-A06F-4C04-B344-47F9A2C8E552}"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BBD456C-CCCD-4FC7-AF08-155EC06E38BA}" type="slidenum">
              <a:rPr lang="en-US" smtClean="0"/>
              <a:t>‹#›</a:t>
            </a:fld>
            <a:endParaRPr lang="en-US"/>
          </a:p>
        </p:txBody>
      </p:sp>
    </p:spTree>
    <p:extLst>
      <p:ext uri="{BB962C8B-B14F-4D97-AF65-F5344CB8AC3E}">
        <p14:creationId xmlns:p14="http://schemas.microsoft.com/office/powerpoint/2010/main" val="341992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5672FA-A06F-4C04-B344-47F9A2C8E552}" type="datetimeFigureOut">
              <a:rPr lang="en-US" smtClean="0"/>
              <a:t>12/27/2025</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BBD456C-CCCD-4FC7-AF08-155EC06E38BA}" type="slidenum">
              <a:rPr lang="en-US" smtClean="0"/>
              <a:t>‹#›</a:t>
            </a:fld>
            <a:endParaRPr lang="en-US"/>
          </a:p>
        </p:txBody>
      </p:sp>
    </p:spTree>
    <p:extLst>
      <p:ext uri="{BB962C8B-B14F-4D97-AF65-F5344CB8AC3E}">
        <p14:creationId xmlns:p14="http://schemas.microsoft.com/office/powerpoint/2010/main" val="1139351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65672FA-A06F-4C04-B344-47F9A2C8E552}" type="datetimeFigureOut">
              <a:rPr lang="en-US" smtClean="0"/>
              <a:t>12/27/2025</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BBD456C-CCCD-4FC7-AF08-155EC06E38BA}" type="slidenum">
              <a:rPr lang="en-US" smtClean="0"/>
              <a:t>‹#›</a:t>
            </a:fld>
            <a:endParaRPr lang="en-US"/>
          </a:p>
        </p:txBody>
      </p:sp>
    </p:spTree>
    <p:extLst>
      <p:ext uri="{BB962C8B-B14F-4D97-AF65-F5344CB8AC3E}">
        <p14:creationId xmlns:p14="http://schemas.microsoft.com/office/powerpoint/2010/main" val="1839030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65672FA-A06F-4C04-B344-47F9A2C8E552}" type="datetimeFigureOut">
              <a:rPr lang="en-US" smtClean="0"/>
              <a:t>12/27/2025</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BBD456C-CCCD-4FC7-AF08-155EC06E38BA}" type="slidenum">
              <a:rPr lang="en-US" smtClean="0"/>
              <a:t>‹#›</a:t>
            </a:fld>
            <a:endParaRPr lang="en-US"/>
          </a:p>
        </p:txBody>
      </p:sp>
    </p:spTree>
    <p:extLst>
      <p:ext uri="{BB962C8B-B14F-4D97-AF65-F5344CB8AC3E}">
        <p14:creationId xmlns:p14="http://schemas.microsoft.com/office/powerpoint/2010/main" val="3981774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5672FA-A06F-4C04-B344-47F9A2C8E552}" type="datetimeFigureOut">
              <a:rPr lang="en-US" smtClean="0"/>
              <a:t>12/27/2025</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BBD456C-CCCD-4FC7-AF08-155EC06E38BA}" type="slidenum">
              <a:rPr lang="en-US" smtClean="0"/>
              <a:t>‹#›</a:t>
            </a:fld>
            <a:endParaRPr lang="en-US"/>
          </a:p>
        </p:txBody>
      </p:sp>
    </p:spTree>
    <p:extLst>
      <p:ext uri="{BB962C8B-B14F-4D97-AF65-F5344CB8AC3E}">
        <p14:creationId xmlns:p14="http://schemas.microsoft.com/office/powerpoint/2010/main" val="3888350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5672FA-A06F-4C04-B344-47F9A2C8E552}" type="datetimeFigureOut">
              <a:rPr lang="en-US" smtClean="0"/>
              <a:t>12/27/2025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BBD456C-CCCD-4FC7-AF08-155EC06E38BA}" type="slidenum">
              <a:rPr lang="en-US" smtClean="0"/>
              <a:t>‹#›</a:t>
            </a:fld>
            <a:endParaRPr lang="en-US"/>
          </a:p>
        </p:txBody>
      </p:sp>
    </p:spTree>
    <p:extLst>
      <p:ext uri="{BB962C8B-B14F-4D97-AF65-F5344CB8AC3E}">
        <p14:creationId xmlns:p14="http://schemas.microsoft.com/office/powerpoint/2010/main" val="28416755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5672FA-A06F-4C04-B344-47F9A2C8E552}" type="datetimeFigureOut">
              <a:rPr lang="en-US" smtClean="0"/>
              <a:t>12/27/2025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BBD456C-CCCD-4FC7-AF08-155EC06E38BA}" type="slidenum">
              <a:rPr lang="en-US" smtClean="0"/>
              <a:t>‹#›</a:t>
            </a:fld>
            <a:endParaRPr lang="en-US"/>
          </a:p>
        </p:txBody>
      </p:sp>
    </p:spTree>
    <p:extLst>
      <p:ext uri="{BB962C8B-B14F-4D97-AF65-F5344CB8AC3E}">
        <p14:creationId xmlns:p14="http://schemas.microsoft.com/office/powerpoint/2010/main" val="32205462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5672FA-A06F-4C04-B344-47F9A2C8E552}"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BBD456C-CCCD-4FC7-AF08-155EC06E38BA}" type="slidenum">
              <a:rPr lang="en-US" smtClean="0"/>
              <a:t>‹#›</a:t>
            </a:fld>
            <a:endParaRPr lang="en-US"/>
          </a:p>
        </p:txBody>
      </p:sp>
    </p:spTree>
    <p:extLst>
      <p:ext uri="{BB962C8B-B14F-4D97-AF65-F5344CB8AC3E}">
        <p14:creationId xmlns:p14="http://schemas.microsoft.com/office/powerpoint/2010/main" val="11849294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5672FA-A06F-4C04-B344-47F9A2C8E552}"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BBD456C-CCCD-4FC7-AF08-155EC06E38BA}"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1280729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65672FA-A06F-4C04-B344-47F9A2C8E552}" type="datetimeFigureOut">
              <a:rPr lang="en-US" smtClean="0"/>
              <a:t>12/27/2025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BBD456C-CCCD-4FC7-AF08-155EC06E38BA}" type="slidenum">
              <a:rPr lang="en-US" smtClean="0"/>
              <a:t>‹#›</a:t>
            </a:fld>
            <a:endParaRPr lang="en-US"/>
          </a:p>
        </p:txBody>
      </p:sp>
    </p:spTree>
    <p:extLst>
      <p:ext uri="{BB962C8B-B14F-4D97-AF65-F5344CB8AC3E}">
        <p14:creationId xmlns:p14="http://schemas.microsoft.com/office/powerpoint/2010/main" val="502803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65672FA-A06F-4C04-B344-47F9A2C8E552}" type="datetimeFigureOut">
              <a:rPr lang="en-US" smtClean="0"/>
              <a:t>12/27/2025</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BBD456C-CCCD-4FC7-AF08-155EC06E38BA}"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2626009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265672FA-A06F-4C04-B344-47F9A2C8E552}" type="datetimeFigureOut">
              <a:rPr lang="en-US" smtClean="0"/>
              <a:t>12/27/2025</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BBD456C-CCCD-4FC7-AF08-155EC06E38BA}" type="slidenum">
              <a:rPr lang="en-US" smtClean="0"/>
              <a:t>‹#›</a:t>
            </a:fld>
            <a:endParaRPr lang="en-US"/>
          </a:p>
        </p:txBody>
      </p:sp>
    </p:spTree>
    <p:extLst>
      <p:ext uri="{BB962C8B-B14F-4D97-AF65-F5344CB8AC3E}">
        <p14:creationId xmlns:p14="http://schemas.microsoft.com/office/powerpoint/2010/main" val="15984505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5672FA-A06F-4C04-B344-47F9A2C8E552}"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BBD456C-CCCD-4FC7-AF08-155EC06E38BA}" type="slidenum">
              <a:rPr lang="en-US" smtClean="0"/>
              <a:t>‹#›</a:t>
            </a:fld>
            <a:endParaRPr lang="en-US"/>
          </a:p>
        </p:txBody>
      </p:sp>
    </p:spTree>
    <p:extLst>
      <p:ext uri="{BB962C8B-B14F-4D97-AF65-F5344CB8AC3E}">
        <p14:creationId xmlns:p14="http://schemas.microsoft.com/office/powerpoint/2010/main" val="20588933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65672FA-A06F-4C04-B344-47F9A2C8E552}" type="datetimeFigureOut">
              <a:rPr lang="en-US" smtClean="0"/>
              <a:t>12/27/2025</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BBD456C-CCCD-4FC7-AF08-155EC06E38BA}" type="slidenum">
              <a:rPr lang="en-US" smtClean="0"/>
              <a:t>‹#›</a:t>
            </a:fld>
            <a:endParaRPr lang="en-US"/>
          </a:p>
        </p:txBody>
      </p:sp>
    </p:spTree>
    <p:extLst>
      <p:ext uri="{BB962C8B-B14F-4D97-AF65-F5344CB8AC3E}">
        <p14:creationId xmlns:p14="http://schemas.microsoft.com/office/powerpoint/2010/main" val="35812247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265672FA-A06F-4C04-B344-47F9A2C8E552}" type="datetimeFigureOut">
              <a:rPr lang="en-US" smtClean="0"/>
              <a:t>12/27/2025</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BBD456C-CCCD-4FC7-AF08-155EC06E38BA}" type="slidenum">
              <a:rPr lang="en-US" smtClean="0"/>
              <a:t>‹#›</a:t>
            </a:fld>
            <a:endParaRPr lang="en-US"/>
          </a:p>
        </p:txBody>
      </p:sp>
    </p:spTree>
    <p:extLst>
      <p:ext uri="{BB962C8B-B14F-4D97-AF65-F5344CB8AC3E}">
        <p14:creationId xmlns:p14="http://schemas.microsoft.com/office/powerpoint/2010/main" val="17693605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0.xml"/><Relationship Id="rId5" Type="http://schemas.openxmlformats.org/officeDocument/2006/relationships/image" Target="../media/image5.sv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10.xml"/><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10.xml"/><Relationship Id="rId4" Type="http://schemas.openxmlformats.org/officeDocument/2006/relationships/image" Target="../media/image5.svg"/></Relationships>
</file>

<file path=ppt/slides/_rels/slide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Layout" Target="../slideLayouts/slideLayout10.xml"/><Relationship Id="rId4" Type="http://schemas.openxmlformats.org/officeDocument/2006/relationships/image" Target="../media/image5.svg"/></Relationships>
</file>

<file path=ppt/slides/_rels/slide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Layout" Target="../slideLayouts/slideLayout10.xml"/><Relationship Id="rId4" Type="http://schemas.openxmlformats.org/officeDocument/2006/relationships/image" Target="../media/image5.svg"/></Relationships>
</file>

<file path=ppt/slides/_rels/slide1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Layout" Target="../slideLayouts/slideLayout10.xml"/><Relationship Id="rId4" Type="http://schemas.openxmlformats.org/officeDocument/2006/relationships/image" Target="../media/image5.svg"/></Relationships>
</file>

<file path=ppt/slides/_rels/slide1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3.png"/><Relationship Id="rId1" Type="http://schemas.openxmlformats.org/officeDocument/2006/relationships/slideLayout" Target="../slideLayouts/slideLayout10.xml"/><Relationship Id="rId4" Type="http://schemas.openxmlformats.org/officeDocument/2006/relationships/image" Target="../media/image5.svg"/></Relationships>
</file>

<file path=ppt/slides/_rels/slide2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png"/><Relationship Id="rId1" Type="http://schemas.openxmlformats.org/officeDocument/2006/relationships/slideLayout" Target="../slideLayouts/slideLayout10.xml"/><Relationship Id="rId4" Type="http://schemas.openxmlformats.org/officeDocument/2006/relationships/image" Target="../media/image5.svg"/></Relationships>
</file>

<file path=ppt/slides/_rels/slide2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Layout" Target="../slideLayouts/slideLayout10.xml"/><Relationship Id="rId4" Type="http://schemas.openxmlformats.org/officeDocument/2006/relationships/image" Target="../media/image5.svg"/></Relationships>
</file>

<file path=ppt/slides/_rels/slide2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9014B-C5A8-5278-D303-7A9EAE5D9AD8}"/>
              </a:ext>
            </a:extLst>
          </p:cNvPr>
          <p:cNvSpPr>
            <a:spLocks noGrp="1"/>
          </p:cNvSpPr>
          <p:nvPr>
            <p:ph type="ctrTitle"/>
          </p:nvPr>
        </p:nvSpPr>
        <p:spPr>
          <a:xfrm>
            <a:off x="667266" y="-135923"/>
            <a:ext cx="9280396" cy="1604522"/>
          </a:xfrm>
        </p:spPr>
        <p:txBody>
          <a:bodyPr>
            <a:normAutofit/>
          </a:bodyPr>
          <a:lstStyle/>
          <a:p>
            <a:r>
              <a:rPr lang="en-US" sz="4400" dirty="0">
                <a:solidFill>
                  <a:schemeClr val="tx2">
                    <a:lumMod val="60000"/>
                    <a:lumOff val="40000"/>
                  </a:schemeClr>
                </a:solidFill>
                <a:latin typeface="Cooper Black" panose="0208090404030B020404" pitchFamily="18" charset="0"/>
              </a:rPr>
              <a:t>Origami</a:t>
            </a:r>
            <a:r>
              <a:rPr lang="en-US" sz="4000" dirty="0">
                <a:solidFill>
                  <a:schemeClr val="tx2">
                    <a:lumMod val="60000"/>
                    <a:lumOff val="40000"/>
                  </a:schemeClr>
                </a:solidFill>
                <a:latin typeface="Cooper Black" panose="0208090404030B020404" pitchFamily="18" charset="0"/>
              </a:rPr>
              <a:t> Hub</a:t>
            </a:r>
          </a:p>
        </p:txBody>
      </p:sp>
      <p:sp>
        <p:nvSpPr>
          <p:cNvPr id="3" name="Subtitle 2">
            <a:extLst>
              <a:ext uri="{FF2B5EF4-FFF2-40B4-BE49-F238E27FC236}">
                <a16:creationId xmlns:a16="http://schemas.microsoft.com/office/drawing/2014/main" id="{3CA0E584-69D0-C2BB-0B3C-6E174897113A}"/>
              </a:ext>
            </a:extLst>
          </p:cNvPr>
          <p:cNvSpPr>
            <a:spLocks noGrp="1"/>
          </p:cNvSpPr>
          <p:nvPr>
            <p:ph type="subTitle" idx="1"/>
          </p:nvPr>
        </p:nvSpPr>
        <p:spPr>
          <a:xfrm>
            <a:off x="2589213" y="1581664"/>
            <a:ext cx="8915399" cy="4917989"/>
          </a:xfrm>
        </p:spPr>
        <p:txBody>
          <a:bodyPr>
            <a:normAutofit/>
          </a:bodyPr>
          <a:lstStyle/>
          <a:p>
            <a:r>
              <a:rPr lang="en-US" sz="3200" b="1" dirty="0">
                <a:solidFill>
                  <a:schemeClr val="tx1"/>
                </a:solidFill>
                <a:latin typeface="Cooper Black" panose="0208090404030B020404" pitchFamily="18" charset="0"/>
              </a:rPr>
              <a:t>Welcome To My Website!</a:t>
            </a:r>
          </a:p>
        </p:txBody>
      </p:sp>
      <p:pic>
        <p:nvPicPr>
          <p:cNvPr id="6" name="Picture 5">
            <a:extLst>
              <a:ext uri="{FF2B5EF4-FFF2-40B4-BE49-F238E27FC236}">
                <a16:creationId xmlns:a16="http://schemas.microsoft.com/office/drawing/2014/main" id="{AD2D8CBA-21DD-2877-5C68-842AC786269B}"/>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bright="-40000" contrast="-20000"/>
                    </a14:imgEffect>
                  </a14:imgLayer>
                </a14:imgProps>
              </a:ext>
              <a:ext uri="{28A0092B-C50C-407E-A947-70E740481C1C}">
                <a14:useLocalDpi xmlns:a14="http://schemas.microsoft.com/office/drawing/2010/main" val="0"/>
              </a:ext>
            </a:extLst>
          </a:blip>
          <a:stretch>
            <a:fillRect/>
          </a:stretch>
        </p:blipFill>
        <p:spPr>
          <a:xfrm>
            <a:off x="4263081" y="2261286"/>
            <a:ext cx="6623221" cy="4342713"/>
          </a:xfrm>
          <a:prstGeom prst="ellipse">
            <a:avLst/>
          </a:prstGeom>
          <a:ln w="63500" cap="rnd">
            <a:solidFill>
              <a:schemeClr val="tx2">
                <a:lumMod val="40000"/>
                <a:lumOff val="60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7" name="Freeform 3">
            <a:extLst>
              <a:ext uri="{FF2B5EF4-FFF2-40B4-BE49-F238E27FC236}">
                <a16:creationId xmlns:a16="http://schemas.microsoft.com/office/drawing/2014/main" id="{12A38AF4-1516-FEF8-FD89-A33D11E7EC43}"/>
              </a:ext>
            </a:extLst>
          </p:cNvPr>
          <p:cNvSpPr/>
          <p:nvPr/>
        </p:nvSpPr>
        <p:spPr>
          <a:xfrm rot="19203359">
            <a:off x="3885" y="298908"/>
            <a:ext cx="1029566" cy="734860"/>
          </a:xfrm>
          <a:custGeom>
            <a:avLst/>
            <a:gdLst/>
            <a:ahLst/>
            <a:cxnLst/>
            <a:rect l="l" t="t" r="r" b="b"/>
            <a:pathLst>
              <a:path w="2438011" h="1285497">
                <a:moveTo>
                  <a:pt x="0" y="0"/>
                </a:moveTo>
                <a:lnTo>
                  <a:pt x="2438011" y="0"/>
                </a:lnTo>
                <a:lnTo>
                  <a:pt x="2438011" y="1285496"/>
                </a:lnTo>
                <a:lnTo>
                  <a:pt x="0" y="12854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
        <p:nvSpPr>
          <p:cNvPr id="8" name="Freeform 2">
            <a:extLst>
              <a:ext uri="{FF2B5EF4-FFF2-40B4-BE49-F238E27FC236}">
                <a16:creationId xmlns:a16="http://schemas.microsoft.com/office/drawing/2014/main" id="{A212C84B-62E0-2A77-5046-0F2FAD9F3EB2}"/>
              </a:ext>
            </a:extLst>
          </p:cNvPr>
          <p:cNvSpPr/>
          <p:nvPr/>
        </p:nvSpPr>
        <p:spPr>
          <a:xfrm rot="1614470" flipH="1" flipV="1">
            <a:off x="9947662" y="469556"/>
            <a:ext cx="1951894" cy="999042"/>
          </a:xfrm>
          <a:custGeom>
            <a:avLst/>
            <a:gdLst/>
            <a:ahLst/>
            <a:cxnLst/>
            <a:rect l="l" t="t" r="r" b="b"/>
            <a:pathLst>
              <a:path w="3356927" h="2038570">
                <a:moveTo>
                  <a:pt x="3356927" y="2038570"/>
                </a:moveTo>
                <a:lnTo>
                  <a:pt x="0" y="2038570"/>
                </a:lnTo>
                <a:lnTo>
                  <a:pt x="0" y="0"/>
                </a:lnTo>
                <a:lnTo>
                  <a:pt x="3356927" y="0"/>
                </a:lnTo>
                <a:lnTo>
                  <a:pt x="3356927" y="2038570"/>
                </a:lnTo>
                <a:close/>
              </a:path>
            </a:pathLst>
          </a:custGeom>
          <a:blipFill>
            <a:blip r:embed="rId6">
              <a:extLst>
                <a:ext uri="{96DAC541-7B7A-43D3-8B79-37D633B846F1}">
                  <asvg:svgBlip xmlns:asvg="http://schemas.microsoft.com/office/drawing/2016/SVG/main" r:embed="rId7"/>
                </a:ext>
              </a:extLst>
            </a:blip>
            <a:stretch>
              <a:fillRect/>
            </a:stretch>
          </a:blipFill>
        </p:spPr>
      </p:sp>
    </p:spTree>
    <p:extLst>
      <p:ext uri="{BB962C8B-B14F-4D97-AF65-F5344CB8AC3E}">
        <p14:creationId xmlns:p14="http://schemas.microsoft.com/office/powerpoint/2010/main" val="1940266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0F3A6-FECE-76A1-D3F2-389A4B8B5D16}"/>
              </a:ext>
            </a:extLst>
          </p:cNvPr>
          <p:cNvSpPr>
            <a:spLocks noGrp="1"/>
          </p:cNvSpPr>
          <p:nvPr>
            <p:ph type="title"/>
          </p:nvPr>
        </p:nvSpPr>
        <p:spPr>
          <a:xfrm>
            <a:off x="2589212" y="197708"/>
            <a:ext cx="8915399" cy="1050324"/>
          </a:xfrm>
        </p:spPr>
        <p:txBody>
          <a:bodyPr/>
          <a:lstStyle/>
          <a:p>
            <a:pPr algn="ctr"/>
            <a:r>
              <a:rPr lang="en-US" dirty="0">
                <a:solidFill>
                  <a:schemeClr val="tx2">
                    <a:lumMod val="60000"/>
                    <a:lumOff val="40000"/>
                  </a:schemeClr>
                </a:solidFill>
                <a:latin typeface="Cooper Black" panose="0208090404030B020404" pitchFamily="18" charset="0"/>
              </a:rPr>
              <a:t>Overview:</a:t>
            </a:r>
          </a:p>
        </p:txBody>
      </p:sp>
      <p:sp>
        <p:nvSpPr>
          <p:cNvPr id="4" name="TextBox 7">
            <a:extLst>
              <a:ext uri="{FF2B5EF4-FFF2-40B4-BE49-F238E27FC236}">
                <a16:creationId xmlns:a16="http://schemas.microsoft.com/office/drawing/2014/main" id="{DCEA910B-AA60-3B8E-9D6F-70FCA8A60C7A}"/>
              </a:ext>
            </a:extLst>
          </p:cNvPr>
          <p:cNvSpPr txBox="1">
            <a:spLocks noGrp="1"/>
          </p:cNvSpPr>
          <p:nvPr>
            <p:ph type="body" idx="1"/>
          </p:nvPr>
        </p:nvSpPr>
        <p:spPr>
          <a:xfrm>
            <a:off x="1828800" y="1335088"/>
            <a:ext cx="9675813" cy="4917628"/>
          </a:xfrm>
          <a:prstGeom prst="rect">
            <a:avLst/>
          </a:prstGeom>
        </p:spPr>
        <p:txBody>
          <a:bodyPr wrap="square" lIns="0" tIns="0" rIns="0" bIns="0" rtlCol="0" anchor="t">
            <a:spAutoFit/>
          </a:bodyPr>
          <a:lstStyle/>
          <a:p>
            <a:pPr algn="ctr">
              <a:lnSpc>
                <a:spcPts val="5599"/>
              </a:lnSpc>
              <a:spcBef>
                <a:spcPct val="0"/>
              </a:spcBef>
            </a:pPr>
            <a:r>
              <a:rPr lang="en-US" sz="2400" dirty="0">
                <a:solidFill>
                  <a:schemeClr val="tx1"/>
                </a:solidFill>
                <a:latin typeface="Circe"/>
                <a:ea typeface="Circe"/>
                <a:cs typeface="Circe"/>
                <a:sym typeface="Circe"/>
              </a:rPr>
              <a:t>Origami Hub is a modern and creative digital platform dedicated to the art of origami and paper crafts. The website is designed to inspire creativity by providing users with easy-to-follow tutorials, innovative paper-folding techniques, and visually engaging content.</a:t>
            </a:r>
          </a:p>
          <a:p>
            <a:pPr algn="ctr">
              <a:lnSpc>
                <a:spcPts val="5599"/>
              </a:lnSpc>
              <a:spcBef>
                <a:spcPct val="0"/>
              </a:spcBef>
            </a:pPr>
            <a:r>
              <a:rPr lang="en-US" sz="2400" dirty="0">
                <a:solidFill>
                  <a:schemeClr val="tx1"/>
                </a:solidFill>
                <a:latin typeface="Circe"/>
                <a:ea typeface="Circe"/>
                <a:cs typeface="Circe"/>
                <a:sym typeface="Circe"/>
              </a:rPr>
              <a:t>From beginners taking their first steps into origami to experienced creators exploring advanced designs, Origami Hub offers structured guidance for every skill level.</a:t>
            </a:r>
          </a:p>
        </p:txBody>
      </p:sp>
      <p:sp>
        <p:nvSpPr>
          <p:cNvPr id="3" name="Freeform 2">
            <a:extLst>
              <a:ext uri="{FF2B5EF4-FFF2-40B4-BE49-F238E27FC236}">
                <a16:creationId xmlns:a16="http://schemas.microsoft.com/office/drawing/2014/main" id="{607994A9-9182-7680-23E4-164AFE02AC4E}"/>
              </a:ext>
            </a:extLst>
          </p:cNvPr>
          <p:cNvSpPr/>
          <p:nvPr/>
        </p:nvSpPr>
        <p:spPr>
          <a:xfrm rot="19502366" flipH="1" flipV="1">
            <a:off x="299569" y="354291"/>
            <a:ext cx="1951894" cy="999042"/>
          </a:xfrm>
          <a:custGeom>
            <a:avLst/>
            <a:gdLst/>
            <a:ahLst/>
            <a:cxnLst/>
            <a:rect l="l" t="t" r="r" b="b"/>
            <a:pathLst>
              <a:path w="3356927" h="2038570">
                <a:moveTo>
                  <a:pt x="3356927" y="2038570"/>
                </a:moveTo>
                <a:lnTo>
                  <a:pt x="0" y="2038570"/>
                </a:lnTo>
                <a:lnTo>
                  <a:pt x="0" y="0"/>
                </a:lnTo>
                <a:lnTo>
                  <a:pt x="3356927" y="0"/>
                </a:lnTo>
                <a:lnTo>
                  <a:pt x="3356927" y="2038570"/>
                </a:lnTo>
                <a:close/>
              </a:path>
            </a:pathLst>
          </a:custGeom>
          <a:blipFill>
            <a:blip r:embed="rId2">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154030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C6765-F264-9A7A-C671-A51E3349052D}"/>
              </a:ext>
            </a:extLst>
          </p:cNvPr>
          <p:cNvSpPr>
            <a:spLocks noGrp="1"/>
          </p:cNvSpPr>
          <p:nvPr>
            <p:ph type="title"/>
          </p:nvPr>
        </p:nvSpPr>
        <p:spPr>
          <a:xfrm>
            <a:off x="2589212" y="148281"/>
            <a:ext cx="8915399" cy="1680519"/>
          </a:xfrm>
        </p:spPr>
        <p:txBody>
          <a:bodyPr>
            <a:normAutofit/>
          </a:bodyPr>
          <a:lstStyle/>
          <a:p>
            <a:pPr algn="ctr"/>
            <a:r>
              <a:rPr lang="en-US" sz="4000" dirty="0">
                <a:solidFill>
                  <a:schemeClr val="tx2">
                    <a:lumMod val="60000"/>
                    <a:lumOff val="40000"/>
                  </a:schemeClr>
                </a:solidFill>
                <a:latin typeface="Cooper Black" panose="0208090404030B020404" pitchFamily="18" charset="0"/>
              </a:rPr>
              <a:t>About Me:</a:t>
            </a:r>
          </a:p>
        </p:txBody>
      </p:sp>
      <p:sp>
        <p:nvSpPr>
          <p:cNvPr id="4" name="TextBox 7">
            <a:extLst>
              <a:ext uri="{FF2B5EF4-FFF2-40B4-BE49-F238E27FC236}">
                <a16:creationId xmlns:a16="http://schemas.microsoft.com/office/drawing/2014/main" id="{F4675F43-CC4E-979A-ECDF-3A0542F39B0F}"/>
              </a:ext>
            </a:extLst>
          </p:cNvPr>
          <p:cNvSpPr txBox="1">
            <a:spLocks noGrp="1"/>
          </p:cNvSpPr>
          <p:nvPr>
            <p:ph type="body" idx="1"/>
          </p:nvPr>
        </p:nvSpPr>
        <p:spPr>
          <a:xfrm>
            <a:off x="2199503" y="1470025"/>
            <a:ext cx="9403492" cy="4220899"/>
          </a:xfrm>
          <a:prstGeom prst="rect">
            <a:avLst/>
          </a:prstGeom>
        </p:spPr>
        <p:txBody>
          <a:bodyPr wrap="square" lIns="0" tIns="0" rIns="0" bIns="0" rtlCol="0" anchor="t">
            <a:spAutoFit/>
          </a:bodyPr>
          <a:lstStyle/>
          <a:p>
            <a:pPr algn="ctr">
              <a:lnSpc>
                <a:spcPts val="5599"/>
              </a:lnSpc>
              <a:spcBef>
                <a:spcPct val="0"/>
              </a:spcBef>
            </a:pPr>
            <a:r>
              <a:rPr lang="en-US" sz="2800" b="1" dirty="0"/>
              <a:t>Origami Hub is a creative platform dedicated to the art of paper folding. Our goal is to inspire learners of all ages by providing easy tutorials, clear diagrams, and engaging content. We promote creativity, patience, and imagination through simple and advanced origami designs.</a:t>
            </a:r>
            <a:r>
              <a:rPr lang="en-US" sz="2800" b="1" dirty="0">
                <a:solidFill>
                  <a:schemeClr val="tx1"/>
                </a:solidFill>
                <a:latin typeface="Circe"/>
                <a:ea typeface="Circe"/>
                <a:cs typeface="Circe"/>
                <a:sym typeface="Circe"/>
              </a:rPr>
              <a:t> </a:t>
            </a:r>
          </a:p>
        </p:txBody>
      </p:sp>
      <p:sp>
        <p:nvSpPr>
          <p:cNvPr id="3" name="Freeform 2">
            <a:extLst>
              <a:ext uri="{FF2B5EF4-FFF2-40B4-BE49-F238E27FC236}">
                <a16:creationId xmlns:a16="http://schemas.microsoft.com/office/drawing/2014/main" id="{43D5C623-D9EB-A9A3-57CE-E053AC89ACF6}"/>
              </a:ext>
            </a:extLst>
          </p:cNvPr>
          <p:cNvSpPr/>
          <p:nvPr/>
        </p:nvSpPr>
        <p:spPr>
          <a:xfrm rot="18843613" flipH="1" flipV="1">
            <a:off x="322062" y="442168"/>
            <a:ext cx="1951894" cy="999042"/>
          </a:xfrm>
          <a:custGeom>
            <a:avLst/>
            <a:gdLst/>
            <a:ahLst/>
            <a:cxnLst/>
            <a:rect l="l" t="t" r="r" b="b"/>
            <a:pathLst>
              <a:path w="3356927" h="2038570">
                <a:moveTo>
                  <a:pt x="3356927" y="2038570"/>
                </a:moveTo>
                <a:lnTo>
                  <a:pt x="0" y="2038570"/>
                </a:lnTo>
                <a:lnTo>
                  <a:pt x="0" y="0"/>
                </a:lnTo>
                <a:lnTo>
                  <a:pt x="3356927" y="0"/>
                </a:lnTo>
                <a:lnTo>
                  <a:pt x="3356927" y="2038570"/>
                </a:lnTo>
                <a:close/>
              </a:path>
            </a:pathLst>
          </a:custGeom>
          <a:blipFill>
            <a:blip r:embed="rId2">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1606122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1B3E9-CB6D-A120-4806-BA1D35D5C723}"/>
              </a:ext>
            </a:extLst>
          </p:cNvPr>
          <p:cNvSpPr>
            <a:spLocks noGrp="1"/>
          </p:cNvSpPr>
          <p:nvPr>
            <p:ph type="title"/>
          </p:nvPr>
        </p:nvSpPr>
        <p:spPr>
          <a:xfrm>
            <a:off x="1309817" y="685899"/>
            <a:ext cx="10330248" cy="5443052"/>
          </a:xfrm>
        </p:spPr>
        <p:txBody>
          <a:bodyPr>
            <a:normAutofit/>
          </a:bodyPr>
          <a:lstStyle/>
          <a:p>
            <a:pPr algn="ctr">
              <a:lnSpc>
                <a:spcPct val="150000"/>
              </a:lnSpc>
            </a:pPr>
            <a:br>
              <a:rPr lang="en-US" b="1" dirty="0">
                <a:solidFill>
                  <a:schemeClr val="tx1"/>
                </a:solidFill>
                <a:latin typeface="Circe"/>
                <a:ea typeface="Circe"/>
                <a:cs typeface="Circe"/>
                <a:sym typeface="Circe"/>
              </a:rPr>
            </a:br>
            <a:endParaRPr lang="en-US" dirty="0"/>
          </a:p>
        </p:txBody>
      </p:sp>
      <p:sp>
        <p:nvSpPr>
          <p:cNvPr id="52" name="Rounded Rectangle 1">
            <a:extLst>
              <a:ext uri="{FF2B5EF4-FFF2-40B4-BE49-F238E27FC236}">
                <a16:creationId xmlns:a16="http://schemas.microsoft.com/office/drawing/2014/main" id="{674880B7-AB19-EB1C-939E-E82E4E5F7F71}"/>
              </a:ext>
            </a:extLst>
          </p:cNvPr>
          <p:cNvSpPr/>
          <p:nvPr/>
        </p:nvSpPr>
        <p:spPr>
          <a:xfrm>
            <a:off x="3546733" y="2387216"/>
            <a:ext cx="2026602" cy="1925066"/>
          </a:xfrm>
          <a:custGeom>
            <a:avLst/>
            <a:gdLst/>
            <a:ahLst/>
            <a:cxnLst/>
            <a:rect l="0" t="0" r="0" b="0"/>
            <a:pathLst>
              <a:path w="2026602" h="1925066">
                <a:moveTo>
                  <a:pt x="35496" y="865124"/>
                </a:moveTo>
                <a:lnTo>
                  <a:pt x="197294" y="901445"/>
                </a:lnTo>
                <a:lnTo>
                  <a:pt x="159321" y="1069848"/>
                </a:lnTo>
                <a:lnTo>
                  <a:pt x="0" y="1026921"/>
                </a:lnTo>
                <a:lnTo>
                  <a:pt x="35496" y="865124"/>
                </a:lnTo>
                <a:moveTo>
                  <a:pt x="159321" y="1069848"/>
                </a:moveTo>
                <a:lnTo>
                  <a:pt x="359092" y="429260"/>
                </a:lnTo>
                <a:lnTo>
                  <a:pt x="194818" y="401193"/>
                </a:lnTo>
                <a:lnTo>
                  <a:pt x="0" y="1026921"/>
                </a:lnTo>
                <a:lnTo>
                  <a:pt x="159321" y="1069848"/>
                </a:lnTo>
                <a:moveTo>
                  <a:pt x="194818" y="401193"/>
                </a:moveTo>
                <a:lnTo>
                  <a:pt x="170053" y="1106995"/>
                </a:lnTo>
                <a:lnTo>
                  <a:pt x="334327" y="1133411"/>
                </a:lnTo>
                <a:lnTo>
                  <a:pt x="359092" y="429260"/>
                </a:lnTo>
                <a:lnTo>
                  <a:pt x="194818" y="401193"/>
                </a:lnTo>
                <a:moveTo>
                  <a:pt x="334327" y="1133411"/>
                </a:moveTo>
                <a:lnTo>
                  <a:pt x="525843" y="475488"/>
                </a:lnTo>
                <a:lnTo>
                  <a:pt x="359918" y="454850"/>
                </a:lnTo>
                <a:lnTo>
                  <a:pt x="170053" y="1106995"/>
                </a:lnTo>
                <a:lnTo>
                  <a:pt x="334327" y="1133411"/>
                </a:lnTo>
                <a:moveTo>
                  <a:pt x="359918" y="454850"/>
                </a:moveTo>
                <a:lnTo>
                  <a:pt x="401193" y="1778952"/>
                </a:lnTo>
                <a:lnTo>
                  <a:pt x="567118" y="1785556"/>
                </a:lnTo>
                <a:lnTo>
                  <a:pt x="525843" y="475488"/>
                </a:lnTo>
                <a:lnTo>
                  <a:pt x="359918" y="454850"/>
                </a:lnTo>
                <a:moveTo>
                  <a:pt x="567118" y="1785556"/>
                </a:moveTo>
                <a:lnTo>
                  <a:pt x="709104" y="496125"/>
                </a:lnTo>
                <a:lnTo>
                  <a:pt x="544004" y="487870"/>
                </a:lnTo>
                <a:lnTo>
                  <a:pt x="401193" y="1778952"/>
                </a:lnTo>
                <a:lnTo>
                  <a:pt x="567118" y="1785556"/>
                </a:lnTo>
                <a:moveTo>
                  <a:pt x="544004" y="487870"/>
                </a:moveTo>
                <a:lnTo>
                  <a:pt x="565467" y="1907730"/>
                </a:lnTo>
                <a:lnTo>
                  <a:pt x="731393" y="1915985"/>
                </a:lnTo>
                <a:lnTo>
                  <a:pt x="709104" y="496125"/>
                </a:lnTo>
                <a:lnTo>
                  <a:pt x="544004" y="487870"/>
                </a:lnTo>
                <a:moveTo>
                  <a:pt x="731393" y="1915985"/>
                </a:moveTo>
                <a:lnTo>
                  <a:pt x="940244" y="41275"/>
                </a:lnTo>
                <a:lnTo>
                  <a:pt x="775144" y="30543"/>
                </a:lnTo>
                <a:lnTo>
                  <a:pt x="565467" y="1907730"/>
                </a:lnTo>
                <a:lnTo>
                  <a:pt x="731393" y="1915985"/>
                </a:lnTo>
                <a:moveTo>
                  <a:pt x="775144" y="30543"/>
                </a:moveTo>
                <a:lnTo>
                  <a:pt x="940244" y="41275"/>
                </a:lnTo>
                <a:lnTo>
                  <a:pt x="908050" y="1830958"/>
                </a:lnTo>
                <a:lnTo>
                  <a:pt x="743775" y="1819402"/>
                </a:lnTo>
                <a:lnTo>
                  <a:pt x="775144" y="30543"/>
                </a:lnTo>
                <a:moveTo>
                  <a:pt x="908050" y="1830958"/>
                </a:moveTo>
                <a:lnTo>
                  <a:pt x="1130109" y="13207"/>
                </a:lnTo>
                <a:lnTo>
                  <a:pt x="965835" y="0"/>
                </a:lnTo>
                <a:lnTo>
                  <a:pt x="743775" y="1819402"/>
                </a:lnTo>
                <a:lnTo>
                  <a:pt x="908050" y="1830958"/>
                </a:lnTo>
                <a:moveTo>
                  <a:pt x="965835" y="0"/>
                </a:moveTo>
                <a:lnTo>
                  <a:pt x="1130109" y="13207"/>
                </a:lnTo>
                <a:lnTo>
                  <a:pt x="1064895" y="1627886"/>
                </a:lnTo>
                <a:lnTo>
                  <a:pt x="900620" y="1613852"/>
                </a:lnTo>
                <a:lnTo>
                  <a:pt x="965835" y="0"/>
                </a:lnTo>
                <a:moveTo>
                  <a:pt x="1064895" y="1627886"/>
                </a:moveTo>
                <a:lnTo>
                  <a:pt x="1253934" y="85026"/>
                </a:lnTo>
                <a:lnTo>
                  <a:pt x="1089660" y="73469"/>
                </a:lnTo>
                <a:lnTo>
                  <a:pt x="900620" y="1613852"/>
                </a:lnTo>
                <a:lnTo>
                  <a:pt x="1064895" y="1627886"/>
                </a:lnTo>
                <a:moveTo>
                  <a:pt x="1089660" y="73469"/>
                </a:moveTo>
                <a:lnTo>
                  <a:pt x="1063244" y="1727771"/>
                </a:lnTo>
                <a:lnTo>
                  <a:pt x="1228344" y="1744281"/>
                </a:lnTo>
                <a:lnTo>
                  <a:pt x="1253934" y="85026"/>
                </a:lnTo>
                <a:lnTo>
                  <a:pt x="1089660" y="73469"/>
                </a:lnTo>
                <a:moveTo>
                  <a:pt x="1228344" y="1744281"/>
                </a:moveTo>
                <a:lnTo>
                  <a:pt x="1458658" y="458978"/>
                </a:lnTo>
                <a:lnTo>
                  <a:pt x="1292733" y="445770"/>
                </a:lnTo>
                <a:lnTo>
                  <a:pt x="1063244" y="1727771"/>
                </a:lnTo>
                <a:lnTo>
                  <a:pt x="1228344" y="1744281"/>
                </a:lnTo>
                <a:moveTo>
                  <a:pt x="1292733" y="445770"/>
                </a:moveTo>
                <a:lnTo>
                  <a:pt x="1324102" y="1918462"/>
                </a:lnTo>
                <a:lnTo>
                  <a:pt x="1489202" y="1925066"/>
                </a:lnTo>
                <a:lnTo>
                  <a:pt x="1458658" y="458978"/>
                </a:lnTo>
                <a:lnTo>
                  <a:pt x="1292733" y="445770"/>
                </a:lnTo>
                <a:moveTo>
                  <a:pt x="1489202" y="1925066"/>
                </a:moveTo>
                <a:lnTo>
                  <a:pt x="1636141" y="477139"/>
                </a:lnTo>
                <a:lnTo>
                  <a:pt x="1471041" y="465581"/>
                </a:lnTo>
                <a:lnTo>
                  <a:pt x="1324102" y="1918462"/>
                </a:lnTo>
                <a:lnTo>
                  <a:pt x="1489202" y="1925066"/>
                </a:lnTo>
                <a:moveTo>
                  <a:pt x="1471041" y="465581"/>
                </a:moveTo>
                <a:lnTo>
                  <a:pt x="1636141" y="477139"/>
                </a:lnTo>
                <a:lnTo>
                  <a:pt x="1589087" y="1885442"/>
                </a:lnTo>
                <a:lnTo>
                  <a:pt x="1425638" y="1846643"/>
                </a:lnTo>
                <a:lnTo>
                  <a:pt x="1471041" y="465581"/>
                </a:lnTo>
                <a:moveTo>
                  <a:pt x="1589087" y="1885442"/>
                </a:moveTo>
                <a:lnTo>
                  <a:pt x="1837563" y="1347216"/>
                </a:lnTo>
                <a:lnTo>
                  <a:pt x="1677416" y="1301813"/>
                </a:lnTo>
                <a:lnTo>
                  <a:pt x="1425638" y="1846643"/>
                </a:lnTo>
                <a:lnTo>
                  <a:pt x="1589087" y="1885442"/>
                </a:lnTo>
                <a:moveTo>
                  <a:pt x="1677416" y="1301813"/>
                </a:moveTo>
                <a:lnTo>
                  <a:pt x="1837563" y="1347216"/>
                </a:lnTo>
                <a:lnTo>
                  <a:pt x="1793811" y="1712086"/>
                </a:lnTo>
                <a:lnTo>
                  <a:pt x="1630362" y="1692275"/>
                </a:lnTo>
                <a:lnTo>
                  <a:pt x="1677416" y="1301813"/>
                </a:lnTo>
                <a:moveTo>
                  <a:pt x="1621282" y="434213"/>
                </a:moveTo>
                <a:lnTo>
                  <a:pt x="1655953" y="1168908"/>
                </a:lnTo>
                <a:lnTo>
                  <a:pt x="1821878" y="1192021"/>
                </a:lnTo>
                <a:lnTo>
                  <a:pt x="1786382" y="425958"/>
                </a:lnTo>
                <a:lnTo>
                  <a:pt x="1621282" y="434213"/>
                </a:lnTo>
                <a:moveTo>
                  <a:pt x="1821878" y="1192021"/>
                </a:moveTo>
                <a:lnTo>
                  <a:pt x="1995233" y="666178"/>
                </a:lnTo>
                <a:lnTo>
                  <a:pt x="1827657" y="645540"/>
                </a:lnTo>
                <a:lnTo>
                  <a:pt x="1655953" y="1168908"/>
                </a:lnTo>
                <a:lnTo>
                  <a:pt x="1821878" y="1192021"/>
                </a:lnTo>
                <a:moveTo>
                  <a:pt x="1827657" y="645540"/>
                </a:moveTo>
                <a:lnTo>
                  <a:pt x="1862328" y="1103693"/>
                </a:lnTo>
                <a:lnTo>
                  <a:pt x="2026602" y="1091311"/>
                </a:lnTo>
                <a:lnTo>
                  <a:pt x="1995233" y="666178"/>
                </a:lnTo>
                <a:lnTo>
                  <a:pt x="1827657" y="645540"/>
                </a:lnTo>
              </a:path>
            </a:pathLst>
          </a:custGeom>
          <a:solidFill>
            <a:srgbClr val="EBEBEB"/>
          </a:solidFill>
          <a:ln>
            <a:noFill/>
          </a:ln>
        </p:spPr>
        <p:txBody>
          <a:bodyPr rtlCol="0" anchor="ctr"/>
          <a:lstStyle/>
          <a:p>
            <a:pPr algn="ctr"/>
            <a:endParaRPr/>
          </a:p>
        </p:txBody>
      </p:sp>
      <p:sp>
        <p:nvSpPr>
          <p:cNvPr id="53" name="Rounded Rectangle 2">
            <a:extLst>
              <a:ext uri="{FF2B5EF4-FFF2-40B4-BE49-F238E27FC236}">
                <a16:creationId xmlns:a16="http://schemas.microsoft.com/office/drawing/2014/main" id="{27A739C2-30C0-83DD-69E0-E9EAFE795D94}"/>
              </a:ext>
            </a:extLst>
          </p:cNvPr>
          <p:cNvSpPr/>
          <p:nvPr/>
        </p:nvSpPr>
        <p:spPr>
          <a:xfrm>
            <a:off x="3595438" y="2399602"/>
            <a:ext cx="1984502" cy="1946877"/>
          </a:xfrm>
          <a:custGeom>
            <a:avLst/>
            <a:gdLst/>
            <a:ahLst/>
            <a:cxnLst/>
            <a:rect l="0" t="0" r="0" b="0"/>
            <a:pathLst>
              <a:path w="1984502" h="1946877">
                <a:moveTo>
                  <a:pt x="676231" y="1942582"/>
                </a:moveTo>
                <a:cubicBezTo>
                  <a:pt x="463954" y="1871177"/>
                  <a:pt x="283822" y="1729818"/>
                  <a:pt x="163239" y="1545907"/>
                </a:cubicBezTo>
                <a:moveTo>
                  <a:pt x="2561" y="1046321"/>
                </a:moveTo>
                <a:cubicBezTo>
                  <a:pt x="1956" y="1032109"/>
                  <a:pt x="1650" y="1017819"/>
                  <a:pt x="1650" y="1003458"/>
                </a:cubicBezTo>
                <a:cubicBezTo>
                  <a:pt x="1650" y="772141"/>
                  <a:pt x="80936" y="559342"/>
                  <a:pt x="213814" y="390754"/>
                </a:cubicBezTo>
                <a:moveTo>
                  <a:pt x="637729" y="78184"/>
                </a:moveTo>
                <a:cubicBezTo>
                  <a:pt x="747804" y="35982"/>
                  <a:pt x="867327" y="12858"/>
                  <a:pt x="992251" y="12858"/>
                </a:cubicBezTo>
                <a:cubicBezTo>
                  <a:pt x="1109844" y="12858"/>
                  <a:pt x="1222652" y="33348"/>
                  <a:pt x="1327298" y="70953"/>
                </a:cubicBezTo>
                <a:moveTo>
                  <a:pt x="1768646" y="388173"/>
                </a:moveTo>
                <a:cubicBezTo>
                  <a:pt x="1902753" y="557168"/>
                  <a:pt x="1982851" y="770959"/>
                  <a:pt x="1982851" y="1003458"/>
                </a:cubicBezTo>
                <a:cubicBezTo>
                  <a:pt x="1982851" y="1020491"/>
                  <a:pt x="1982420" y="1037422"/>
                  <a:pt x="1981571" y="1054244"/>
                </a:cubicBezTo>
                <a:moveTo>
                  <a:pt x="1818314" y="1550377"/>
                </a:moveTo>
                <a:cubicBezTo>
                  <a:pt x="1695265" y="1735857"/>
                  <a:pt x="1511417" y="1877501"/>
                  <a:pt x="1295199" y="1946877"/>
                </a:cubicBezTo>
                <a:moveTo>
                  <a:pt x="163449" y="1546161"/>
                </a:moveTo>
                <a:cubicBezTo>
                  <a:pt x="293877" y="1722818"/>
                  <a:pt x="466407" y="1864804"/>
                  <a:pt x="676084" y="1942401"/>
                </a:cubicBezTo>
                <a:moveTo>
                  <a:pt x="2476" y="1046734"/>
                </a:moveTo>
                <a:cubicBezTo>
                  <a:pt x="4127" y="1031874"/>
                  <a:pt x="0" y="1017841"/>
                  <a:pt x="1650" y="1003808"/>
                </a:cubicBezTo>
                <a:cubicBezTo>
                  <a:pt x="14859" y="883285"/>
                  <a:pt x="28066" y="769366"/>
                  <a:pt x="62737" y="660400"/>
                </a:cubicBezTo>
                <a:cubicBezTo>
                  <a:pt x="94106" y="561340"/>
                  <a:pt x="147764" y="469709"/>
                  <a:pt x="213804" y="390461"/>
                </a:cubicBezTo>
                <a:moveTo>
                  <a:pt x="638111" y="78422"/>
                </a:moveTo>
                <a:cubicBezTo>
                  <a:pt x="748728" y="38798"/>
                  <a:pt x="868425" y="26416"/>
                  <a:pt x="992251" y="13208"/>
                </a:cubicBezTo>
                <a:cubicBezTo>
                  <a:pt x="1109471" y="0"/>
                  <a:pt x="1220914" y="37147"/>
                  <a:pt x="1327404" y="70993"/>
                </a:cubicBezTo>
                <a:moveTo>
                  <a:pt x="1769046" y="387985"/>
                </a:moveTo>
                <a:cubicBezTo>
                  <a:pt x="1828482" y="487045"/>
                  <a:pt x="1892046" y="582803"/>
                  <a:pt x="1933321" y="693420"/>
                </a:cubicBezTo>
                <a:cubicBezTo>
                  <a:pt x="1968817" y="789178"/>
                  <a:pt x="1969642" y="895667"/>
                  <a:pt x="1982851" y="1003808"/>
                </a:cubicBezTo>
                <a:cubicBezTo>
                  <a:pt x="1984502" y="1020318"/>
                  <a:pt x="1982025" y="1037653"/>
                  <a:pt x="1981199" y="1054163"/>
                </a:cubicBezTo>
                <a:moveTo>
                  <a:pt x="1818576" y="1550289"/>
                </a:moveTo>
                <a:cubicBezTo>
                  <a:pt x="1750885" y="1646047"/>
                  <a:pt x="1680717" y="1746758"/>
                  <a:pt x="1578356" y="1802066"/>
                </a:cubicBezTo>
                <a:cubicBezTo>
                  <a:pt x="1485900" y="1852422"/>
                  <a:pt x="1400873" y="1926717"/>
                  <a:pt x="1295209" y="1946529"/>
                </a:cubicBezTo>
              </a:path>
            </a:pathLst>
          </a:custGeom>
          <a:noFill/>
          <a:ln w="24765">
            <a:solidFill>
              <a:srgbClr val="484848"/>
            </a:solidFill>
          </a:ln>
        </p:spPr>
        <p:txBody>
          <a:bodyPr rtlCol="0" anchor="ctr"/>
          <a:lstStyle/>
          <a:p>
            <a:pPr algn="ctr"/>
            <a:endParaRPr/>
          </a:p>
        </p:txBody>
      </p:sp>
      <p:sp>
        <p:nvSpPr>
          <p:cNvPr id="54" name="Rounded Rectangle 3">
            <a:extLst>
              <a:ext uri="{FF2B5EF4-FFF2-40B4-BE49-F238E27FC236}">
                <a16:creationId xmlns:a16="http://schemas.microsoft.com/office/drawing/2014/main" id="{02A6DE5A-2C1B-A349-5A85-9CBC36779056}"/>
              </a:ext>
            </a:extLst>
          </p:cNvPr>
          <p:cNvSpPr/>
          <p:nvPr/>
        </p:nvSpPr>
        <p:spPr>
          <a:xfrm>
            <a:off x="3406399" y="2010792"/>
            <a:ext cx="837057" cy="867600"/>
          </a:xfrm>
          <a:custGeom>
            <a:avLst/>
            <a:gdLst/>
            <a:ahLst/>
            <a:cxnLst/>
            <a:rect l="0" t="0" r="0" b="0"/>
            <a:pathLst>
              <a:path w="837057" h="867600">
                <a:moveTo>
                  <a:pt x="725614" y="867600"/>
                </a:moveTo>
                <a:lnTo>
                  <a:pt x="782573" y="796607"/>
                </a:lnTo>
                <a:lnTo>
                  <a:pt x="695896" y="639762"/>
                </a:lnTo>
                <a:lnTo>
                  <a:pt x="596836" y="765238"/>
                </a:lnTo>
                <a:lnTo>
                  <a:pt x="725614" y="867600"/>
                </a:lnTo>
                <a:moveTo>
                  <a:pt x="695896" y="639762"/>
                </a:moveTo>
                <a:lnTo>
                  <a:pt x="782573" y="796607"/>
                </a:lnTo>
                <a:lnTo>
                  <a:pt x="534923" y="824674"/>
                </a:lnTo>
                <a:lnTo>
                  <a:pt x="468883" y="666178"/>
                </a:lnTo>
                <a:lnTo>
                  <a:pt x="695896" y="639762"/>
                </a:lnTo>
                <a:moveTo>
                  <a:pt x="534923" y="824674"/>
                </a:moveTo>
                <a:lnTo>
                  <a:pt x="798258" y="611695"/>
                </a:lnTo>
                <a:lnTo>
                  <a:pt x="716533" y="464756"/>
                </a:lnTo>
                <a:lnTo>
                  <a:pt x="468883" y="666178"/>
                </a:lnTo>
                <a:lnTo>
                  <a:pt x="534923" y="824674"/>
                </a:lnTo>
                <a:moveTo>
                  <a:pt x="716533" y="464756"/>
                </a:moveTo>
                <a:lnTo>
                  <a:pt x="798258" y="611695"/>
                </a:lnTo>
                <a:lnTo>
                  <a:pt x="314515" y="777620"/>
                </a:lnTo>
                <a:lnTo>
                  <a:pt x="239394" y="629030"/>
                </a:lnTo>
                <a:lnTo>
                  <a:pt x="716533" y="464756"/>
                </a:lnTo>
                <a:moveTo>
                  <a:pt x="314515" y="777620"/>
                </a:moveTo>
                <a:lnTo>
                  <a:pt x="837057" y="417702"/>
                </a:lnTo>
                <a:lnTo>
                  <a:pt x="758634" y="270763"/>
                </a:lnTo>
                <a:lnTo>
                  <a:pt x="239394" y="629030"/>
                </a:lnTo>
                <a:lnTo>
                  <a:pt x="314515" y="777620"/>
                </a:lnTo>
                <a:moveTo>
                  <a:pt x="758634" y="270763"/>
                </a:moveTo>
                <a:lnTo>
                  <a:pt x="72643" y="536575"/>
                </a:lnTo>
                <a:lnTo>
                  <a:pt x="149415" y="684339"/>
                </a:lnTo>
                <a:lnTo>
                  <a:pt x="837057" y="417702"/>
                </a:lnTo>
                <a:lnTo>
                  <a:pt x="758634" y="270763"/>
                </a:lnTo>
                <a:moveTo>
                  <a:pt x="149415" y="684339"/>
                </a:moveTo>
                <a:lnTo>
                  <a:pt x="799083" y="250951"/>
                </a:lnTo>
                <a:lnTo>
                  <a:pt x="723963" y="102361"/>
                </a:lnTo>
                <a:lnTo>
                  <a:pt x="72643" y="536575"/>
                </a:lnTo>
                <a:lnTo>
                  <a:pt x="149415" y="684339"/>
                </a:lnTo>
                <a:moveTo>
                  <a:pt x="723963" y="102361"/>
                </a:moveTo>
                <a:lnTo>
                  <a:pt x="0" y="365696"/>
                </a:lnTo>
                <a:lnTo>
                  <a:pt x="72643" y="515111"/>
                </a:lnTo>
                <a:lnTo>
                  <a:pt x="799083" y="250951"/>
                </a:lnTo>
                <a:lnTo>
                  <a:pt x="723963" y="102361"/>
                </a:lnTo>
                <a:moveTo>
                  <a:pt x="72643" y="515111"/>
                </a:moveTo>
                <a:lnTo>
                  <a:pt x="626554" y="169227"/>
                </a:lnTo>
                <a:lnTo>
                  <a:pt x="563816" y="13207"/>
                </a:lnTo>
                <a:lnTo>
                  <a:pt x="0" y="365696"/>
                </a:lnTo>
                <a:lnTo>
                  <a:pt x="72643" y="515111"/>
                </a:lnTo>
                <a:moveTo>
                  <a:pt x="563816" y="13207"/>
                </a:moveTo>
                <a:lnTo>
                  <a:pt x="626554" y="169227"/>
                </a:lnTo>
                <a:lnTo>
                  <a:pt x="164274" y="267461"/>
                </a:lnTo>
                <a:lnTo>
                  <a:pt x="101536" y="111442"/>
                </a:lnTo>
                <a:lnTo>
                  <a:pt x="563816" y="13207"/>
                </a:lnTo>
                <a:moveTo>
                  <a:pt x="164274" y="267461"/>
                </a:moveTo>
                <a:lnTo>
                  <a:pt x="367347" y="140335"/>
                </a:lnTo>
                <a:lnTo>
                  <a:pt x="280669" y="0"/>
                </a:lnTo>
                <a:lnTo>
                  <a:pt x="101536" y="111442"/>
                </a:lnTo>
                <a:lnTo>
                  <a:pt x="164274" y="267461"/>
                </a:lnTo>
              </a:path>
            </a:pathLst>
          </a:custGeom>
          <a:solidFill>
            <a:srgbClr val="FFE4CB"/>
          </a:solidFill>
          <a:ln>
            <a:noFill/>
          </a:ln>
        </p:spPr>
        <p:txBody>
          <a:bodyPr rtlCol="0" anchor="ctr"/>
          <a:lstStyle/>
          <a:p>
            <a:pPr algn="ctr"/>
            <a:endParaRPr/>
          </a:p>
        </p:txBody>
      </p:sp>
      <p:sp>
        <p:nvSpPr>
          <p:cNvPr id="55" name="Rounded Rectangle 4">
            <a:extLst>
              <a:ext uri="{FF2B5EF4-FFF2-40B4-BE49-F238E27FC236}">
                <a16:creationId xmlns:a16="http://schemas.microsoft.com/office/drawing/2014/main" id="{5B6CFFC0-558E-E1C7-992A-11FA9E5D12CF}"/>
              </a:ext>
            </a:extLst>
          </p:cNvPr>
          <p:cNvSpPr/>
          <p:nvPr/>
        </p:nvSpPr>
        <p:spPr>
          <a:xfrm>
            <a:off x="3387673" y="1945665"/>
            <a:ext cx="856419" cy="902544"/>
          </a:xfrm>
          <a:custGeom>
            <a:avLst/>
            <a:gdLst/>
            <a:ahLst/>
            <a:cxnLst/>
            <a:rect l="0" t="0" r="0" b="0"/>
            <a:pathLst>
              <a:path w="856419" h="902544">
                <a:moveTo>
                  <a:pt x="840555" y="511182"/>
                </a:moveTo>
                <a:cubicBezTo>
                  <a:pt x="856419" y="411023"/>
                  <a:pt x="834074" y="304812"/>
                  <a:pt x="769758" y="216290"/>
                </a:cubicBezTo>
                <a:cubicBezTo>
                  <a:pt x="641129" y="39246"/>
                  <a:pt x="393333" y="0"/>
                  <a:pt x="216290" y="128629"/>
                </a:cubicBezTo>
                <a:cubicBezTo>
                  <a:pt x="39246" y="257258"/>
                  <a:pt x="0" y="505054"/>
                  <a:pt x="128629" y="682098"/>
                </a:cubicBezTo>
                <a:cubicBezTo>
                  <a:pt x="192944" y="770619"/>
                  <a:pt x="287050" y="824692"/>
                  <a:pt x="387209" y="840555"/>
                </a:cubicBezTo>
                <a:lnTo>
                  <a:pt x="778569" y="902544"/>
                </a:lnTo>
                <a:lnTo>
                  <a:pt x="840541" y="511272"/>
                </a:lnTo>
                <a:cubicBezTo>
                  <a:pt x="840545" y="511242"/>
                  <a:pt x="840550" y="511213"/>
                  <a:pt x="840555" y="511182"/>
                </a:cubicBezTo>
                <a:close/>
                <a:moveTo>
                  <a:pt x="840922" y="510895"/>
                </a:moveTo>
                <a:cubicBezTo>
                  <a:pt x="806251" y="638848"/>
                  <a:pt x="799647" y="772579"/>
                  <a:pt x="778184" y="902182"/>
                </a:cubicBezTo>
                <a:cubicBezTo>
                  <a:pt x="647755" y="885672"/>
                  <a:pt x="517326" y="860907"/>
                  <a:pt x="386897" y="840270"/>
                </a:cubicBezTo>
                <a:cubicBezTo>
                  <a:pt x="287012" y="824585"/>
                  <a:pt x="200334" y="765149"/>
                  <a:pt x="128516" y="681774"/>
                </a:cubicBezTo>
                <a:cubicBezTo>
                  <a:pt x="50919" y="591794"/>
                  <a:pt x="50919" y="470446"/>
                  <a:pt x="63301" y="360654"/>
                </a:cubicBezTo>
                <a:cubicBezTo>
                  <a:pt x="72382" y="269024"/>
                  <a:pt x="131818" y="181521"/>
                  <a:pt x="216019" y="128689"/>
                </a:cubicBezTo>
                <a:cubicBezTo>
                  <a:pt x="310126" y="70078"/>
                  <a:pt x="412488" y="43662"/>
                  <a:pt x="514024" y="58521"/>
                </a:cubicBezTo>
                <a:cubicBezTo>
                  <a:pt x="613084" y="72555"/>
                  <a:pt x="699762" y="133642"/>
                  <a:pt x="769929" y="216192"/>
                </a:cubicBezTo>
                <a:cubicBezTo>
                  <a:pt x="840097" y="299567"/>
                  <a:pt x="845875" y="410184"/>
                  <a:pt x="840922" y="510895"/>
                </a:cubicBezTo>
              </a:path>
            </a:pathLst>
          </a:custGeom>
          <a:noFill/>
          <a:ln w="24765">
            <a:solidFill>
              <a:srgbClr val="484848"/>
            </a:solidFill>
          </a:ln>
        </p:spPr>
        <p:txBody>
          <a:bodyPr rtlCol="0" anchor="ctr"/>
          <a:lstStyle/>
          <a:p>
            <a:pPr algn="ctr"/>
            <a:endParaRPr/>
          </a:p>
        </p:txBody>
      </p:sp>
      <p:sp>
        <p:nvSpPr>
          <p:cNvPr id="56" name="Rounded Rectangle 5">
            <a:extLst>
              <a:ext uri="{FF2B5EF4-FFF2-40B4-BE49-F238E27FC236}">
                <a16:creationId xmlns:a16="http://schemas.microsoft.com/office/drawing/2014/main" id="{412232D3-078D-236E-DBBE-C8E61BE53A02}"/>
              </a:ext>
            </a:extLst>
          </p:cNvPr>
          <p:cNvSpPr/>
          <p:nvPr/>
        </p:nvSpPr>
        <p:spPr>
          <a:xfrm>
            <a:off x="2955672" y="3367086"/>
            <a:ext cx="971613" cy="826325"/>
          </a:xfrm>
          <a:custGeom>
            <a:avLst/>
            <a:gdLst/>
            <a:ahLst/>
            <a:cxnLst/>
            <a:rect l="0" t="0" r="0" b="0"/>
            <a:pathLst>
              <a:path w="971613" h="826325">
                <a:moveTo>
                  <a:pt x="0" y="458977"/>
                </a:moveTo>
                <a:lnTo>
                  <a:pt x="23113" y="621601"/>
                </a:lnTo>
                <a:lnTo>
                  <a:pt x="189865" y="619950"/>
                </a:lnTo>
                <a:lnTo>
                  <a:pt x="163448" y="435864"/>
                </a:lnTo>
                <a:lnTo>
                  <a:pt x="0" y="458977"/>
                </a:lnTo>
                <a:moveTo>
                  <a:pt x="189865" y="619950"/>
                </a:moveTo>
                <a:lnTo>
                  <a:pt x="250951" y="142811"/>
                </a:lnTo>
                <a:lnTo>
                  <a:pt x="81724" y="160972"/>
                </a:lnTo>
                <a:lnTo>
                  <a:pt x="23113" y="621601"/>
                </a:lnTo>
                <a:lnTo>
                  <a:pt x="189865" y="619950"/>
                </a:lnTo>
                <a:moveTo>
                  <a:pt x="81724" y="160972"/>
                </a:moveTo>
                <a:lnTo>
                  <a:pt x="312864" y="826325"/>
                </a:lnTo>
                <a:lnTo>
                  <a:pt x="473011" y="785050"/>
                </a:lnTo>
                <a:lnTo>
                  <a:pt x="250951" y="142811"/>
                </a:lnTo>
                <a:lnTo>
                  <a:pt x="81724" y="160972"/>
                </a:lnTo>
                <a:moveTo>
                  <a:pt x="473011" y="785050"/>
                </a:moveTo>
                <a:lnTo>
                  <a:pt x="347535" y="82550"/>
                </a:lnTo>
                <a:lnTo>
                  <a:pt x="187388" y="125475"/>
                </a:lnTo>
                <a:lnTo>
                  <a:pt x="312864" y="826325"/>
                </a:lnTo>
                <a:lnTo>
                  <a:pt x="473011" y="785050"/>
                </a:lnTo>
                <a:moveTo>
                  <a:pt x="187388" y="125475"/>
                </a:moveTo>
                <a:lnTo>
                  <a:pt x="421830" y="768540"/>
                </a:lnTo>
                <a:lnTo>
                  <a:pt x="586930" y="738822"/>
                </a:lnTo>
                <a:lnTo>
                  <a:pt x="347535" y="82550"/>
                </a:lnTo>
                <a:lnTo>
                  <a:pt x="187388" y="125475"/>
                </a:lnTo>
                <a:moveTo>
                  <a:pt x="586930" y="738822"/>
                </a:moveTo>
                <a:lnTo>
                  <a:pt x="579500" y="0"/>
                </a:lnTo>
                <a:lnTo>
                  <a:pt x="414400" y="25590"/>
                </a:lnTo>
                <a:lnTo>
                  <a:pt x="421830" y="768540"/>
                </a:lnTo>
                <a:lnTo>
                  <a:pt x="586930" y="738822"/>
                </a:lnTo>
                <a:moveTo>
                  <a:pt x="414400" y="25590"/>
                </a:moveTo>
                <a:lnTo>
                  <a:pt x="622426" y="714057"/>
                </a:lnTo>
                <a:lnTo>
                  <a:pt x="785050" y="681037"/>
                </a:lnTo>
                <a:lnTo>
                  <a:pt x="579500" y="0"/>
                </a:lnTo>
                <a:lnTo>
                  <a:pt x="414400" y="25590"/>
                </a:lnTo>
                <a:moveTo>
                  <a:pt x="785050" y="681037"/>
                </a:moveTo>
                <a:lnTo>
                  <a:pt x="622426" y="714057"/>
                </a:lnTo>
                <a:lnTo>
                  <a:pt x="566292" y="177482"/>
                </a:lnTo>
                <a:lnTo>
                  <a:pt x="728090" y="133730"/>
                </a:lnTo>
                <a:lnTo>
                  <a:pt x="785050" y="681037"/>
                </a:lnTo>
                <a:moveTo>
                  <a:pt x="566292" y="177482"/>
                </a:moveTo>
                <a:lnTo>
                  <a:pt x="726440" y="527494"/>
                </a:lnTo>
                <a:lnTo>
                  <a:pt x="896492" y="502729"/>
                </a:lnTo>
                <a:lnTo>
                  <a:pt x="728090" y="133730"/>
                </a:lnTo>
                <a:lnTo>
                  <a:pt x="566292" y="177482"/>
                </a:lnTo>
                <a:moveTo>
                  <a:pt x="896492" y="502729"/>
                </a:moveTo>
                <a:lnTo>
                  <a:pt x="940244" y="190690"/>
                </a:lnTo>
                <a:lnTo>
                  <a:pt x="771842" y="203898"/>
                </a:lnTo>
                <a:lnTo>
                  <a:pt x="726440" y="527494"/>
                </a:lnTo>
                <a:lnTo>
                  <a:pt x="896492" y="502729"/>
                </a:lnTo>
                <a:moveTo>
                  <a:pt x="771842" y="203898"/>
                </a:moveTo>
                <a:lnTo>
                  <a:pt x="813942" y="342582"/>
                </a:lnTo>
                <a:lnTo>
                  <a:pt x="971613" y="294703"/>
                </a:lnTo>
                <a:lnTo>
                  <a:pt x="940244" y="190690"/>
                </a:lnTo>
                <a:lnTo>
                  <a:pt x="771842" y="203898"/>
                </a:lnTo>
              </a:path>
            </a:pathLst>
          </a:custGeom>
          <a:solidFill>
            <a:srgbClr val="FFF8B6"/>
          </a:solidFill>
          <a:ln>
            <a:noFill/>
          </a:ln>
        </p:spPr>
        <p:txBody>
          <a:bodyPr rtlCol="0" anchor="ctr"/>
          <a:lstStyle/>
          <a:p>
            <a:pPr algn="ctr"/>
            <a:endParaRPr/>
          </a:p>
        </p:txBody>
      </p:sp>
      <p:sp>
        <p:nvSpPr>
          <p:cNvPr id="57" name="Rounded Rectangle 6">
            <a:extLst>
              <a:ext uri="{FF2B5EF4-FFF2-40B4-BE49-F238E27FC236}">
                <a16:creationId xmlns:a16="http://schemas.microsoft.com/office/drawing/2014/main" id="{8550642A-2F28-4CC9-07FF-37382C6ECEE8}"/>
              </a:ext>
            </a:extLst>
          </p:cNvPr>
          <p:cNvSpPr/>
          <p:nvPr/>
        </p:nvSpPr>
        <p:spPr>
          <a:xfrm>
            <a:off x="2941979" y="3376392"/>
            <a:ext cx="977414" cy="858295"/>
          </a:xfrm>
          <a:custGeom>
            <a:avLst/>
            <a:gdLst/>
            <a:ahLst/>
            <a:cxnLst/>
            <a:rect l="0" t="0" r="0" b="0"/>
            <a:pathLst>
              <a:path w="977414" h="858295">
                <a:moveTo>
                  <a:pt x="797525" y="590544"/>
                </a:moveTo>
                <a:cubicBezTo>
                  <a:pt x="751487" y="680900"/>
                  <a:pt x="670980" y="753693"/>
                  <a:pt x="566916" y="787505"/>
                </a:cubicBezTo>
                <a:cubicBezTo>
                  <a:pt x="358789" y="855129"/>
                  <a:pt x="135249" y="741230"/>
                  <a:pt x="67624" y="533103"/>
                </a:cubicBezTo>
                <a:cubicBezTo>
                  <a:pt x="0" y="324977"/>
                  <a:pt x="113899" y="101436"/>
                  <a:pt x="322025" y="33811"/>
                </a:cubicBezTo>
                <a:cubicBezTo>
                  <a:pt x="426089" y="0"/>
                  <a:pt x="534006" y="11568"/>
                  <a:pt x="624360" y="57605"/>
                </a:cubicBezTo>
                <a:lnTo>
                  <a:pt x="977414" y="237492"/>
                </a:lnTo>
                <a:lnTo>
                  <a:pt x="797566" y="590463"/>
                </a:lnTo>
                <a:cubicBezTo>
                  <a:pt x="797552" y="590490"/>
                  <a:pt x="797538" y="590518"/>
                  <a:pt x="797525" y="590544"/>
                </a:cubicBezTo>
                <a:close/>
                <a:moveTo>
                  <a:pt x="797921" y="590833"/>
                </a:moveTo>
                <a:cubicBezTo>
                  <a:pt x="751693" y="680813"/>
                  <a:pt x="670794" y="752631"/>
                  <a:pt x="566781" y="787302"/>
                </a:cubicBezTo>
                <a:cubicBezTo>
                  <a:pt x="359580" y="858295"/>
                  <a:pt x="140823" y="739423"/>
                  <a:pt x="67353" y="533048"/>
                </a:cubicBezTo>
                <a:cubicBezTo>
                  <a:pt x="31031" y="431512"/>
                  <a:pt x="48367" y="325022"/>
                  <a:pt x="89642" y="233392"/>
                </a:cubicBezTo>
                <a:cubicBezTo>
                  <a:pt x="132568" y="140110"/>
                  <a:pt x="215118" y="61688"/>
                  <a:pt x="322433" y="33621"/>
                </a:cubicBezTo>
                <a:cubicBezTo>
                  <a:pt x="428097" y="6379"/>
                  <a:pt x="531284" y="17936"/>
                  <a:pt x="624566" y="57560"/>
                </a:cubicBezTo>
                <a:cubicBezTo>
                  <a:pt x="745914" y="108741"/>
                  <a:pt x="864786" y="169003"/>
                  <a:pt x="977054" y="237519"/>
                </a:cubicBezTo>
                <a:cubicBezTo>
                  <a:pt x="931652" y="361344"/>
                  <a:pt x="868914" y="479391"/>
                  <a:pt x="797921" y="590833"/>
                </a:cubicBezTo>
              </a:path>
            </a:pathLst>
          </a:custGeom>
          <a:noFill/>
          <a:ln w="24765">
            <a:solidFill>
              <a:srgbClr val="484848"/>
            </a:solidFill>
          </a:ln>
        </p:spPr>
        <p:txBody>
          <a:bodyPr rtlCol="0" anchor="ctr"/>
          <a:lstStyle/>
          <a:p>
            <a:pPr algn="ctr"/>
            <a:endParaRPr/>
          </a:p>
        </p:txBody>
      </p:sp>
      <p:sp>
        <p:nvSpPr>
          <p:cNvPr id="58" name="Rounded Rectangle 7">
            <a:extLst>
              <a:ext uri="{FF2B5EF4-FFF2-40B4-BE49-F238E27FC236}">
                <a16:creationId xmlns:a16="http://schemas.microsoft.com/office/drawing/2014/main" id="{41D57D2E-3056-269D-D4A5-79B7F4F431B3}"/>
              </a:ext>
            </a:extLst>
          </p:cNvPr>
          <p:cNvSpPr/>
          <p:nvPr/>
        </p:nvSpPr>
        <p:spPr>
          <a:xfrm>
            <a:off x="4189798" y="3983735"/>
            <a:ext cx="806513" cy="1036828"/>
          </a:xfrm>
          <a:custGeom>
            <a:avLst/>
            <a:gdLst/>
            <a:ahLst/>
            <a:cxnLst/>
            <a:rect l="0" t="0" r="0" b="0"/>
            <a:pathLst>
              <a:path w="806513" h="1036828">
                <a:moveTo>
                  <a:pt x="264985" y="1036828"/>
                </a:moveTo>
                <a:lnTo>
                  <a:pt x="531621" y="1005458"/>
                </a:lnTo>
                <a:lnTo>
                  <a:pt x="547306" y="837056"/>
                </a:lnTo>
                <a:lnTo>
                  <a:pt x="245999" y="872553"/>
                </a:lnTo>
                <a:lnTo>
                  <a:pt x="264985" y="1036828"/>
                </a:lnTo>
                <a:moveTo>
                  <a:pt x="547306" y="837056"/>
                </a:moveTo>
                <a:lnTo>
                  <a:pt x="66865" y="686815"/>
                </a:lnTo>
                <a:lnTo>
                  <a:pt x="37147" y="851090"/>
                </a:lnTo>
                <a:lnTo>
                  <a:pt x="531621" y="1005458"/>
                </a:lnTo>
                <a:lnTo>
                  <a:pt x="547306" y="837056"/>
                </a:lnTo>
                <a:moveTo>
                  <a:pt x="37147" y="851090"/>
                </a:moveTo>
                <a:lnTo>
                  <a:pt x="66865" y="686815"/>
                </a:lnTo>
                <a:lnTo>
                  <a:pt x="737996" y="725614"/>
                </a:lnTo>
                <a:lnTo>
                  <a:pt x="709104" y="889888"/>
                </a:lnTo>
                <a:lnTo>
                  <a:pt x="37147" y="851090"/>
                </a:lnTo>
                <a:moveTo>
                  <a:pt x="737996" y="725614"/>
                </a:moveTo>
                <a:lnTo>
                  <a:pt x="23114" y="517588"/>
                </a:lnTo>
                <a:lnTo>
                  <a:pt x="0" y="682688"/>
                </a:lnTo>
                <a:lnTo>
                  <a:pt x="709104" y="889888"/>
                </a:lnTo>
                <a:lnTo>
                  <a:pt x="737996" y="725614"/>
                </a:lnTo>
                <a:moveTo>
                  <a:pt x="0" y="682688"/>
                </a:moveTo>
                <a:lnTo>
                  <a:pt x="790003" y="673608"/>
                </a:lnTo>
                <a:lnTo>
                  <a:pt x="806513" y="508507"/>
                </a:lnTo>
                <a:lnTo>
                  <a:pt x="23114" y="517588"/>
                </a:lnTo>
                <a:lnTo>
                  <a:pt x="0" y="682688"/>
                </a:lnTo>
                <a:moveTo>
                  <a:pt x="806513" y="508507"/>
                </a:moveTo>
                <a:lnTo>
                  <a:pt x="74295" y="350837"/>
                </a:lnTo>
                <a:lnTo>
                  <a:pt x="56134" y="515937"/>
                </a:lnTo>
                <a:lnTo>
                  <a:pt x="790003" y="673608"/>
                </a:lnTo>
                <a:lnTo>
                  <a:pt x="806513" y="508507"/>
                </a:lnTo>
                <a:moveTo>
                  <a:pt x="56134" y="515937"/>
                </a:moveTo>
                <a:lnTo>
                  <a:pt x="74295" y="350837"/>
                </a:lnTo>
                <a:lnTo>
                  <a:pt x="747902" y="355790"/>
                </a:lnTo>
                <a:lnTo>
                  <a:pt x="725614" y="520890"/>
                </a:lnTo>
                <a:lnTo>
                  <a:pt x="56134" y="515937"/>
                </a:lnTo>
                <a:moveTo>
                  <a:pt x="747902" y="355790"/>
                </a:moveTo>
                <a:lnTo>
                  <a:pt x="215455" y="214630"/>
                </a:lnTo>
                <a:lnTo>
                  <a:pt x="195643" y="380555"/>
                </a:lnTo>
                <a:lnTo>
                  <a:pt x="725614" y="520890"/>
                </a:lnTo>
                <a:lnTo>
                  <a:pt x="747902" y="355790"/>
                </a:lnTo>
                <a:moveTo>
                  <a:pt x="195643" y="380555"/>
                </a:moveTo>
                <a:lnTo>
                  <a:pt x="567944" y="373125"/>
                </a:lnTo>
                <a:lnTo>
                  <a:pt x="625729" y="206375"/>
                </a:lnTo>
                <a:lnTo>
                  <a:pt x="215455" y="214630"/>
                </a:lnTo>
                <a:lnTo>
                  <a:pt x="195643" y="380555"/>
                </a:lnTo>
                <a:moveTo>
                  <a:pt x="625729" y="206375"/>
                </a:moveTo>
                <a:lnTo>
                  <a:pt x="378079" y="0"/>
                </a:lnTo>
                <a:lnTo>
                  <a:pt x="357441" y="198120"/>
                </a:lnTo>
                <a:lnTo>
                  <a:pt x="567944" y="373125"/>
                </a:lnTo>
                <a:lnTo>
                  <a:pt x="625729" y="206375"/>
                </a:lnTo>
                <a:moveTo>
                  <a:pt x="357441" y="198120"/>
                </a:moveTo>
                <a:lnTo>
                  <a:pt x="425132" y="161797"/>
                </a:lnTo>
                <a:lnTo>
                  <a:pt x="348360" y="15684"/>
                </a:lnTo>
                <a:lnTo>
                  <a:pt x="378079" y="0"/>
                </a:lnTo>
                <a:lnTo>
                  <a:pt x="357441" y="198120"/>
                </a:lnTo>
              </a:path>
            </a:pathLst>
          </a:custGeom>
          <a:solidFill>
            <a:srgbClr val="E9FFB9"/>
          </a:solidFill>
          <a:ln>
            <a:noFill/>
          </a:ln>
        </p:spPr>
        <p:txBody>
          <a:bodyPr rtlCol="0" anchor="ctr"/>
          <a:lstStyle/>
          <a:p>
            <a:pPr algn="ctr"/>
            <a:endParaRPr/>
          </a:p>
        </p:txBody>
      </p:sp>
      <p:sp>
        <p:nvSpPr>
          <p:cNvPr id="59" name="Rounded Rectangle 8">
            <a:extLst>
              <a:ext uri="{FF2B5EF4-FFF2-40B4-BE49-F238E27FC236}">
                <a16:creationId xmlns:a16="http://schemas.microsoft.com/office/drawing/2014/main" id="{94DB1C72-D88B-F7E2-3C0E-F88FA83CC6B2}"/>
              </a:ext>
            </a:extLst>
          </p:cNvPr>
          <p:cNvSpPr/>
          <p:nvPr/>
        </p:nvSpPr>
        <p:spPr>
          <a:xfrm>
            <a:off x="4171637" y="4031407"/>
            <a:ext cx="805687" cy="965217"/>
          </a:xfrm>
          <a:custGeom>
            <a:avLst/>
            <a:gdLst/>
            <a:ahLst/>
            <a:cxnLst/>
            <a:rect l="0" t="0" r="0" b="0"/>
            <a:pathLst>
              <a:path w="805687" h="965217">
                <a:moveTo>
                  <a:pt x="679723" y="280183"/>
                </a:moveTo>
                <a:cubicBezTo>
                  <a:pt x="751430" y="351889"/>
                  <a:pt x="795781" y="450950"/>
                  <a:pt x="795781" y="560370"/>
                </a:cubicBezTo>
                <a:cubicBezTo>
                  <a:pt x="795781" y="779207"/>
                  <a:pt x="618379" y="956610"/>
                  <a:pt x="399541" y="956610"/>
                </a:cubicBezTo>
                <a:cubicBezTo>
                  <a:pt x="180704" y="956610"/>
                  <a:pt x="3301" y="779207"/>
                  <a:pt x="3301" y="560370"/>
                </a:cubicBezTo>
                <a:cubicBezTo>
                  <a:pt x="3301" y="450951"/>
                  <a:pt x="47652" y="351891"/>
                  <a:pt x="119358" y="280186"/>
                </a:cubicBezTo>
                <a:lnTo>
                  <a:pt x="399539" y="0"/>
                </a:lnTo>
                <a:lnTo>
                  <a:pt x="679659" y="280119"/>
                </a:lnTo>
                <a:cubicBezTo>
                  <a:pt x="679680" y="280140"/>
                  <a:pt x="679701" y="280162"/>
                  <a:pt x="679723" y="280183"/>
                </a:cubicBezTo>
                <a:close/>
                <a:moveTo>
                  <a:pt x="679386" y="280052"/>
                </a:moveTo>
                <a:cubicBezTo>
                  <a:pt x="752030" y="351045"/>
                  <a:pt x="785875" y="450930"/>
                  <a:pt x="795781" y="560722"/>
                </a:cubicBezTo>
                <a:cubicBezTo>
                  <a:pt x="805687" y="675466"/>
                  <a:pt x="751205" y="786083"/>
                  <a:pt x="667003" y="852949"/>
                </a:cubicBezTo>
                <a:cubicBezTo>
                  <a:pt x="591883" y="911559"/>
                  <a:pt x="502729" y="965217"/>
                  <a:pt x="399541" y="956962"/>
                </a:cubicBezTo>
                <a:cubicBezTo>
                  <a:pt x="181610" y="938801"/>
                  <a:pt x="9905" y="779479"/>
                  <a:pt x="3301" y="560722"/>
                </a:cubicBezTo>
                <a:cubicBezTo>
                  <a:pt x="0" y="450930"/>
                  <a:pt x="56959" y="360125"/>
                  <a:pt x="119697" y="280052"/>
                </a:cubicBezTo>
                <a:cubicBezTo>
                  <a:pt x="199770" y="176039"/>
                  <a:pt x="302958" y="90187"/>
                  <a:pt x="399541" y="207"/>
                </a:cubicBezTo>
                <a:cubicBezTo>
                  <a:pt x="498601" y="86885"/>
                  <a:pt x="583628" y="190072"/>
                  <a:pt x="679386" y="280052"/>
                </a:cubicBezTo>
              </a:path>
            </a:pathLst>
          </a:custGeom>
          <a:noFill/>
          <a:ln w="24765">
            <a:solidFill>
              <a:srgbClr val="484848"/>
            </a:solidFill>
          </a:ln>
        </p:spPr>
        <p:txBody>
          <a:bodyPr rtlCol="0" anchor="ctr"/>
          <a:lstStyle/>
          <a:p>
            <a:pPr algn="ctr"/>
            <a:endParaRPr/>
          </a:p>
        </p:txBody>
      </p:sp>
      <p:sp>
        <p:nvSpPr>
          <p:cNvPr id="60" name="Rounded Rectangle 9">
            <a:extLst>
              <a:ext uri="{FF2B5EF4-FFF2-40B4-BE49-F238E27FC236}">
                <a16:creationId xmlns:a16="http://schemas.microsoft.com/office/drawing/2014/main" id="{5599F467-9DA4-5FF8-990F-6FF7D97D0DAF}"/>
              </a:ext>
            </a:extLst>
          </p:cNvPr>
          <p:cNvSpPr/>
          <p:nvPr/>
        </p:nvSpPr>
        <p:spPr>
          <a:xfrm>
            <a:off x="5226624" y="3405887"/>
            <a:ext cx="983170" cy="827976"/>
          </a:xfrm>
          <a:custGeom>
            <a:avLst/>
            <a:gdLst/>
            <a:ahLst/>
            <a:cxnLst/>
            <a:rect l="0" t="0" r="0" b="0"/>
            <a:pathLst>
              <a:path w="983170" h="827976">
                <a:moveTo>
                  <a:pt x="899795" y="615822"/>
                </a:moveTo>
                <a:lnTo>
                  <a:pt x="770191" y="513460"/>
                </a:lnTo>
                <a:lnTo>
                  <a:pt x="859345" y="399541"/>
                </a:lnTo>
                <a:lnTo>
                  <a:pt x="983170" y="509333"/>
                </a:lnTo>
                <a:lnTo>
                  <a:pt x="899795" y="615822"/>
                </a:lnTo>
                <a:moveTo>
                  <a:pt x="859345" y="399541"/>
                </a:moveTo>
                <a:lnTo>
                  <a:pt x="580326" y="680212"/>
                </a:lnTo>
                <a:lnTo>
                  <a:pt x="722312" y="771017"/>
                </a:lnTo>
                <a:lnTo>
                  <a:pt x="983170" y="509333"/>
                </a:lnTo>
                <a:lnTo>
                  <a:pt x="859345" y="399541"/>
                </a:lnTo>
                <a:moveTo>
                  <a:pt x="722312" y="771017"/>
                </a:moveTo>
                <a:lnTo>
                  <a:pt x="580326" y="680212"/>
                </a:lnTo>
                <a:lnTo>
                  <a:pt x="780923" y="128778"/>
                </a:lnTo>
                <a:lnTo>
                  <a:pt x="928687" y="204724"/>
                </a:lnTo>
                <a:lnTo>
                  <a:pt x="722312" y="771017"/>
                </a:lnTo>
                <a:moveTo>
                  <a:pt x="780923" y="128778"/>
                </a:moveTo>
                <a:lnTo>
                  <a:pt x="349186" y="752855"/>
                </a:lnTo>
                <a:lnTo>
                  <a:pt x="498601" y="827976"/>
                </a:lnTo>
                <a:lnTo>
                  <a:pt x="928687" y="204724"/>
                </a:lnTo>
                <a:lnTo>
                  <a:pt x="780923" y="128778"/>
                </a:lnTo>
                <a:moveTo>
                  <a:pt x="498601" y="827976"/>
                </a:moveTo>
                <a:lnTo>
                  <a:pt x="755332" y="69341"/>
                </a:lnTo>
                <a:lnTo>
                  <a:pt x="604266" y="0"/>
                </a:lnTo>
                <a:lnTo>
                  <a:pt x="349186" y="752855"/>
                </a:lnTo>
                <a:lnTo>
                  <a:pt x="498601" y="827976"/>
                </a:lnTo>
                <a:moveTo>
                  <a:pt x="604266" y="0"/>
                </a:moveTo>
                <a:lnTo>
                  <a:pt x="232790" y="624903"/>
                </a:lnTo>
                <a:lnTo>
                  <a:pt x="383031" y="694245"/>
                </a:lnTo>
                <a:lnTo>
                  <a:pt x="755332" y="69341"/>
                </a:lnTo>
                <a:lnTo>
                  <a:pt x="604266" y="0"/>
                </a:lnTo>
                <a:moveTo>
                  <a:pt x="383031" y="694245"/>
                </a:moveTo>
                <a:lnTo>
                  <a:pt x="232790" y="624903"/>
                </a:lnTo>
                <a:lnTo>
                  <a:pt x="444944" y="4953"/>
                </a:lnTo>
                <a:lnTo>
                  <a:pt x="593534" y="80073"/>
                </a:lnTo>
                <a:lnTo>
                  <a:pt x="383031" y="694245"/>
                </a:lnTo>
                <a:moveTo>
                  <a:pt x="444944" y="4953"/>
                </a:moveTo>
                <a:lnTo>
                  <a:pt x="118871" y="473837"/>
                </a:lnTo>
                <a:lnTo>
                  <a:pt x="273240" y="541527"/>
                </a:lnTo>
                <a:lnTo>
                  <a:pt x="593534" y="80073"/>
                </a:lnTo>
                <a:lnTo>
                  <a:pt x="444944" y="4953"/>
                </a:lnTo>
                <a:moveTo>
                  <a:pt x="273240" y="541527"/>
                </a:moveTo>
                <a:lnTo>
                  <a:pt x="118871" y="473837"/>
                </a:lnTo>
                <a:lnTo>
                  <a:pt x="215455" y="47053"/>
                </a:lnTo>
                <a:lnTo>
                  <a:pt x="365696" y="128778"/>
                </a:lnTo>
                <a:lnTo>
                  <a:pt x="273240" y="541527"/>
                </a:lnTo>
                <a:moveTo>
                  <a:pt x="215455" y="47053"/>
                </a:moveTo>
                <a:lnTo>
                  <a:pt x="0" y="268287"/>
                </a:lnTo>
                <a:lnTo>
                  <a:pt x="143636" y="357441"/>
                </a:lnTo>
                <a:lnTo>
                  <a:pt x="365696" y="128778"/>
                </a:lnTo>
                <a:lnTo>
                  <a:pt x="215455" y="47053"/>
                </a:lnTo>
                <a:moveTo>
                  <a:pt x="143636" y="357441"/>
                </a:moveTo>
                <a:lnTo>
                  <a:pt x="0" y="268287"/>
                </a:lnTo>
                <a:lnTo>
                  <a:pt x="27241" y="189865"/>
                </a:lnTo>
                <a:lnTo>
                  <a:pt x="182435" y="244348"/>
                </a:lnTo>
                <a:lnTo>
                  <a:pt x="143636" y="357441"/>
                </a:lnTo>
              </a:path>
            </a:pathLst>
          </a:custGeom>
          <a:solidFill>
            <a:srgbClr val="C8FFE5"/>
          </a:solidFill>
          <a:ln>
            <a:noFill/>
          </a:ln>
        </p:spPr>
        <p:txBody>
          <a:bodyPr rtlCol="0" anchor="ctr"/>
          <a:lstStyle/>
          <a:p>
            <a:pPr algn="ctr"/>
            <a:endParaRPr/>
          </a:p>
        </p:txBody>
      </p:sp>
      <p:sp>
        <p:nvSpPr>
          <p:cNvPr id="61" name="Rounded Rectangle 10">
            <a:extLst>
              <a:ext uri="{FF2B5EF4-FFF2-40B4-BE49-F238E27FC236}">
                <a16:creationId xmlns:a16="http://schemas.microsoft.com/office/drawing/2014/main" id="{52141C77-E877-2BA6-D3B3-2F9ED047AF4F}"/>
              </a:ext>
            </a:extLst>
          </p:cNvPr>
          <p:cNvSpPr/>
          <p:nvPr/>
        </p:nvSpPr>
        <p:spPr>
          <a:xfrm>
            <a:off x="5238182" y="3384648"/>
            <a:ext cx="977686" cy="855130"/>
          </a:xfrm>
          <a:custGeom>
            <a:avLst/>
            <a:gdLst/>
            <a:ahLst/>
            <a:cxnLst/>
            <a:rect l="0" t="0" r="0" b="0"/>
            <a:pathLst>
              <a:path w="977686" h="855130">
                <a:moveTo>
                  <a:pt x="353322" y="57608"/>
                </a:moveTo>
                <a:cubicBezTo>
                  <a:pt x="443677" y="11569"/>
                  <a:pt x="551595" y="0"/>
                  <a:pt x="655659" y="33812"/>
                </a:cubicBezTo>
                <a:cubicBezTo>
                  <a:pt x="863786" y="101437"/>
                  <a:pt x="977686" y="324977"/>
                  <a:pt x="910061" y="533104"/>
                </a:cubicBezTo>
                <a:cubicBezTo>
                  <a:pt x="842437" y="741231"/>
                  <a:pt x="618896" y="855130"/>
                  <a:pt x="410770" y="787506"/>
                </a:cubicBezTo>
                <a:cubicBezTo>
                  <a:pt x="306706" y="753693"/>
                  <a:pt x="226199" y="680902"/>
                  <a:pt x="180162" y="590548"/>
                </a:cubicBezTo>
                <a:lnTo>
                  <a:pt x="270" y="237498"/>
                </a:lnTo>
                <a:lnTo>
                  <a:pt x="353241" y="57649"/>
                </a:lnTo>
                <a:cubicBezTo>
                  <a:pt x="353269" y="57636"/>
                  <a:pt x="353295" y="57622"/>
                  <a:pt x="353322" y="57608"/>
                </a:cubicBezTo>
                <a:close/>
                <a:moveTo>
                  <a:pt x="353314" y="57559"/>
                </a:moveTo>
                <a:cubicBezTo>
                  <a:pt x="448246" y="22063"/>
                  <a:pt x="549782" y="5553"/>
                  <a:pt x="655447" y="33620"/>
                </a:cubicBezTo>
                <a:cubicBezTo>
                  <a:pt x="759459" y="61687"/>
                  <a:pt x="825499" y="145062"/>
                  <a:pt x="883284" y="225961"/>
                </a:cubicBezTo>
                <a:cubicBezTo>
                  <a:pt x="944372" y="309337"/>
                  <a:pt x="950976" y="429034"/>
                  <a:pt x="909701" y="533047"/>
                </a:cubicBezTo>
                <a:cubicBezTo>
                  <a:pt x="830452" y="736946"/>
                  <a:pt x="619124" y="854167"/>
                  <a:pt x="411099" y="787301"/>
                </a:cubicBezTo>
                <a:cubicBezTo>
                  <a:pt x="306260" y="754281"/>
                  <a:pt x="236092" y="675033"/>
                  <a:pt x="179959" y="590832"/>
                </a:cubicBezTo>
                <a:cubicBezTo>
                  <a:pt x="107315" y="480215"/>
                  <a:pt x="50355" y="359692"/>
                  <a:pt x="0" y="237518"/>
                </a:cubicBezTo>
                <a:cubicBezTo>
                  <a:pt x="118046" y="178082"/>
                  <a:pt x="230314" y="106264"/>
                  <a:pt x="353314" y="57559"/>
                </a:cubicBezTo>
              </a:path>
            </a:pathLst>
          </a:custGeom>
          <a:noFill/>
          <a:ln w="24765">
            <a:solidFill>
              <a:srgbClr val="484848"/>
            </a:solidFill>
          </a:ln>
        </p:spPr>
        <p:txBody>
          <a:bodyPr rtlCol="0" anchor="ctr"/>
          <a:lstStyle/>
          <a:p>
            <a:pPr algn="ctr"/>
            <a:endParaRPr/>
          </a:p>
        </p:txBody>
      </p:sp>
      <p:sp>
        <p:nvSpPr>
          <p:cNvPr id="62" name="Rounded Rectangle 11">
            <a:extLst>
              <a:ext uri="{FF2B5EF4-FFF2-40B4-BE49-F238E27FC236}">
                <a16:creationId xmlns:a16="http://schemas.microsoft.com/office/drawing/2014/main" id="{5E5ECD97-70DB-0DE6-A3EA-D19EAD0E23A0}"/>
              </a:ext>
            </a:extLst>
          </p:cNvPr>
          <p:cNvSpPr/>
          <p:nvPr/>
        </p:nvSpPr>
        <p:spPr>
          <a:xfrm>
            <a:off x="4874960" y="2015745"/>
            <a:ext cx="858519" cy="842009"/>
          </a:xfrm>
          <a:custGeom>
            <a:avLst/>
            <a:gdLst/>
            <a:ahLst/>
            <a:cxnLst/>
            <a:rect l="0" t="0" r="0" b="0"/>
            <a:pathLst>
              <a:path w="858519" h="842009">
                <a:moveTo>
                  <a:pt x="727265" y="97408"/>
                </a:moveTo>
                <a:lnTo>
                  <a:pt x="578675" y="170052"/>
                </a:lnTo>
                <a:lnTo>
                  <a:pt x="540702" y="91630"/>
                </a:lnTo>
                <a:lnTo>
                  <a:pt x="685990" y="14033"/>
                </a:lnTo>
                <a:lnTo>
                  <a:pt x="727265" y="97408"/>
                </a:lnTo>
                <a:moveTo>
                  <a:pt x="540702" y="91630"/>
                </a:moveTo>
                <a:lnTo>
                  <a:pt x="685990" y="14033"/>
                </a:lnTo>
                <a:lnTo>
                  <a:pt x="858519" y="315340"/>
                </a:lnTo>
                <a:lnTo>
                  <a:pt x="737171" y="436689"/>
                </a:lnTo>
                <a:lnTo>
                  <a:pt x="540702" y="91630"/>
                </a:lnTo>
                <a:moveTo>
                  <a:pt x="858519" y="315340"/>
                </a:moveTo>
                <a:lnTo>
                  <a:pt x="300482" y="0"/>
                </a:lnTo>
                <a:lnTo>
                  <a:pt x="194818" y="130428"/>
                </a:lnTo>
                <a:lnTo>
                  <a:pt x="737171" y="436689"/>
                </a:lnTo>
                <a:lnTo>
                  <a:pt x="858519" y="315340"/>
                </a:lnTo>
                <a:moveTo>
                  <a:pt x="194818" y="130428"/>
                </a:moveTo>
                <a:lnTo>
                  <a:pt x="652970" y="650493"/>
                </a:lnTo>
                <a:lnTo>
                  <a:pt x="766064" y="529145"/>
                </a:lnTo>
                <a:lnTo>
                  <a:pt x="300482" y="0"/>
                </a:lnTo>
                <a:lnTo>
                  <a:pt x="194818" y="130428"/>
                </a:lnTo>
                <a:moveTo>
                  <a:pt x="766064" y="529145"/>
                </a:moveTo>
                <a:lnTo>
                  <a:pt x="151892" y="66040"/>
                </a:lnTo>
                <a:lnTo>
                  <a:pt x="43751" y="190690"/>
                </a:lnTo>
                <a:lnTo>
                  <a:pt x="652970" y="650493"/>
                </a:lnTo>
                <a:lnTo>
                  <a:pt x="766064" y="529145"/>
                </a:lnTo>
                <a:moveTo>
                  <a:pt x="43751" y="190690"/>
                </a:moveTo>
                <a:lnTo>
                  <a:pt x="591058" y="739648"/>
                </a:lnTo>
                <a:lnTo>
                  <a:pt x="693419" y="608393"/>
                </a:lnTo>
                <a:lnTo>
                  <a:pt x="151892" y="66040"/>
                </a:lnTo>
                <a:lnTo>
                  <a:pt x="43751" y="190690"/>
                </a:lnTo>
                <a:moveTo>
                  <a:pt x="693419" y="608393"/>
                </a:moveTo>
                <a:lnTo>
                  <a:pt x="113093" y="256730"/>
                </a:lnTo>
                <a:lnTo>
                  <a:pt x="2476" y="383032"/>
                </a:lnTo>
                <a:lnTo>
                  <a:pt x="591058" y="739648"/>
                </a:lnTo>
                <a:lnTo>
                  <a:pt x="693419" y="608393"/>
                </a:lnTo>
                <a:moveTo>
                  <a:pt x="2476" y="383032"/>
                </a:moveTo>
                <a:lnTo>
                  <a:pt x="367347" y="833754"/>
                </a:lnTo>
                <a:lnTo>
                  <a:pt x="486219" y="718184"/>
                </a:lnTo>
                <a:lnTo>
                  <a:pt x="113093" y="256730"/>
                </a:lnTo>
                <a:lnTo>
                  <a:pt x="2476" y="383032"/>
                </a:lnTo>
                <a:moveTo>
                  <a:pt x="486219" y="718184"/>
                </a:moveTo>
                <a:lnTo>
                  <a:pt x="150240" y="426783"/>
                </a:lnTo>
                <a:lnTo>
                  <a:pt x="0" y="515937"/>
                </a:lnTo>
                <a:lnTo>
                  <a:pt x="367347" y="833754"/>
                </a:lnTo>
                <a:lnTo>
                  <a:pt x="486219" y="718184"/>
                </a:lnTo>
                <a:moveTo>
                  <a:pt x="0" y="515937"/>
                </a:moveTo>
                <a:lnTo>
                  <a:pt x="69342" y="842009"/>
                </a:lnTo>
                <a:lnTo>
                  <a:pt x="232790" y="814768"/>
                </a:lnTo>
                <a:lnTo>
                  <a:pt x="150240" y="426783"/>
                </a:lnTo>
                <a:lnTo>
                  <a:pt x="0" y="515937"/>
                </a:lnTo>
                <a:moveTo>
                  <a:pt x="232790" y="814768"/>
                </a:moveTo>
                <a:lnTo>
                  <a:pt x="69342" y="842009"/>
                </a:lnTo>
                <a:lnTo>
                  <a:pt x="62738" y="789178"/>
                </a:lnTo>
                <a:lnTo>
                  <a:pt x="227012" y="768540"/>
                </a:lnTo>
                <a:lnTo>
                  <a:pt x="232790" y="814768"/>
                </a:lnTo>
              </a:path>
            </a:pathLst>
          </a:custGeom>
          <a:solidFill>
            <a:srgbClr val="D1F4FF"/>
          </a:solidFill>
          <a:ln>
            <a:noFill/>
          </a:ln>
        </p:spPr>
        <p:txBody>
          <a:bodyPr rtlCol="0" anchor="ctr"/>
          <a:lstStyle/>
          <a:p>
            <a:pPr algn="ctr"/>
            <a:endParaRPr/>
          </a:p>
        </p:txBody>
      </p:sp>
      <p:sp>
        <p:nvSpPr>
          <p:cNvPr id="63" name="Rounded Rectangle 12">
            <a:extLst>
              <a:ext uri="{FF2B5EF4-FFF2-40B4-BE49-F238E27FC236}">
                <a16:creationId xmlns:a16="http://schemas.microsoft.com/office/drawing/2014/main" id="{296A1C87-B8C2-76C7-6621-CE5A929586DB}"/>
              </a:ext>
            </a:extLst>
          </p:cNvPr>
          <p:cNvSpPr/>
          <p:nvPr/>
        </p:nvSpPr>
        <p:spPr>
          <a:xfrm>
            <a:off x="4896445" y="1945665"/>
            <a:ext cx="856419" cy="902544"/>
          </a:xfrm>
          <a:custGeom>
            <a:avLst/>
            <a:gdLst/>
            <a:ahLst/>
            <a:cxnLst/>
            <a:rect l="0" t="0" r="0" b="0"/>
            <a:pathLst>
              <a:path w="856419" h="902544">
                <a:moveTo>
                  <a:pt x="15864" y="511182"/>
                </a:moveTo>
                <a:cubicBezTo>
                  <a:pt x="0" y="411023"/>
                  <a:pt x="22345" y="304812"/>
                  <a:pt x="86660" y="216290"/>
                </a:cubicBezTo>
                <a:cubicBezTo>
                  <a:pt x="215290" y="39246"/>
                  <a:pt x="463086" y="0"/>
                  <a:pt x="640129" y="128629"/>
                </a:cubicBezTo>
                <a:cubicBezTo>
                  <a:pt x="817173" y="257258"/>
                  <a:pt x="856419" y="505054"/>
                  <a:pt x="727790" y="682098"/>
                </a:cubicBezTo>
                <a:cubicBezTo>
                  <a:pt x="663475" y="770619"/>
                  <a:pt x="569369" y="824692"/>
                  <a:pt x="469211" y="840555"/>
                </a:cubicBezTo>
                <a:lnTo>
                  <a:pt x="77850" y="902544"/>
                </a:lnTo>
                <a:lnTo>
                  <a:pt x="15878" y="511272"/>
                </a:lnTo>
                <a:cubicBezTo>
                  <a:pt x="15874" y="511242"/>
                  <a:pt x="15869" y="511213"/>
                  <a:pt x="15864" y="511182"/>
                </a:cubicBezTo>
                <a:close/>
                <a:moveTo>
                  <a:pt x="15664" y="510895"/>
                </a:moveTo>
                <a:cubicBezTo>
                  <a:pt x="36302" y="642150"/>
                  <a:pt x="56114" y="772579"/>
                  <a:pt x="77577" y="902182"/>
                </a:cubicBezTo>
                <a:cubicBezTo>
                  <a:pt x="208006" y="882370"/>
                  <a:pt x="343388" y="881545"/>
                  <a:pt x="468864" y="840270"/>
                </a:cubicBezTo>
                <a:cubicBezTo>
                  <a:pt x="565447" y="808901"/>
                  <a:pt x="667809" y="773404"/>
                  <a:pt x="728071" y="681774"/>
                </a:cubicBezTo>
                <a:cubicBezTo>
                  <a:pt x="847768" y="499338"/>
                  <a:pt x="812272" y="264071"/>
                  <a:pt x="639742" y="128689"/>
                </a:cubicBezTo>
                <a:cubicBezTo>
                  <a:pt x="551414" y="59347"/>
                  <a:pt x="439971" y="46964"/>
                  <a:pt x="336784" y="59347"/>
                </a:cubicBezTo>
                <a:cubicBezTo>
                  <a:pt x="238549" y="70904"/>
                  <a:pt x="140315" y="124561"/>
                  <a:pt x="86657" y="216192"/>
                </a:cubicBezTo>
                <a:cubicBezTo>
                  <a:pt x="31349" y="310299"/>
                  <a:pt x="5758" y="410184"/>
                  <a:pt x="15664" y="510895"/>
                </a:cubicBezTo>
              </a:path>
            </a:pathLst>
          </a:custGeom>
          <a:noFill/>
          <a:ln w="24765">
            <a:solidFill>
              <a:srgbClr val="484848"/>
            </a:solidFill>
          </a:ln>
        </p:spPr>
        <p:txBody>
          <a:bodyPr rtlCol="0" anchor="ctr"/>
          <a:lstStyle/>
          <a:p>
            <a:pPr algn="ctr"/>
            <a:endParaRPr/>
          </a:p>
        </p:txBody>
      </p:sp>
      <p:sp>
        <p:nvSpPr>
          <p:cNvPr id="64" name="TextBox 63">
            <a:extLst>
              <a:ext uri="{FF2B5EF4-FFF2-40B4-BE49-F238E27FC236}">
                <a16:creationId xmlns:a16="http://schemas.microsoft.com/office/drawing/2014/main" id="{85A85100-C37D-911D-CCC1-7CDDAB536DF2}"/>
              </a:ext>
            </a:extLst>
          </p:cNvPr>
          <p:cNvSpPr txBox="1"/>
          <p:nvPr/>
        </p:nvSpPr>
        <p:spPr>
          <a:xfrm>
            <a:off x="5875469" y="2058670"/>
            <a:ext cx="1770549" cy="646331"/>
          </a:xfrm>
          <a:prstGeom prst="rect">
            <a:avLst/>
          </a:prstGeom>
          <a:noFill/>
          <a:ln>
            <a:noFill/>
          </a:ln>
        </p:spPr>
        <p:txBody>
          <a:bodyPr wrap="none" lIns="0" tIns="0" rIns="0" bIns="0" anchor="t">
            <a:spAutoFit/>
          </a:bodyPr>
          <a:lstStyle/>
          <a:p>
            <a:pPr algn="l"/>
            <a:r>
              <a:rPr sz="1400" b="1" dirty="0">
                <a:solidFill>
                  <a:srgbClr val="484848"/>
                </a:solidFill>
                <a:latin typeface="Shantell Sans"/>
              </a:rPr>
              <a:t>The website's design
ensures easy navigation
for all users.</a:t>
            </a:r>
          </a:p>
        </p:txBody>
      </p:sp>
      <p:sp>
        <p:nvSpPr>
          <p:cNvPr id="65" name="TextBox 64">
            <a:extLst>
              <a:ext uri="{FF2B5EF4-FFF2-40B4-BE49-F238E27FC236}">
                <a16:creationId xmlns:a16="http://schemas.microsoft.com/office/drawing/2014/main" id="{058C1C12-6BCB-FA54-D873-36A49A095DD2}"/>
              </a:ext>
            </a:extLst>
          </p:cNvPr>
          <p:cNvSpPr txBox="1"/>
          <p:nvPr/>
        </p:nvSpPr>
        <p:spPr>
          <a:xfrm>
            <a:off x="1813115" y="2033905"/>
            <a:ext cx="1453732" cy="430887"/>
          </a:xfrm>
          <a:prstGeom prst="rect">
            <a:avLst/>
          </a:prstGeom>
          <a:noFill/>
          <a:ln>
            <a:noFill/>
          </a:ln>
        </p:spPr>
        <p:txBody>
          <a:bodyPr wrap="none" lIns="0" tIns="0" rIns="0" bIns="0" anchor="t">
            <a:spAutoFit/>
          </a:bodyPr>
          <a:lstStyle/>
          <a:p>
            <a:pPr algn="r"/>
            <a:r>
              <a:rPr sz="1400" b="1" dirty="0">
                <a:solidFill>
                  <a:srgbClr val="484848"/>
                </a:solidFill>
                <a:latin typeface="Shantell Sans"/>
              </a:rPr>
              <a:t>A space for users to
share and connect.</a:t>
            </a:r>
          </a:p>
        </p:txBody>
      </p:sp>
      <p:sp>
        <p:nvSpPr>
          <p:cNvPr id="66" name="TextBox 65">
            <a:extLst>
              <a:ext uri="{FF2B5EF4-FFF2-40B4-BE49-F238E27FC236}">
                <a16:creationId xmlns:a16="http://schemas.microsoft.com/office/drawing/2014/main" id="{39EAAB57-A768-F2FE-48CE-E12F98DCBDAA}"/>
              </a:ext>
            </a:extLst>
          </p:cNvPr>
          <p:cNvSpPr txBox="1"/>
          <p:nvPr/>
        </p:nvSpPr>
        <p:spPr>
          <a:xfrm>
            <a:off x="6096000" y="1481622"/>
            <a:ext cx="1118896" cy="492443"/>
          </a:xfrm>
          <a:prstGeom prst="rect">
            <a:avLst/>
          </a:prstGeom>
          <a:noFill/>
          <a:ln>
            <a:noFill/>
          </a:ln>
        </p:spPr>
        <p:txBody>
          <a:bodyPr wrap="none" lIns="0" tIns="0" rIns="0" bIns="0" anchor="t">
            <a:spAutoFit/>
          </a:bodyPr>
          <a:lstStyle/>
          <a:p>
            <a:pPr algn="l"/>
            <a:r>
              <a:rPr sz="1600" b="0" dirty="0">
                <a:solidFill>
                  <a:schemeClr val="accent3"/>
                </a:solidFill>
                <a:latin typeface="Shantell Sans"/>
              </a:rPr>
              <a:t>User-Friendly
Interface</a:t>
            </a:r>
          </a:p>
        </p:txBody>
      </p:sp>
      <p:sp>
        <p:nvSpPr>
          <p:cNvPr id="67" name="TextBox 66">
            <a:extLst>
              <a:ext uri="{FF2B5EF4-FFF2-40B4-BE49-F238E27FC236}">
                <a16:creationId xmlns:a16="http://schemas.microsoft.com/office/drawing/2014/main" id="{D4D27221-8E2B-46B8-6104-0654E374E8CD}"/>
              </a:ext>
            </a:extLst>
          </p:cNvPr>
          <p:cNvSpPr txBox="1"/>
          <p:nvPr/>
        </p:nvSpPr>
        <p:spPr>
          <a:xfrm>
            <a:off x="1995181" y="3424873"/>
            <a:ext cx="776431" cy="246221"/>
          </a:xfrm>
          <a:prstGeom prst="rect">
            <a:avLst/>
          </a:prstGeom>
          <a:noFill/>
          <a:ln>
            <a:noFill/>
          </a:ln>
        </p:spPr>
        <p:txBody>
          <a:bodyPr wrap="none" lIns="0" tIns="0" rIns="0" bIns="0" anchor="t">
            <a:spAutoFit/>
          </a:bodyPr>
          <a:lstStyle/>
          <a:p>
            <a:pPr algn="r"/>
            <a:r>
              <a:rPr sz="1600" b="0" dirty="0">
                <a:solidFill>
                  <a:srgbClr val="00B0F0"/>
                </a:solidFill>
                <a:latin typeface="Shantell Sans"/>
              </a:rPr>
              <a:t>Diagrams</a:t>
            </a:r>
          </a:p>
        </p:txBody>
      </p:sp>
      <p:sp>
        <p:nvSpPr>
          <p:cNvPr id="68" name="TextBox 67">
            <a:extLst>
              <a:ext uri="{FF2B5EF4-FFF2-40B4-BE49-F238E27FC236}">
                <a16:creationId xmlns:a16="http://schemas.microsoft.com/office/drawing/2014/main" id="{697741C3-A7DD-8F32-B74E-1E00119DD8A3}"/>
              </a:ext>
            </a:extLst>
          </p:cNvPr>
          <p:cNvSpPr txBox="1"/>
          <p:nvPr/>
        </p:nvSpPr>
        <p:spPr>
          <a:xfrm>
            <a:off x="6451665" y="3376392"/>
            <a:ext cx="713080" cy="246221"/>
          </a:xfrm>
          <a:prstGeom prst="rect">
            <a:avLst/>
          </a:prstGeom>
          <a:noFill/>
          <a:ln>
            <a:noFill/>
          </a:ln>
        </p:spPr>
        <p:txBody>
          <a:bodyPr wrap="none" lIns="0" tIns="0" rIns="0" bIns="0" anchor="t">
            <a:spAutoFit/>
          </a:bodyPr>
          <a:lstStyle/>
          <a:p>
            <a:pPr algn="l"/>
            <a:r>
              <a:rPr sz="1600" b="0" dirty="0">
                <a:solidFill>
                  <a:srgbClr val="FF0000"/>
                </a:solidFill>
                <a:latin typeface="Shantell Sans"/>
              </a:rPr>
              <a:t>Tutorials</a:t>
            </a:r>
          </a:p>
        </p:txBody>
      </p:sp>
      <p:sp>
        <p:nvSpPr>
          <p:cNvPr id="69" name="TextBox 68">
            <a:extLst>
              <a:ext uri="{FF2B5EF4-FFF2-40B4-BE49-F238E27FC236}">
                <a16:creationId xmlns:a16="http://schemas.microsoft.com/office/drawing/2014/main" id="{C467CB76-C287-A159-0C52-2DB616ABB346}"/>
              </a:ext>
            </a:extLst>
          </p:cNvPr>
          <p:cNvSpPr txBox="1"/>
          <p:nvPr/>
        </p:nvSpPr>
        <p:spPr>
          <a:xfrm>
            <a:off x="1222412" y="3717925"/>
            <a:ext cx="1549143" cy="430887"/>
          </a:xfrm>
          <a:prstGeom prst="rect">
            <a:avLst/>
          </a:prstGeom>
          <a:noFill/>
          <a:ln>
            <a:noFill/>
          </a:ln>
        </p:spPr>
        <p:txBody>
          <a:bodyPr wrap="none" lIns="0" tIns="0" rIns="0" bIns="0" anchor="t">
            <a:spAutoFit/>
          </a:bodyPr>
          <a:lstStyle/>
          <a:p>
            <a:pPr algn="r"/>
            <a:r>
              <a:rPr sz="1400" b="1" dirty="0">
                <a:solidFill>
                  <a:srgbClr val="484848"/>
                </a:solidFill>
                <a:latin typeface="Shantell Sans"/>
              </a:rPr>
              <a:t>Detailed illustrations
of origami models.</a:t>
            </a:r>
          </a:p>
        </p:txBody>
      </p:sp>
      <p:sp>
        <p:nvSpPr>
          <p:cNvPr id="70" name="TextBox 69">
            <a:extLst>
              <a:ext uri="{FF2B5EF4-FFF2-40B4-BE49-F238E27FC236}">
                <a16:creationId xmlns:a16="http://schemas.microsoft.com/office/drawing/2014/main" id="{D7023D10-04BB-2398-2A2C-41D920AB5175}"/>
              </a:ext>
            </a:extLst>
          </p:cNvPr>
          <p:cNvSpPr txBox="1"/>
          <p:nvPr/>
        </p:nvSpPr>
        <p:spPr>
          <a:xfrm>
            <a:off x="2233133" y="1446877"/>
            <a:ext cx="952856" cy="430887"/>
          </a:xfrm>
          <a:prstGeom prst="rect">
            <a:avLst/>
          </a:prstGeom>
          <a:noFill/>
          <a:ln>
            <a:noFill/>
          </a:ln>
        </p:spPr>
        <p:txBody>
          <a:bodyPr wrap="square" lIns="0" tIns="0" rIns="0" bIns="0" anchor="t">
            <a:spAutoFit/>
          </a:bodyPr>
          <a:lstStyle/>
          <a:p>
            <a:pPr algn="r"/>
            <a:r>
              <a:rPr sz="1400" b="0" dirty="0">
                <a:solidFill>
                  <a:srgbClr val="FFC000"/>
                </a:solidFill>
                <a:latin typeface="Shantell Sans"/>
              </a:rPr>
              <a:t>Communit</a:t>
            </a:r>
            <a:r>
              <a:rPr lang="en-US" sz="1400" b="0" dirty="0">
                <a:solidFill>
                  <a:srgbClr val="FFC000"/>
                </a:solidFill>
                <a:latin typeface="Shantell Sans"/>
              </a:rPr>
              <a:t>y S</a:t>
            </a:r>
            <a:r>
              <a:rPr sz="1400" b="0" dirty="0">
                <a:solidFill>
                  <a:srgbClr val="FFC000"/>
                </a:solidFill>
                <a:latin typeface="Shantell Sans"/>
              </a:rPr>
              <a:t>ection</a:t>
            </a:r>
          </a:p>
        </p:txBody>
      </p:sp>
      <p:sp>
        <p:nvSpPr>
          <p:cNvPr id="71" name="TextBox 70">
            <a:extLst>
              <a:ext uri="{FF2B5EF4-FFF2-40B4-BE49-F238E27FC236}">
                <a16:creationId xmlns:a16="http://schemas.microsoft.com/office/drawing/2014/main" id="{58BB3CA5-757C-6D53-F5C8-77D6B00D9BF6}"/>
              </a:ext>
            </a:extLst>
          </p:cNvPr>
          <p:cNvSpPr txBox="1"/>
          <p:nvPr/>
        </p:nvSpPr>
        <p:spPr>
          <a:xfrm>
            <a:off x="6370769" y="3742690"/>
            <a:ext cx="1468992" cy="646331"/>
          </a:xfrm>
          <a:prstGeom prst="rect">
            <a:avLst/>
          </a:prstGeom>
          <a:noFill/>
          <a:ln>
            <a:noFill/>
          </a:ln>
        </p:spPr>
        <p:txBody>
          <a:bodyPr wrap="none" lIns="0" tIns="0" rIns="0" bIns="0" anchor="t">
            <a:spAutoFit/>
          </a:bodyPr>
          <a:lstStyle/>
          <a:p>
            <a:pPr algn="l"/>
            <a:r>
              <a:rPr sz="1400" b="1" dirty="0">
                <a:solidFill>
                  <a:srgbClr val="484848"/>
                </a:solidFill>
                <a:latin typeface="Shantell Sans"/>
              </a:rPr>
              <a:t>Step-by-step guides
for learning origami
techniques.</a:t>
            </a:r>
          </a:p>
        </p:txBody>
      </p:sp>
      <p:sp>
        <p:nvSpPr>
          <p:cNvPr id="72" name="TextBox 71">
            <a:extLst>
              <a:ext uri="{FF2B5EF4-FFF2-40B4-BE49-F238E27FC236}">
                <a16:creationId xmlns:a16="http://schemas.microsoft.com/office/drawing/2014/main" id="{8FEFC5F6-44B8-FEDD-2FA8-F2B4B6609E61}"/>
              </a:ext>
            </a:extLst>
          </p:cNvPr>
          <p:cNvSpPr txBox="1"/>
          <p:nvPr/>
        </p:nvSpPr>
        <p:spPr>
          <a:xfrm>
            <a:off x="4298122" y="5207953"/>
            <a:ext cx="562655" cy="246221"/>
          </a:xfrm>
          <a:prstGeom prst="rect">
            <a:avLst/>
          </a:prstGeom>
          <a:noFill/>
          <a:ln>
            <a:noFill/>
          </a:ln>
        </p:spPr>
        <p:txBody>
          <a:bodyPr wrap="none" lIns="0" tIns="0" rIns="0" bIns="0" anchor="t">
            <a:spAutoFit/>
          </a:bodyPr>
          <a:lstStyle/>
          <a:p>
            <a:pPr algn="ctr"/>
            <a:r>
              <a:rPr sz="1600" b="0" dirty="0">
                <a:solidFill>
                  <a:srgbClr val="00B050"/>
                </a:solidFill>
                <a:latin typeface="Shantell Sans"/>
              </a:rPr>
              <a:t>Videos</a:t>
            </a:r>
          </a:p>
        </p:txBody>
      </p:sp>
      <p:sp>
        <p:nvSpPr>
          <p:cNvPr id="73" name="TextBox 72">
            <a:extLst>
              <a:ext uri="{FF2B5EF4-FFF2-40B4-BE49-F238E27FC236}">
                <a16:creationId xmlns:a16="http://schemas.microsoft.com/office/drawing/2014/main" id="{8B3AA1B9-44CA-A989-B713-5327ED2C6267}"/>
              </a:ext>
            </a:extLst>
          </p:cNvPr>
          <p:cNvSpPr txBox="1"/>
          <p:nvPr/>
        </p:nvSpPr>
        <p:spPr>
          <a:xfrm>
            <a:off x="3745680" y="5525770"/>
            <a:ext cx="1667508" cy="646331"/>
          </a:xfrm>
          <a:prstGeom prst="rect">
            <a:avLst/>
          </a:prstGeom>
          <a:noFill/>
          <a:ln>
            <a:noFill/>
          </a:ln>
        </p:spPr>
        <p:txBody>
          <a:bodyPr wrap="none" lIns="0" tIns="0" rIns="0" bIns="0" anchor="t">
            <a:spAutoFit/>
          </a:bodyPr>
          <a:lstStyle/>
          <a:p>
            <a:pPr algn="ctr"/>
            <a:r>
              <a:rPr sz="1400" b="1" dirty="0">
                <a:solidFill>
                  <a:srgbClr val="484848"/>
                </a:solidFill>
                <a:latin typeface="Shantell Sans"/>
              </a:rPr>
              <a:t>Visual demonstrations
of origami folding
processes.</a:t>
            </a:r>
          </a:p>
        </p:txBody>
      </p:sp>
      <p:sp>
        <p:nvSpPr>
          <p:cNvPr id="74" name="Rounded Rectangle 24">
            <a:extLst>
              <a:ext uri="{FF2B5EF4-FFF2-40B4-BE49-F238E27FC236}">
                <a16:creationId xmlns:a16="http://schemas.microsoft.com/office/drawing/2014/main" id="{A05449E7-ABC7-0294-5F86-8B553313F385}"/>
              </a:ext>
            </a:extLst>
          </p:cNvPr>
          <p:cNvSpPr/>
          <p:nvPr/>
        </p:nvSpPr>
        <p:spPr>
          <a:xfrm>
            <a:off x="3633410" y="2227898"/>
            <a:ext cx="383031" cy="362107"/>
          </a:xfrm>
          <a:custGeom>
            <a:avLst/>
            <a:gdLst/>
            <a:ahLst/>
            <a:cxnLst/>
            <a:rect l="0" t="0" r="0" b="0"/>
            <a:pathLst>
              <a:path w="383031" h="362107">
                <a:moveTo>
                  <a:pt x="15497" y="362107"/>
                </a:moveTo>
                <a:cubicBezTo>
                  <a:pt x="15497" y="341732"/>
                  <a:pt x="23591" y="322190"/>
                  <a:pt x="37998" y="307784"/>
                </a:cubicBezTo>
                <a:cubicBezTo>
                  <a:pt x="52405" y="293377"/>
                  <a:pt x="71945" y="285282"/>
                  <a:pt x="92320" y="285282"/>
                </a:cubicBezTo>
                <a:cubicBezTo>
                  <a:pt x="112695" y="285282"/>
                  <a:pt x="132235" y="293377"/>
                  <a:pt x="146642" y="307784"/>
                </a:cubicBezTo>
                <a:cubicBezTo>
                  <a:pt x="161050" y="322190"/>
                  <a:pt x="169143" y="341732"/>
                  <a:pt x="169143" y="362107"/>
                </a:cubicBezTo>
                <a:moveTo>
                  <a:pt x="374446" y="264632"/>
                </a:moveTo>
                <a:cubicBezTo>
                  <a:pt x="374446" y="240833"/>
                  <a:pt x="364993" y="218007"/>
                  <a:pt x="348162" y="201177"/>
                </a:cubicBezTo>
                <a:cubicBezTo>
                  <a:pt x="331334" y="184349"/>
                  <a:pt x="308509" y="174895"/>
                  <a:pt x="284709" y="174895"/>
                </a:cubicBezTo>
                <a:cubicBezTo>
                  <a:pt x="260909" y="174895"/>
                  <a:pt x="238084" y="184349"/>
                  <a:pt x="221255" y="201177"/>
                </a:cubicBezTo>
                <a:cubicBezTo>
                  <a:pt x="211370" y="211063"/>
                  <a:pt x="204030" y="223017"/>
                  <a:pt x="199655" y="236020"/>
                </a:cubicBezTo>
                <a:moveTo>
                  <a:pt x="92325" y="285286"/>
                </a:moveTo>
                <a:cubicBezTo>
                  <a:pt x="117197" y="285286"/>
                  <a:pt x="137359" y="265122"/>
                  <a:pt x="137359" y="240251"/>
                </a:cubicBezTo>
                <a:cubicBezTo>
                  <a:pt x="137359" y="215379"/>
                  <a:pt x="117197" y="195217"/>
                  <a:pt x="92325" y="195217"/>
                </a:cubicBezTo>
                <a:cubicBezTo>
                  <a:pt x="67454" y="195217"/>
                  <a:pt x="47292" y="215379"/>
                  <a:pt x="47292" y="240251"/>
                </a:cubicBezTo>
                <a:cubicBezTo>
                  <a:pt x="47292" y="265122"/>
                  <a:pt x="67454" y="285286"/>
                  <a:pt x="92325" y="285286"/>
                </a:cubicBezTo>
                <a:close/>
                <a:moveTo>
                  <a:pt x="284714" y="174897"/>
                </a:moveTo>
                <a:cubicBezTo>
                  <a:pt x="255662" y="174897"/>
                  <a:pt x="232110" y="151345"/>
                  <a:pt x="232110" y="122292"/>
                </a:cubicBezTo>
                <a:cubicBezTo>
                  <a:pt x="232110" y="93239"/>
                  <a:pt x="255662" y="69687"/>
                  <a:pt x="284714" y="69687"/>
                </a:cubicBezTo>
                <a:cubicBezTo>
                  <a:pt x="313767" y="69687"/>
                  <a:pt x="337319" y="93239"/>
                  <a:pt x="337319" y="122292"/>
                </a:cubicBezTo>
                <a:cubicBezTo>
                  <a:pt x="337319" y="151345"/>
                  <a:pt x="313767" y="174897"/>
                  <a:pt x="284714" y="174897"/>
                </a:cubicBezTo>
                <a:close/>
                <a:moveTo>
                  <a:pt x="15199" y="77420"/>
                </a:moveTo>
                <a:cubicBezTo>
                  <a:pt x="15199" y="119562"/>
                  <a:pt x="55442" y="153726"/>
                  <a:pt x="105084" y="153726"/>
                </a:cubicBezTo>
                <a:cubicBezTo>
                  <a:pt x="111675" y="153726"/>
                  <a:pt x="118100" y="153123"/>
                  <a:pt x="124287" y="151981"/>
                </a:cubicBezTo>
                <a:lnTo>
                  <a:pt x="169456" y="181438"/>
                </a:lnTo>
                <a:lnTo>
                  <a:pt x="161966" y="136505"/>
                </a:lnTo>
                <a:cubicBezTo>
                  <a:pt x="182111" y="122511"/>
                  <a:pt x="194969" y="101240"/>
                  <a:pt x="194969" y="77420"/>
                </a:cubicBezTo>
                <a:cubicBezTo>
                  <a:pt x="194969" y="35277"/>
                  <a:pt x="154726" y="1114"/>
                  <a:pt x="105084" y="1114"/>
                </a:cubicBezTo>
                <a:cubicBezTo>
                  <a:pt x="55442" y="1114"/>
                  <a:pt x="15199" y="35277"/>
                  <a:pt x="15199" y="77420"/>
                </a:cubicBezTo>
                <a:close/>
                <a:moveTo>
                  <a:pt x="62217" y="71173"/>
                </a:moveTo>
                <a:cubicBezTo>
                  <a:pt x="64998" y="71173"/>
                  <a:pt x="67252" y="73427"/>
                  <a:pt x="67252" y="76208"/>
                </a:cubicBezTo>
                <a:cubicBezTo>
                  <a:pt x="67252" y="78988"/>
                  <a:pt x="64998" y="81242"/>
                  <a:pt x="62217" y="81242"/>
                </a:cubicBezTo>
                <a:moveTo>
                  <a:pt x="62218" y="81243"/>
                </a:moveTo>
                <a:cubicBezTo>
                  <a:pt x="59437" y="81243"/>
                  <a:pt x="57183" y="78989"/>
                  <a:pt x="57183" y="76209"/>
                </a:cubicBezTo>
                <a:cubicBezTo>
                  <a:pt x="57183" y="73428"/>
                  <a:pt x="59437" y="71174"/>
                  <a:pt x="62218" y="71174"/>
                </a:cubicBezTo>
                <a:moveTo>
                  <a:pt x="105088" y="71173"/>
                </a:moveTo>
                <a:cubicBezTo>
                  <a:pt x="107869" y="71173"/>
                  <a:pt x="110123" y="73427"/>
                  <a:pt x="110123" y="76208"/>
                </a:cubicBezTo>
                <a:cubicBezTo>
                  <a:pt x="110123" y="78988"/>
                  <a:pt x="107869" y="81242"/>
                  <a:pt x="105088" y="81242"/>
                </a:cubicBezTo>
                <a:moveTo>
                  <a:pt x="105097" y="81243"/>
                </a:moveTo>
                <a:cubicBezTo>
                  <a:pt x="102317" y="81243"/>
                  <a:pt x="100062" y="78989"/>
                  <a:pt x="100062" y="76209"/>
                </a:cubicBezTo>
                <a:cubicBezTo>
                  <a:pt x="100062" y="73428"/>
                  <a:pt x="102317" y="71174"/>
                  <a:pt x="105097" y="71174"/>
                </a:cubicBezTo>
                <a:moveTo>
                  <a:pt x="147959" y="71173"/>
                </a:moveTo>
                <a:cubicBezTo>
                  <a:pt x="150740" y="71173"/>
                  <a:pt x="152994" y="73427"/>
                  <a:pt x="152994" y="76208"/>
                </a:cubicBezTo>
                <a:cubicBezTo>
                  <a:pt x="152994" y="78988"/>
                  <a:pt x="150740" y="81242"/>
                  <a:pt x="147959" y="81242"/>
                </a:cubicBezTo>
                <a:moveTo>
                  <a:pt x="147968" y="81243"/>
                </a:moveTo>
                <a:cubicBezTo>
                  <a:pt x="145188" y="81243"/>
                  <a:pt x="142934" y="78989"/>
                  <a:pt x="142934" y="76209"/>
                </a:cubicBezTo>
                <a:cubicBezTo>
                  <a:pt x="142934" y="73428"/>
                  <a:pt x="145188" y="71174"/>
                  <a:pt x="147968" y="71174"/>
                </a:cubicBezTo>
                <a:moveTo>
                  <a:pt x="14859" y="361568"/>
                </a:moveTo>
                <a:cubicBezTo>
                  <a:pt x="14859" y="341757"/>
                  <a:pt x="19812" y="316992"/>
                  <a:pt x="37973" y="307086"/>
                </a:cubicBezTo>
                <a:cubicBezTo>
                  <a:pt x="56134" y="298831"/>
                  <a:pt x="72644" y="290576"/>
                  <a:pt x="92456" y="285622"/>
                </a:cubicBezTo>
                <a:cubicBezTo>
                  <a:pt x="112268" y="280670"/>
                  <a:pt x="135381" y="290576"/>
                  <a:pt x="146939" y="307086"/>
                </a:cubicBezTo>
                <a:cubicBezTo>
                  <a:pt x="158496" y="325247"/>
                  <a:pt x="173355" y="341757"/>
                  <a:pt x="168401" y="361568"/>
                </a:cubicBezTo>
                <a:moveTo>
                  <a:pt x="374776" y="264160"/>
                </a:moveTo>
                <a:cubicBezTo>
                  <a:pt x="383031" y="242697"/>
                  <a:pt x="363220" y="219582"/>
                  <a:pt x="348360" y="201422"/>
                </a:cubicBezTo>
                <a:cubicBezTo>
                  <a:pt x="333501" y="183261"/>
                  <a:pt x="308736" y="173355"/>
                  <a:pt x="283971" y="175006"/>
                </a:cubicBezTo>
                <a:cubicBezTo>
                  <a:pt x="260858" y="176657"/>
                  <a:pt x="241045" y="188213"/>
                  <a:pt x="221234" y="201422"/>
                </a:cubicBezTo>
                <a:cubicBezTo>
                  <a:pt x="209676" y="209677"/>
                  <a:pt x="204724" y="222885"/>
                  <a:pt x="199770" y="236092"/>
                </a:cubicBezTo>
                <a:moveTo>
                  <a:pt x="92456" y="285622"/>
                </a:moveTo>
                <a:cubicBezTo>
                  <a:pt x="117221" y="279018"/>
                  <a:pt x="141986" y="264160"/>
                  <a:pt x="137033" y="241046"/>
                </a:cubicBezTo>
                <a:cubicBezTo>
                  <a:pt x="132080" y="216281"/>
                  <a:pt x="115570" y="201422"/>
                  <a:pt x="92456" y="194817"/>
                </a:cubicBezTo>
                <a:cubicBezTo>
                  <a:pt x="67691" y="188213"/>
                  <a:pt x="44577" y="216281"/>
                  <a:pt x="47879" y="241046"/>
                </a:cubicBezTo>
                <a:cubicBezTo>
                  <a:pt x="49530" y="265811"/>
                  <a:pt x="67691" y="290576"/>
                  <a:pt x="92456" y="285622"/>
                </a:cubicBezTo>
                <a:moveTo>
                  <a:pt x="283971" y="175006"/>
                </a:moveTo>
                <a:cubicBezTo>
                  <a:pt x="312039" y="163448"/>
                  <a:pt x="348360" y="150241"/>
                  <a:pt x="336804" y="122173"/>
                </a:cubicBezTo>
                <a:cubicBezTo>
                  <a:pt x="326898" y="95757"/>
                  <a:pt x="313690" y="69342"/>
                  <a:pt x="283971" y="69342"/>
                </a:cubicBezTo>
                <a:cubicBezTo>
                  <a:pt x="255905" y="69342"/>
                  <a:pt x="237744" y="94107"/>
                  <a:pt x="232790" y="122173"/>
                </a:cubicBezTo>
                <a:cubicBezTo>
                  <a:pt x="226186" y="150241"/>
                  <a:pt x="257555" y="166751"/>
                  <a:pt x="283971" y="175006"/>
                </a:cubicBezTo>
                <a:moveTo>
                  <a:pt x="14859" y="77597"/>
                </a:moveTo>
                <a:cubicBezTo>
                  <a:pt x="0" y="117221"/>
                  <a:pt x="56134" y="151892"/>
                  <a:pt x="105664" y="153542"/>
                </a:cubicBezTo>
                <a:cubicBezTo>
                  <a:pt x="112268" y="153542"/>
                  <a:pt x="117221" y="153542"/>
                  <a:pt x="123825" y="151892"/>
                </a:cubicBezTo>
                <a:cubicBezTo>
                  <a:pt x="137033" y="165100"/>
                  <a:pt x="155194" y="170052"/>
                  <a:pt x="170053" y="181610"/>
                </a:cubicBezTo>
                <a:cubicBezTo>
                  <a:pt x="171704" y="166751"/>
                  <a:pt x="158496" y="151892"/>
                  <a:pt x="161798" y="137032"/>
                </a:cubicBezTo>
                <a:cubicBezTo>
                  <a:pt x="181610" y="120522"/>
                  <a:pt x="194818" y="100711"/>
                  <a:pt x="194818" y="77597"/>
                </a:cubicBezTo>
                <a:cubicBezTo>
                  <a:pt x="194818" y="34671"/>
                  <a:pt x="155194" y="0"/>
                  <a:pt x="105664" y="1650"/>
                </a:cubicBezTo>
                <a:cubicBezTo>
                  <a:pt x="56134" y="1650"/>
                  <a:pt x="13208" y="34671"/>
                  <a:pt x="14859" y="77597"/>
                </a:cubicBezTo>
                <a:moveTo>
                  <a:pt x="62738" y="70992"/>
                </a:moveTo>
                <a:cubicBezTo>
                  <a:pt x="64389" y="70992"/>
                  <a:pt x="67691" y="72643"/>
                  <a:pt x="67691" y="75946"/>
                </a:cubicBezTo>
                <a:cubicBezTo>
                  <a:pt x="67691" y="79247"/>
                  <a:pt x="64389" y="80898"/>
                  <a:pt x="62738" y="80898"/>
                </a:cubicBezTo>
                <a:moveTo>
                  <a:pt x="62738" y="80898"/>
                </a:moveTo>
                <a:cubicBezTo>
                  <a:pt x="59436" y="80898"/>
                  <a:pt x="57785" y="79247"/>
                  <a:pt x="57785" y="75946"/>
                </a:cubicBezTo>
                <a:cubicBezTo>
                  <a:pt x="57785" y="72643"/>
                  <a:pt x="59436" y="70992"/>
                  <a:pt x="62738" y="70992"/>
                </a:cubicBezTo>
                <a:moveTo>
                  <a:pt x="105664" y="70992"/>
                </a:moveTo>
                <a:cubicBezTo>
                  <a:pt x="107315" y="70992"/>
                  <a:pt x="110616" y="74295"/>
                  <a:pt x="110616" y="75946"/>
                </a:cubicBezTo>
                <a:cubicBezTo>
                  <a:pt x="108966" y="79247"/>
                  <a:pt x="107315" y="80898"/>
                  <a:pt x="105664" y="80898"/>
                </a:cubicBezTo>
                <a:moveTo>
                  <a:pt x="105664" y="80898"/>
                </a:moveTo>
                <a:cubicBezTo>
                  <a:pt x="102361" y="80898"/>
                  <a:pt x="100711" y="79247"/>
                  <a:pt x="100711" y="75946"/>
                </a:cubicBezTo>
                <a:cubicBezTo>
                  <a:pt x="99060" y="74295"/>
                  <a:pt x="102361" y="70992"/>
                  <a:pt x="105664" y="70992"/>
                </a:cubicBezTo>
                <a:moveTo>
                  <a:pt x="148590" y="70992"/>
                </a:moveTo>
                <a:cubicBezTo>
                  <a:pt x="150241" y="70992"/>
                  <a:pt x="153543" y="72643"/>
                  <a:pt x="153543" y="75946"/>
                </a:cubicBezTo>
                <a:cubicBezTo>
                  <a:pt x="153543" y="79247"/>
                  <a:pt x="150241" y="80898"/>
                  <a:pt x="148590" y="80898"/>
                </a:cubicBezTo>
                <a:moveTo>
                  <a:pt x="148590" y="80898"/>
                </a:moveTo>
                <a:cubicBezTo>
                  <a:pt x="145288" y="80898"/>
                  <a:pt x="141986" y="79247"/>
                  <a:pt x="143636" y="75946"/>
                </a:cubicBezTo>
                <a:cubicBezTo>
                  <a:pt x="143636" y="74295"/>
                  <a:pt x="145288" y="72643"/>
                  <a:pt x="148590" y="70992"/>
                </a:cubicBezTo>
              </a:path>
            </a:pathLst>
          </a:custGeom>
          <a:noFill/>
          <a:ln w="12382">
            <a:solidFill>
              <a:srgbClr val="484848"/>
            </a:solidFill>
          </a:ln>
        </p:spPr>
        <p:txBody>
          <a:bodyPr rtlCol="0" anchor="ctr"/>
          <a:lstStyle/>
          <a:p>
            <a:pPr algn="ctr"/>
            <a:endParaRPr/>
          </a:p>
        </p:txBody>
      </p:sp>
      <p:sp>
        <p:nvSpPr>
          <p:cNvPr id="75" name="Rounded Rectangle 25">
            <a:extLst>
              <a:ext uri="{FF2B5EF4-FFF2-40B4-BE49-F238E27FC236}">
                <a16:creationId xmlns:a16="http://schemas.microsoft.com/office/drawing/2014/main" id="{36471381-9F6B-68D4-846B-EA6158484D31}"/>
              </a:ext>
            </a:extLst>
          </p:cNvPr>
          <p:cNvSpPr/>
          <p:nvPr/>
        </p:nvSpPr>
        <p:spPr>
          <a:xfrm>
            <a:off x="5134170" y="2211388"/>
            <a:ext cx="374776" cy="363220"/>
          </a:xfrm>
          <a:custGeom>
            <a:avLst/>
            <a:gdLst/>
            <a:ahLst/>
            <a:cxnLst/>
            <a:rect l="0" t="0" r="0" b="0"/>
            <a:pathLst>
              <a:path w="374776" h="363220">
                <a:moveTo>
                  <a:pt x="355955" y="363220"/>
                </a:moveTo>
                <a:cubicBezTo>
                  <a:pt x="369989" y="284632"/>
                  <a:pt x="368007" y="295694"/>
                  <a:pt x="369989" y="287604"/>
                </a:cubicBezTo>
                <a:cubicBezTo>
                  <a:pt x="372438" y="276628"/>
                  <a:pt x="365931" y="265639"/>
                  <a:pt x="355130" y="262508"/>
                </a:cubicBezTo>
                <a:lnTo>
                  <a:pt x="289090" y="243522"/>
                </a:lnTo>
                <a:lnTo>
                  <a:pt x="289090" y="165100"/>
                </a:lnTo>
                <a:cubicBezTo>
                  <a:pt x="289090" y="155981"/>
                  <a:pt x="281698" y="148590"/>
                  <a:pt x="272580" y="148590"/>
                </a:cubicBezTo>
                <a:cubicBezTo>
                  <a:pt x="263461" y="148590"/>
                  <a:pt x="256070" y="155981"/>
                  <a:pt x="256070" y="165100"/>
                </a:cubicBezTo>
                <a:lnTo>
                  <a:pt x="256070" y="297510"/>
                </a:lnTo>
                <a:cubicBezTo>
                  <a:pt x="233286" y="246494"/>
                  <a:pt x="183591" y="256730"/>
                  <a:pt x="203733" y="287439"/>
                </a:cubicBezTo>
                <a:lnTo>
                  <a:pt x="254254" y="363220"/>
                </a:lnTo>
                <a:moveTo>
                  <a:pt x="354965" y="231140"/>
                </a:moveTo>
                <a:lnTo>
                  <a:pt x="354965" y="57785"/>
                </a:lnTo>
                <a:cubicBezTo>
                  <a:pt x="354965" y="44107"/>
                  <a:pt x="343877" y="33020"/>
                  <a:pt x="330200" y="33020"/>
                </a:cubicBezTo>
                <a:lnTo>
                  <a:pt x="33020" y="33020"/>
                </a:lnTo>
                <a:cubicBezTo>
                  <a:pt x="19342" y="33020"/>
                  <a:pt x="8255" y="44107"/>
                  <a:pt x="8255" y="57785"/>
                </a:cubicBezTo>
                <a:lnTo>
                  <a:pt x="8255" y="255905"/>
                </a:lnTo>
                <a:cubicBezTo>
                  <a:pt x="8255" y="269582"/>
                  <a:pt x="19342" y="280670"/>
                  <a:pt x="33020" y="280670"/>
                </a:cubicBezTo>
                <a:lnTo>
                  <a:pt x="173355" y="280670"/>
                </a:lnTo>
                <a:moveTo>
                  <a:pt x="181610" y="330200"/>
                </a:moveTo>
                <a:lnTo>
                  <a:pt x="99060" y="330200"/>
                </a:lnTo>
                <a:moveTo>
                  <a:pt x="156845" y="330200"/>
                </a:moveTo>
                <a:lnTo>
                  <a:pt x="156845" y="280670"/>
                </a:lnTo>
                <a:moveTo>
                  <a:pt x="254254" y="363220"/>
                </a:moveTo>
                <a:cubicBezTo>
                  <a:pt x="237744" y="338455"/>
                  <a:pt x="219582" y="313690"/>
                  <a:pt x="203072" y="287273"/>
                </a:cubicBezTo>
                <a:cubicBezTo>
                  <a:pt x="184911" y="255905"/>
                  <a:pt x="221234" y="254253"/>
                  <a:pt x="255905" y="297180"/>
                </a:cubicBezTo>
                <a:cubicBezTo>
                  <a:pt x="252602" y="254253"/>
                  <a:pt x="249301" y="208026"/>
                  <a:pt x="255905" y="165100"/>
                </a:cubicBezTo>
                <a:cubicBezTo>
                  <a:pt x="257556" y="156845"/>
                  <a:pt x="264160" y="148590"/>
                  <a:pt x="272415" y="148590"/>
                </a:cubicBezTo>
                <a:cubicBezTo>
                  <a:pt x="282321" y="148590"/>
                  <a:pt x="290576" y="156845"/>
                  <a:pt x="288925" y="165100"/>
                </a:cubicBezTo>
                <a:cubicBezTo>
                  <a:pt x="283971" y="189865"/>
                  <a:pt x="285622" y="217932"/>
                  <a:pt x="288925" y="244347"/>
                </a:cubicBezTo>
                <a:cubicBezTo>
                  <a:pt x="310387" y="250952"/>
                  <a:pt x="335152" y="252602"/>
                  <a:pt x="354965" y="262508"/>
                </a:cubicBezTo>
                <a:cubicBezTo>
                  <a:pt x="364871" y="267462"/>
                  <a:pt x="374776" y="277367"/>
                  <a:pt x="369824" y="287273"/>
                </a:cubicBezTo>
                <a:cubicBezTo>
                  <a:pt x="366521" y="295528"/>
                  <a:pt x="346710" y="283972"/>
                  <a:pt x="356616" y="363220"/>
                </a:cubicBezTo>
                <a:moveTo>
                  <a:pt x="173355" y="280670"/>
                </a:moveTo>
                <a:cubicBezTo>
                  <a:pt x="127127" y="285622"/>
                  <a:pt x="79247" y="288925"/>
                  <a:pt x="33020" y="280670"/>
                </a:cubicBezTo>
                <a:cubicBezTo>
                  <a:pt x="19812" y="279018"/>
                  <a:pt x="9905" y="269112"/>
                  <a:pt x="8255" y="255905"/>
                </a:cubicBezTo>
                <a:cubicBezTo>
                  <a:pt x="0" y="189865"/>
                  <a:pt x="4953" y="123825"/>
                  <a:pt x="8255" y="57785"/>
                </a:cubicBezTo>
                <a:cubicBezTo>
                  <a:pt x="8255" y="44577"/>
                  <a:pt x="19812" y="37972"/>
                  <a:pt x="33020" y="33020"/>
                </a:cubicBezTo>
                <a:cubicBezTo>
                  <a:pt x="127127" y="0"/>
                  <a:pt x="231140" y="33020"/>
                  <a:pt x="330200" y="33020"/>
                </a:cubicBezTo>
                <a:cubicBezTo>
                  <a:pt x="343407" y="33020"/>
                  <a:pt x="358266" y="44577"/>
                  <a:pt x="354965" y="57785"/>
                </a:cubicBezTo>
                <a:cubicBezTo>
                  <a:pt x="341756" y="113918"/>
                  <a:pt x="371475" y="175006"/>
                  <a:pt x="354965" y="231140"/>
                </a:cubicBezTo>
                <a:moveTo>
                  <a:pt x="99060" y="330200"/>
                </a:moveTo>
                <a:cubicBezTo>
                  <a:pt x="127127" y="330200"/>
                  <a:pt x="153542" y="333502"/>
                  <a:pt x="181610" y="330200"/>
                </a:cubicBezTo>
                <a:moveTo>
                  <a:pt x="156845" y="280670"/>
                </a:moveTo>
                <a:cubicBezTo>
                  <a:pt x="156845" y="297180"/>
                  <a:pt x="158495" y="313690"/>
                  <a:pt x="156845" y="330200"/>
                </a:cubicBezTo>
              </a:path>
            </a:pathLst>
          </a:custGeom>
          <a:noFill/>
          <a:ln w="12382">
            <a:solidFill>
              <a:srgbClr val="484848"/>
            </a:solidFill>
          </a:ln>
        </p:spPr>
        <p:txBody>
          <a:bodyPr rtlCol="0" anchor="ctr"/>
          <a:lstStyle/>
          <a:p>
            <a:pPr algn="ctr"/>
            <a:endParaRPr/>
          </a:p>
        </p:txBody>
      </p:sp>
      <p:sp>
        <p:nvSpPr>
          <p:cNvPr id="76" name="Rounded Rectangle 26">
            <a:extLst>
              <a:ext uri="{FF2B5EF4-FFF2-40B4-BE49-F238E27FC236}">
                <a16:creationId xmlns:a16="http://schemas.microsoft.com/office/drawing/2014/main" id="{83F21B49-DF5A-F0E2-AFAF-4D3A047A7412}"/>
              </a:ext>
            </a:extLst>
          </p:cNvPr>
          <p:cNvSpPr/>
          <p:nvPr/>
        </p:nvSpPr>
        <p:spPr>
          <a:xfrm>
            <a:off x="4206307" y="3030284"/>
            <a:ext cx="744303" cy="739648"/>
          </a:xfrm>
          <a:custGeom>
            <a:avLst/>
            <a:gdLst/>
            <a:ahLst/>
            <a:cxnLst/>
            <a:rect l="0" t="0" r="0" b="0"/>
            <a:pathLst>
              <a:path w="744303" h="739648">
                <a:moveTo>
                  <a:pt x="191284" y="352818"/>
                </a:moveTo>
                <a:lnTo>
                  <a:pt x="23114" y="352818"/>
                </a:lnTo>
                <a:cubicBezTo>
                  <a:pt x="4952" y="352818"/>
                  <a:pt x="594" y="342285"/>
                  <a:pt x="13439" y="329440"/>
                </a:cubicBezTo>
                <a:lnTo>
                  <a:pt x="122174" y="220573"/>
                </a:lnTo>
                <a:lnTo>
                  <a:pt x="320293" y="220573"/>
                </a:lnTo>
                <a:moveTo>
                  <a:pt x="122174" y="220573"/>
                </a:moveTo>
                <a:lnTo>
                  <a:pt x="320293" y="599742"/>
                </a:lnTo>
                <a:lnTo>
                  <a:pt x="654522" y="731459"/>
                </a:lnTo>
                <a:cubicBezTo>
                  <a:pt x="671428" y="738063"/>
                  <a:pt x="676744" y="731459"/>
                  <a:pt x="666343" y="716500"/>
                </a:cubicBezTo>
                <a:lnTo>
                  <a:pt x="320293" y="220738"/>
                </a:lnTo>
                <a:lnTo>
                  <a:pt x="320293" y="599742"/>
                </a:lnTo>
                <a:moveTo>
                  <a:pt x="320293" y="220738"/>
                </a:moveTo>
                <a:lnTo>
                  <a:pt x="528088" y="13009"/>
                </a:lnTo>
                <a:cubicBezTo>
                  <a:pt x="540933" y="165"/>
                  <a:pt x="551433" y="4523"/>
                  <a:pt x="551433" y="22684"/>
                </a:cubicBezTo>
                <a:lnTo>
                  <a:pt x="551433" y="551863"/>
                </a:lnTo>
                <a:moveTo>
                  <a:pt x="551433" y="170482"/>
                </a:moveTo>
                <a:lnTo>
                  <a:pt x="720991" y="72247"/>
                </a:lnTo>
                <a:cubicBezTo>
                  <a:pt x="736709" y="63134"/>
                  <a:pt x="744303" y="69606"/>
                  <a:pt x="737897" y="86578"/>
                </a:cubicBezTo>
                <a:lnTo>
                  <a:pt x="558665" y="561604"/>
                </a:lnTo>
                <a:moveTo>
                  <a:pt x="191515" y="353314"/>
                </a:moveTo>
                <a:cubicBezTo>
                  <a:pt x="135382" y="340106"/>
                  <a:pt x="75945" y="369824"/>
                  <a:pt x="23114" y="353314"/>
                </a:cubicBezTo>
                <a:cubicBezTo>
                  <a:pt x="6604" y="346710"/>
                  <a:pt x="0" y="340106"/>
                  <a:pt x="13207" y="330200"/>
                </a:cubicBezTo>
                <a:cubicBezTo>
                  <a:pt x="52832" y="297180"/>
                  <a:pt x="102362" y="267461"/>
                  <a:pt x="122174" y="221234"/>
                </a:cubicBezTo>
                <a:cubicBezTo>
                  <a:pt x="188213" y="217931"/>
                  <a:pt x="257555" y="244347"/>
                  <a:pt x="320293" y="221234"/>
                </a:cubicBezTo>
                <a:moveTo>
                  <a:pt x="122174" y="221234"/>
                </a:moveTo>
                <a:cubicBezTo>
                  <a:pt x="211328" y="333501"/>
                  <a:pt x="277368" y="462279"/>
                  <a:pt x="320293" y="600964"/>
                </a:cubicBezTo>
                <a:cubicBezTo>
                  <a:pt x="429260" y="647191"/>
                  <a:pt x="554735" y="667004"/>
                  <a:pt x="653795" y="733044"/>
                </a:cubicBezTo>
                <a:cubicBezTo>
                  <a:pt x="670305" y="739648"/>
                  <a:pt x="680211" y="726439"/>
                  <a:pt x="667003" y="716534"/>
                </a:cubicBezTo>
                <a:cubicBezTo>
                  <a:pt x="501903" y="600964"/>
                  <a:pt x="449071" y="376427"/>
                  <a:pt x="320293" y="221234"/>
                </a:cubicBezTo>
                <a:cubicBezTo>
                  <a:pt x="320293" y="346710"/>
                  <a:pt x="359918" y="478789"/>
                  <a:pt x="320293" y="600964"/>
                </a:cubicBezTo>
                <a:moveTo>
                  <a:pt x="320293" y="221234"/>
                </a:moveTo>
                <a:cubicBezTo>
                  <a:pt x="363219" y="132080"/>
                  <a:pt x="468883" y="92455"/>
                  <a:pt x="528320" y="13208"/>
                </a:cubicBezTo>
                <a:cubicBezTo>
                  <a:pt x="538225" y="0"/>
                  <a:pt x="544830" y="6604"/>
                  <a:pt x="551433" y="23114"/>
                </a:cubicBezTo>
                <a:cubicBezTo>
                  <a:pt x="610870" y="188214"/>
                  <a:pt x="551433" y="376427"/>
                  <a:pt x="551433" y="551434"/>
                </a:cubicBezTo>
                <a:moveTo>
                  <a:pt x="551433" y="171704"/>
                </a:moveTo>
                <a:cubicBezTo>
                  <a:pt x="614171" y="158496"/>
                  <a:pt x="663701" y="105664"/>
                  <a:pt x="719835" y="72644"/>
                </a:cubicBezTo>
                <a:cubicBezTo>
                  <a:pt x="736345" y="62737"/>
                  <a:pt x="739648" y="69342"/>
                  <a:pt x="736345" y="85852"/>
                </a:cubicBezTo>
                <a:cubicBezTo>
                  <a:pt x="723138" y="254254"/>
                  <a:pt x="610870" y="399541"/>
                  <a:pt x="558038" y="561339"/>
                </a:cubicBezTo>
              </a:path>
            </a:pathLst>
          </a:custGeom>
          <a:noFill/>
          <a:ln w="12382">
            <a:solidFill>
              <a:srgbClr val="484848"/>
            </a:solidFill>
          </a:ln>
        </p:spPr>
        <p:txBody>
          <a:bodyPr rtlCol="0" anchor="ctr"/>
          <a:lstStyle/>
          <a:p>
            <a:pPr algn="ctr"/>
            <a:endParaRPr/>
          </a:p>
        </p:txBody>
      </p:sp>
      <p:sp>
        <p:nvSpPr>
          <p:cNvPr id="77" name="Rounded Rectangle 27">
            <a:extLst>
              <a:ext uri="{FF2B5EF4-FFF2-40B4-BE49-F238E27FC236}">
                <a16:creationId xmlns:a16="http://schemas.microsoft.com/office/drawing/2014/main" id="{994AC5DD-6CE2-BBF4-2412-8F02D0A98F8E}"/>
              </a:ext>
            </a:extLst>
          </p:cNvPr>
          <p:cNvSpPr/>
          <p:nvPr/>
        </p:nvSpPr>
        <p:spPr>
          <a:xfrm>
            <a:off x="3185989" y="3601530"/>
            <a:ext cx="396240" cy="407796"/>
          </a:xfrm>
          <a:custGeom>
            <a:avLst/>
            <a:gdLst/>
            <a:ahLst/>
            <a:cxnLst/>
            <a:rect l="0" t="0" r="0" b="0"/>
            <a:pathLst>
              <a:path w="396240" h="407796">
                <a:moveTo>
                  <a:pt x="39624" y="4953"/>
                </a:moveTo>
                <a:cubicBezTo>
                  <a:pt x="6604" y="4953"/>
                  <a:pt x="6604" y="37973"/>
                  <a:pt x="6604" y="37973"/>
                </a:cubicBezTo>
                <a:lnTo>
                  <a:pt x="6604" y="351663"/>
                </a:lnTo>
                <a:cubicBezTo>
                  <a:pt x="6604" y="384683"/>
                  <a:pt x="39624" y="384683"/>
                  <a:pt x="39624" y="384683"/>
                </a:cubicBezTo>
                <a:lnTo>
                  <a:pt x="353314" y="384683"/>
                </a:lnTo>
                <a:cubicBezTo>
                  <a:pt x="386334" y="384683"/>
                  <a:pt x="386334" y="351663"/>
                  <a:pt x="386334" y="351663"/>
                </a:cubicBezTo>
                <a:lnTo>
                  <a:pt x="386334" y="37973"/>
                </a:lnTo>
                <a:cubicBezTo>
                  <a:pt x="386334" y="4953"/>
                  <a:pt x="353314" y="4953"/>
                  <a:pt x="353314" y="4953"/>
                </a:cubicBezTo>
                <a:lnTo>
                  <a:pt x="39624" y="4953"/>
                </a:lnTo>
                <a:moveTo>
                  <a:pt x="64322" y="128778"/>
                </a:moveTo>
                <a:lnTo>
                  <a:pt x="6604" y="128778"/>
                </a:lnTo>
                <a:moveTo>
                  <a:pt x="89154" y="285623"/>
                </a:moveTo>
                <a:lnTo>
                  <a:pt x="6604" y="285623"/>
                </a:lnTo>
                <a:moveTo>
                  <a:pt x="262509" y="79248"/>
                </a:moveTo>
                <a:lnTo>
                  <a:pt x="262509" y="4953"/>
                </a:lnTo>
                <a:moveTo>
                  <a:pt x="279019" y="252603"/>
                </a:moveTo>
                <a:lnTo>
                  <a:pt x="279019" y="178308"/>
                </a:lnTo>
                <a:moveTo>
                  <a:pt x="130429" y="79248"/>
                </a:moveTo>
                <a:lnTo>
                  <a:pt x="130429" y="4953"/>
                </a:lnTo>
                <a:moveTo>
                  <a:pt x="89154" y="285623"/>
                </a:moveTo>
                <a:cubicBezTo>
                  <a:pt x="89154" y="262827"/>
                  <a:pt x="107633" y="244348"/>
                  <a:pt x="130429" y="244348"/>
                </a:cubicBezTo>
                <a:cubicBezTo>
                  <a:pt x="153224" y="244348"/>
                  <a:pt x="171704" y="262827"/>
                  <a:pt x="171704" y="285623"/>
                </a:cubicBezTo>
                <a:cubicBezTo>
                  <a:pt x="171704" y="308418"/>
                  <a:pt x="153224" y="326898"/>
                  <a:pt x="130429" y="326898"/>
                </a:cubicBezTo>
                <a:cubicBezTo>
                  <a:pt x="107633" y="326898"/>
                  <a:pt x="89154" y="308418"/>
                  <a:pt x="89154" y="285623"/>
                </a:cubicBezTo>
                <a:moveTo>
                  <a:pt x="295529" y="178308"/>
                </a:moveTo>
                <a:lnTo>
                  <a:pt x="295529" y="79248"/>
                </a:lnTo>
                <a:lnTo>
                  <a:pt x="130429" y="79248"/>
                </a:lnTo>
                <a:lnTo>
                  <a:pt x="64322" y="128778"/>
                </a:lnTo>
                <a:lnTo>
                  <a:pt x="130429" y="178308"/>
                </a:lnTo>
                <a:close/>
                <a:moveTo>
                  <a:pt x="241871" y="252603"/>
                </a:moveTo>
                <a:lnTo>
                  <a:pt x="241871" y="318643"/>
                </a:lnTo>
                <a:lnTo>
                  <a:pt x="307911" y="318643"/>
                </a:lnTo>
                <a:lnTo>
                  <a:pt x="307911" y="252603"/>
                </a:lnTo>
                <a:close/>
                <a:moveTo>
                  <a:pt x="241871" y="285623"/>
                </a:moveTo>
                <a:lnTo>
                  <a:pt x="171704" y="285623"/>
                </a:lnTo>
                <a:moveTo>
                  <a:pt x="307911" y="285623"/>
                </a:moveTo>
                <a:lnTo>
                  <a:pt x="386334" y="285623"/>
                </a:lnTo>
                <a:moveTo>
                  <a:pt x="279019" y="384683"/>
                </a:moveTo>
                <a:lnTo>
                  <a:pt x="279019" y="318643"/>
                </a:lnTo>
                <a:moveTo>
                  <a:pt x="130429" y="244348"/>
                </a:moveTo>
                <a:lnTo>
                  <a:pt x="130429" y="178308"/>
                </a:lnTo>
                <a:moveTo>
                  <a:pt x="130429" y="384683"/>
                </a:moveTo>
                <a:lnTo>
                  <a:pt x="130429" y="326898"/>
                </a:lnTo>
                <a:moveTo>
                  <a:pt x="386334" y="128778"/>
                </a:moveTo>
                <a:lnTo>
                  <a:pt x="295529" y="128778"/>
                </a:lnTo>
                <a:moveTo>
                  <a:pt x="39624" y="4953"/>
                </a:moveTo>
                <a:cubicBezTo>
                  <a:pt x="143637" y="9906"/>
                  <a:pt x="249301" y="14859"/>
                  <a:pt x="353314" y="4953"/>
                </a:cubicBezTo>
                <a:cubicBezTo>
                  <a:pt x="353314" y="4953"/>
                  <a:pt x="383031" y="4953"/>
                  <a:pt x="386334" y="37973"/>
                </a:cubicBezTo>
                <a:cubicBezTo>
                  <a:pt x="396240" y="141986"/>
                  <a:pt x="383031" y="247650"/>
                  <a:pt x="386334" y="351663"/>
                </a:cubicBezTo>
                <a:cubicBezTo>
                  <a:pt x="386334" y="351663"/>
                  <a:pt x="386334" y="378079"/>
                  <a:pt x="353314" y="384683"/>
                </a:cubicBezTo>
                <a:cubicBezTo>
                  <a:pt x="250951" y="407796"/>
                  <a:pt x="143637" y="383031"/>
                  <a:pt x="39624" y="384683"/>
                </a:cubicBezTo>
                <a:cubicBezTo>
                  <a:pt x="39624" y="384683"/>
                  <a:pt x="4953" y="384683"/>
                  <a:pt x="6604" y="351663"/>
                </a:cubicBezTo>
                <a:cubicBezTo>
                  <a:pt x="13208" y="247650"/>
                  <a:pt x="0" y="141986"/>
                  <a:pt x="6604" y="37973"/>
                </a:cubicBezTo>
                <a:cubicBezTo>
                  <a:pt x="6604" y="37973"/>
                  <a:pt x="6604" y="0"/>
                  <a:pt x="39624" y="4953"/>
                </a:cubicBezTo>
                <a:moveTo>
                  <a:pt x="6604" y="128778"/>
                </a:moveTo>
                <a:cubicBezTo>
                  <a:pt x="26416" y="130429"/>
                  <a:pt x="44577" y="130429"/>
                  <a:pt x="64389" y="128778"/>
                </a:cubicBezTo>
                <a:moveTo>
                  <a:pt x="6604" y="285623"/>
                </a:moveTo>
                <a:cubicBezTo>
                  <a:pt x="34671" y="288925"/>
                  <a:pt x="61087" y="285623"/>
                  <a:pt x="89154" y="285623"/>
                </a:cubicBezTo>
                <a:moveTo>
                  <a:pt x="262509" y="4953"/>
                </a:moveTo>
                <a:cubicBezTo>
                  <a:pt x="264160" y="29718"/>
                  <a:pt x="267461" y="54483"/>
                  <a:pt x="262509" y="79248"/>
                </a:cubicBezTo>
                <a:moveTo>
                  <a:pt x="279019" y="178308"/>
                </a:moveTo>
                <a:cubicBezTo>
                  <a:pt x="280670" y="203073"/>
                  <a:pt x="277367" y="227838"/>
                  <a:pt x="279019" y="252603"/>
                </a:cubicBezTo>
                <a:moveTo>
                  <a:pt x="130429" y="4953"/>
                </a:moveTo>
                <a:cubicBezTo>
                  <a:pt x="132080" y="29718"/>
                  <a:pt x="138684" y="56134"/>
                  <a:pt x="130429" y="79248"/>
                </a:cubicBezTo>
                <a:moveTo>
                  <a:pt x="89154" y="285623"/>
                </a:moveTo>
                <a:cubicBezTo>
                  <a:pt x="84201" y="308736"/>
                  <a:pt x="107315" y="325246"/>
                  <a:pt x="130429" y="326898"/>
                </a:cubicBezTo>
                <a:cubicBezTo>
                  <a:pt x="153542" y="328549"/>
                  <a:pt x="170052" y="308736"/>
                  <a:pt x="171704" y="285623"/>
                </a:cubicBezTo>
                <a:cubicBezTo>
                  <a:pt x="171704" y="262509"/>
                  <a:pt x="151892" y="252603"/>
                  <a:pt x="130429" y="244348"/>
                </a:cubicBezTo>
                <a:cubicBezTo>
                  <a:pt x="108966" y="236093"/>
                  <a:pt x="92456" y="262509"/>
                  <a:pt x="89154" y="285623"/>
                </a:cubicBezTo>
                <a:moveTo>
                  <a:pt x="295529" y="178308"/>
                </a:moveTo>
                <a:cubicBezTo>
                  <a:pt x="297180" y="145288"/>
                  <a:pt x="297180" y="112268"/>
                  <a:pt x="295529" y="79248"/>
                </a:cubicBezTo>
                <a:cubicBezTo>
                  <a:pt x="241046" y="80899"/>
                  <a:pt x="184911" y="75946"/>
                  <a:pt x="130429" y="79248"/>
                </a:cubicBezTo>
                <a:cubicBezTo>
                  <a:pt x="108966" y="95758"/>
                  <a:pt x="87502" y="113919"/>
                  <a:pt x="64389" y="128778"/>
                </a:cubicBezTo>
                <a:cubicBezTo>
                  <a:pt x="79247" y="151891"/>
                  <a:pt x="108966" y="161798"/>
                  <a:pt x="130429" y="178308"/>
                </a:cubicBezTo>
                <a:cubicBezTo>
                  <a:pt x="184911" y="176656"/>
                  <a:pt x="242696" y="165100"/>
                  <a:pt x="295529" y="178308"/>
                </a:cubicBezTo>
                <a:moveTo>
                  <a:pt x="242696" y="252603"/>
                </a:moveTo>
                <a:cubicBezTo>
                  <a:pt x="249301" y="272415"/>
                  <a:pt x="242696" y="297180"/>
                  <a:pt x="242696" y="318643"/>
                </a:cubicBezTo>
                <a:cubicBezTo>
                  <a:pt x="264160" y="313690"/>
                  <a:pt x="287274" y="312039"/>
                  <a:pt x="308736" y="318643"/>
                </a:cubicBezTo>
                <a:cubicBezTo>
                  <a:pt x="302132" y="297180"/>
                  <a:pt x="305435" y="274065"/>
                  <a:pt x="308736" y="252603"/>
                </a:cubicBezTo>
                <a:cubicBezTo>
                  <a:pt x="285622" y="252603"/>
                  <a:pt x="262509" y="245999"/>
                  <a:pt x="242696" y="252603"/>
                </a:cubicBezTo>
                <a:moveTo>
                  <a:pt x="171704" y="285623"/>
                </a:moveTo>
                <a:cubicBezTo>
                  <a:pt x="194817" y="287274"/>
                  <a:pt x="217931" y="287274"/>
                  <a:pt x="242696" y="285623"/>
                </a:cubicBezTo>
                <a:moveTo>
                  <a:pt x="308736" y="285623"/>
                </a:moveTo>
                <a:cubicBezTo>
                  <a:pt x="333501" y="285623"/>
                  <a:pt x="361569" y="290575"/>
                  <a:pt x="386334" y="285623"/>
                </a:cubicBezTo>
                <a:moveTo>
                  <a:pt x="279019" y="318643"/>
                </a:moveTo>
                <a:cubicBezTo>
                  <a:pt x="272415" y="340105"/>
                  <a:pt x="287274" y="364870"/>
                  <a:pt x="279019" y="384683"/>
                </a:cubicBezTo>
                <a:moveTo>
                  <a:pt x="130429" y="178308"/>
                </a:moveTo>
                <a:cubicBezTo>
                  <a:pt x="135382" y="199770"/>
                  <a:pt x="128777" y="222885"/>
                  <a:pt x="130429" y="244348"/>
                </a:cubicBezTo>
                <a:moveTo>
                  <a:pt x="130429" y="326898"/>
                </a:moveTo>
                <a:cubicBezTo>
                  <a:pt x="130429" y="346710"/>
                  <a:pt x="128777" y="364870"/>
                  <a:pt x="130429" y="384683"/>
                </a:cubicBezTo>
                <a:moveTo>
                  <a:pt x="295529" y="128778"/>
                </a:moveTo>
                <a:cubicBezTo>
                  <a:pt x="323596" y="118871"/>
                  <a:pt x="356616" y="120523"/>
                  <a:pt x="386334" y="128778"/>
                </a:cubicBezTo>
              </a:path>
            </a:pathLst>
          </a:custGeom>
          <a:noFill/>
          <a:ln w="12382">
            <a:solidFill>
              <a:srgbClr val="484848"/>
            </a:solidFill>
          </a:ln>
        </p:spPr>
        <p:txBody>
          <a:bodyPr rtlCol="0" anchor="ctr"/>
          <a:lstStyle/>
          <a:p>
            <a:pPr algn="ctr"/>
            <a:endParaRPr/>
          </a:p>
        </p:txBody>
      </p:sp>
      <p:sp>
        <p:nvSpPr>
          <p:cNvPr id="78" name="Rounded Rectangle 28">
            <a:extLst>
              <a:ext uri="{FF2B5EF4-FFF2-40B4-BE49-F238E27FC236}">
                <a16:creationId xmlns:a16="http://schemas.microsoft.com/office/drawing/2014/main" id="{3B634C9F-192C-1735-DF81-328DF9A8EDEF}"/>
              </a:ext>
            </a:extLst>
          </p:cNvPr>
          <p:cNvSpPr/>
          <p:nvPr/>
        </p:nvSpPr>
        <p:spPr>
          <a:xfrm>
            <a:off x="5624517" y="3598228"/>
            <a:ext cx="280669" cy="384880"/>
          </a:xfrm>
          <a:custGeom>
            <a:avLst/>
            <a:gdLst/>
            <a:ahLst/>
            <a:cxnLst/>
            <a:rect l="0" t="0" r="0" b="0"/>
            <a:pathLst>
              <a:path w="280669" h="384880">
                <a:moveTo>
                  <a:pt x="10483" y="15073"/>
                </a:moveTo>
                <a:lnTo>
                  <a:pt x="158017" y="74063"/>
                </a:lnTo>
                <a:cubicBezTo>
                  <a:pt x="164285" y="76568"/>
                  <a:pt x="168397" y="82635"/>
                  <a:pt x="168401" y="89385"/>
                </a:cubicBezTo>
                <a:lnTo>
                  <a:pt x="168401" y="367545"/>
                </a:lnTo>
                <a:cubicBezTo>
                  <a:pt x="168393" y="373018"/>
                  <a:pt x="165673" y="378130"/>
                  <a:pt x="161139" y="381195"/>
                </a:cubicBezTo>
                <a:cubicBezTo>
                  <a:pt x="156606" y="384260"/>
                  <a:pt x="150848" y="384880"/>
                  <a:pt x="145766" y="382850"/>
                </a:cubicBezTo>
                <a:lnTo>
                  <a:pt x="13686" y="330018"/>
                </a:lnTo>
                <a:cubicBezTo>
                  <a:pt x="7424" y="327516"/>
                  <a:pt x="3313" y="321457"/>
                  <a:pt x="3301" y="314713"/>
                </a:cubicBezTo>
                <a:lnTo>
                  <a:pt x="3301" y="28710"/>
                </a:lnTo>
                <a:cubicBezTo>
                  <a:pt x="3301" y="19592"/>
                  <a:pt x="10693" y="12200"/>
                  <a:pt x="19811" y="12200"/>
                </a:cubicBezTo>
                <a:lnTo>
                  <a:pt x="250951" y="12200"/>
                </a:lnTo>
                <a:cubicBezTo>
                  <a:pt x="260070" y="12200"/>
                  <a:pt x="267461" y="19592"/>
                  <a:pt x="267461" y="28710"/>
                </a:cubicBezTo>
                <a:lnTo>
                  <a:pt x="267461" y="309380"/>
                </a:lnTo>
                <a:cubicBezTo>
                  <a:pt x="267461" y="318499"/>
                  <a:pt x="260070" y="325890"/>
                  <a:pt x="250951" y="325890"/>
                </a:cubicBezTo>
                <a:lnTo>
                  <a:pt x="217931" y="325890"/>
                </a:lnTo>
                <a:moveTo>
                  <a:pt x="12415" y="13950"/>
                </a:moveTo>
                <a:lnTo>
                  <a:pt x="204525" y="50883"/>
                </a:lnTo>
                <a:cubicBezTo>
                  <a:pt x="212304" y="52372"/>
                  <a:pt x="217930" y="59176"/>
                  <a:pt x="217931" y="67096"/>
                </a:cubicBezTo>
                <a:lnTo>
                  <a:pt x="217931" y="342400"/>
                </a:lnTo>
                <a:cubicBezTo>
                  <a:pt x="217931" y="351519"/>
                  <a:pt x="210540" y="358910"/>
                  <a:pt x="201421" y="358910"/>
                </a:cubicBezTo>
                <a:lnTo>
                  <a:pt x="168401" y="358910"/>
                </a:lnTo>
                <a:moveTo>
                  <a:pt x="9905" y="14859"/>
                </a:moveTo>
                <a:cubicBezTo>
                  <a:pt x="57785" y="37973"/>
                  <a:pt x="108965" y="52831"/>
                  <a:pt x="158495" y="74295"/>
                </a:cubicBezTo>
                <a:cubicBezTo>
                  <a:pt x="163449" y="77596"/>
                  <a:pt x="165099" y="82550"/>
                  <a:pt x="168401" y="89153"/>
                </a:cubicBezTo>
                <a:cubicBezTo>
                  <a:pt x="204724" y="175006"/>
                  <a:pt x="178308" y="275717"/>
                  <a:pt x="168401" y="368172"/>
                </a:cubicBezTo>
                <a:cubicBezTo>
                  <a:pt x="168401" y="373126"/>
                  <a:pt x="166750" y="379730"/>
                  <a:pt x="161798" y="381381"/>
                </a:cubicBezTo>
                <a:cubicBezTo>
                  <a:pt x="155194" y="383032"/>
                  <a:pt x="151891" y="383032"/>
                  <a:pt x="145288" y="383032"/>
                </a:cubicBezTo>
                <a:cubicBezTo>
                  <a:pt x="99060" y="383032"/>
                  <a:pt x="61086" y="331851"/>
                  <a:pt x="13208" y="330200"/>
                </a:cubicBezTo>
                <a:cubicBezTo>
                  <a:pt x="6603" y="330200"/>
                  <a:pt x="3301" y="321945"/>
                  <a:pt x="3301" y="315341"/>
                </a:cubicBezTo>
                <a:cubicBezTo>
                  <a:pt x="1650" y="219582"/>
                  <a:pt x="0" y="123825"/>
                  <a:pt x="3301" y="28066"/>
                </a:cubicBezTo>
                <a:cubicBezTo>
                  <a:pt x="3301" y="19811"/>
                  <a:pt x="9905" y="13208"/>
                  <a:pt x="19811" y="11556"/>
                </a:cubicBezTo>
                <a:cubicBezTo>
                  <a:pt x="95758" y="0"/>
                  <a:pt x="175005" y="23114"/>
                  <a:pt x="250951" y="11556"/>
                </a:cubicBezTo>
                <a:cubicBezTo>
                  <a:pt x="259206" y="11556"/>
                  <a:pt x="270764" y="19811"/>
                  <a:pt x="267461" y="28066"/>
                </a:cubicBezTo>
                <a:cubicBezTo>
                  <a:pt x="241045" y="118871"/>
                  <a:pt x="280669" y="216281"/>
                  <a:pt x="267461" y="308737"/>
                </a:cubicBezTo>
                <a:cubicBezTo>
                  <a:pt x="265810" y="318642"/>
                  <a:pt x="259206" y="328548"/>
                  <a:pt x="250951" y="325247"/>
                </a:cubicBezTo>
                <a:cubicBezTo>
                  <a:pt x="241045" y="323596"/>
                  <a:pt x="229489" y="326897"/>
                  <a:pt x="217931" y="325247"/>
                </a:cubicBezTo>
                <a:moveTo>
                  <a:pt x="13208" y="13208"/>
                </a:moveTo>
                <a:cubicBezTo>
                  <a:pt x="75945" y="29718"/>
                  <a:pt x="140334" y="44576"/>
                  <a:pt x="204724" y="51181"/>
                </a:cubicBezTo>
                <a:cubicBezTo>
                  <a:pt x="212979" y="51181"/>
                  <a:pt x="217931" y="59436"/>
                  <a:pt x="217931" y="67691"/>
                </a:cubicBezTo>
                <a:cubicBezTo>
                  <a:pt x="227838" y="158496"/>
                  <a:pt x="239394" y="252602"/>
                  <a:pt x="217931" y="341757"/>
                </a:cubicBezTo>
                <a:cubicBezTo>
                  <a:pt x="216280" y="351662"/>
                  <a:pt x="209676" y="361568"/>
                  <a:pt x="201421" y="358267"/>
                </a:cubicBezTo>
                <a:cubicBezTo>
                  <a:pt x="191515" y="354965"/>
                  <a:pt x="178308" y="354965"/>
                  <a:pt x="168401" y="358267"/>
                </a:cubicBezTo>
              </a:path>
            </a:pathLst>
          </a:custGeom>
          <a:noFill/>
          <a:ln w="12382">
            <a:solidFill>
              <a:srgbClr val="484848"/>
            </a:solidFill>
          </a:ln>
        </p:spPr>
        <p:txBody>
          <a:bodyPr rtlCol="0" anchor="ctr"/>
          <a:lstStyle/>
          <a:p>
            <a:pPr algn="ctr"/>
            <a:endParaRPr/>
          </a:p>
        </p:txBody>
      </p:sp>
      <p:sp>
        <p:nvSpPr>
          <p:cNvPr id="79" name="Rounded Rectangle 29">
            <a:extLst>
              <a:ext uri="{FF2B5EF4-FFF2-40B4-BE49-F238E27FC236}">
                <a16:creationId xmlns:a16="http://schemas.microsoft.com/office/drawing/2014/main" id="{DD4FABB0-BBE9-55A0-B17F-A036C5EDF491}"/>
              </a:ext>
            </a:extLst>
          </p:cNvPr>
          <p:cNvSpPr/>
          <p:nvPr/>
        </p:nvSpPr>
        <p:spPr>
          <a:xfrm>
            <a:off x="4366455" y="4387406"/>
            <a:ext cx="411099" cy="417703"/>
          </a:xfrm>
          <a:custGeom>
            <a:avLst/>
            <a:gdLst/>
            <a:ahLst/>
            <a:cxnLst/>
            <a:rect l="0" t="0" r="0" b="0"/>
            <a:pathLst>
              <a:path w="411099" h="417703">
                <a:moveTo>
                  <a:pt x="64389" y="11556"/>
                </a:moveTo>
                <a:cubicBezTo>
                  <a:pt x="14859" y="11556"/>
                  <a:pt x="14859" y="61086"/>
                  <a:pt x="14859" y="61086"/>
                </a:cubicBezTo>
                <a:lnTo>
                  <a:pt x="14859" y="341756"/>
                </a:lnTo>
                <a:cubicBezTo>
                  <a:pt x="14859" y="391286"/>
                  <a:pt x="64389" y="391286"/>
                  <a:pt x="64389" y="391286"/>
                </a:cubicBezTo>
                <a:lnTo>
                  <a:pt x="345059" y="391286"/>
                </a:lnTo>
                <a:cubicBezTo>
                  <a:pt x="394589" y="391286"/>
                  <a:pt x="394589" y="341756"/>
                  <a:pt x="394589" y="341756"/>
                </a:cubicBezTo>
                <a:lnTo>
                  <a:pt x="394589" y="61086"/>
                </a:lnTo>
                <a:cubicBezTo>
                  <a:pt x="394589" y="11556"/>
                  <a:pt x="345059" y="11556"/>
                  <a:pt x="345059" y="11556"/>
                </a:cubicBezTo>
                <a:lnTo>
                  <a:pt x="64389" y="11556"/>
                </a:lnTo>
                <a:moveTo>
                  <a:pt x="130429" y="275716"/>
                </a:moveTo>
                <a:cubicBezTo>
                  <a:pt x="130429" y="234685"/>
                  <a:pt x="163692" y="201421"/>
                  <a:pt x="204724" y="201421"/>
                </a:cubicBezTo>
                <a:cubicBezTo>
                  <a:pt x="245755" y="201421"/>
                  <a:pt x="279019" y="234685"/>
                  <a:pt x="279019" y="275716"/>
                </a:cubicBezTo>
                <a:cubicBezTo>
                  <a:pt x="279019" y="316748"/>
                  <a:pt x="245755" y="350011"/>
                  <a:pt x="204724" y="350011"/>
                </a:cubicBezTo>
                <a:cubicBezTo>
                  <a:pt x="163692" y="350011"/>
                  <a:pt x="130429" y="316748"/>
                  <a:pt x="130429" y="275716"/>
                </a:cubicBezTo>
                <a:moveTo>
                  <a:pt x="130429" y="275716"/>
                </a:moveTo>
                <a:lnTo>
                  <a:pt x="72644" y="275716"/>
                </a:lnTo>
                <a:cubicBezTo>
                  <a:pt x="68121" y="275629"/>
                  <a:pt x="64476" y="271984"/>
                  <a:pt x="64389" y="267461"/>
                </a:cubicBezTo>
                <a:lnTo>
                  <a:pt x="64389" y="69341"/>
                </a:lnTo>
                <a:cubicBezTo>
                  <a:pt x="64476" y="64819"/>
                  <a:pt x="68121" y="61174"/>
                  <a:pt x="72644" y="61086"/>
                </a:cubicBezTo>
                <a:lnTo>
                  <a:pt x="336804" y="61086"/>
                </a:lnTo>
                <a:cubicBezTo>
                  <a:pt x="341326" y="61174"/>
                  <a:pt x="344971" y="64819"/>
                  <a:pt x="345059" y="69341"/>
                </a:cubicBezTo>
                <a:lnTo>
                  <a:pt x="345059" y="267461"/>
                </a:lnTo>
                <a:cubicBezTo>
                  <a:pt x="344971" y="271984"/>
                  <a:pt x="341326" y="275629"/>
                  <a:pt x="336804" y="275716"/>
                </a:cubicBezTo>
                <a:lnTo>
                  <a:pt x="279019" y="275716"/>
                </a:lnTo>
                <a:moveTo>
                  <a:pt x="64389" y="341756"/>
                </a:moveTo>
                <a:lnTo>
                  <a:pt x="105664" y="341756"/>
                </a:lnTo>
                <a:moveTo>
                  <a:pt x="345059" y="341756"/>
                </a:moveTo>
                <a:lnTo>
                  <a:pt x="303784" y="341756"/>
                </a:lnTo>
                <a:moveTo>
                  <a:pt x="179959" y="308736"/>
                </a:moveTo>
                <a:lnTo>
                  <a:pt x="245999" y="275716"/>
                </a:lnTo>
                <a:lnTo>
                  <a:pt x="179959" y="242696"/>
                </a:lnTo>
                <a:close/>
                <a:moveTo>
                  <a:pt x="64389" y="11556"/>
                </a:moveTo>
                <a:cubicBezTo>
                  <a:pt x="156845" y="0"/>
                  <a:pt x="254254" y="33020"/>
                  <a:pt x="345059" y="11556"/>
                </a:cubicBezTo>
                <a:cubicBezTo>
                  <a:pt x="345059" y="11556"/>
                  <a:pt x="386334" y="13207"/>
                  <a:pt x="394589" y="61086"/>
                </a:cubicBezTo>
                <a:cubicBezTo>
                  <a:pt x="411099" y="153543"/>
                  <a:pt x="392937" y="247649"/>
                  <a:pt x="394589" y="341756"/>
                </a:cubicBezTo>
                <a:cubicBezTo>
                  <a:pt x="394589" y="341756"/>
                  <a:pt x="394589" y="394589"/>
                  <a:pt x="345059" y="391286"/>
                </a:cubicBezTo>
                <a:cubicBezTo>
                  <a:pt x="252602" y="384683"/>
                  <a:pt x="153542" y="417703"/>
                  <a:pt x="64389" y="391286"/>
                </a:cubicBezTo>
                <a:cubicBezTo>
                  <a:pt x="64389" y="391286"/>
                  <a:pt x="18160" y="391286"/>
                  <a:pt x="14859" y="341756"/>
                </a:cubicBezTo>
                <a:cubicBezTo>
                  <a:pt x="6604" y="249300"/>
                  <a:pt x="0" y="153543"/>
                  <a:pt x="14859" y="61086"/>
                </a:cubicBezTo>
                <a:cubicBezTo>
                  <a:pt x="14859" y="61086"/>
                  <a:pt x="14859" y="16510"/>
                  <a:pt x="64389" y="11556"/>
                </a:cubicBezTo>
                <a:moveTo>
                  <a:pt x="130429" y="275716"/>
                </a:moveTo>
                <a:cubicBezTo>
                  <a:pt x="123825" y="316991"/>
                  <a:pt x="165100" y="359918"/>
                  <a:pt x="204724" y="350011"/>
                </a:cubicBezTo>
                <a:cubicBezTo>
                  <a:pt x="244347" y="340105"/>
                  <a:pt x="282321" y="316991"/>
                  <a:pt x="279019" y="275716"/>
                </a:cubicBezTo>
                <a:cubicBezTo>
                  <a:pt x="275716" y="234441"/>
                  <a:pt x="245999" y="194818"/>
                  <a:pt x="204724" y="201421"/>
                </a:cubicBezTo>
                <a:cubicBezTo>
                  <a:pt x="163449" y="208025"/>
                  <a:pt x="123825" y="234441"/>
                  <a:pt x="130429" y="275716"/>
                </a:cubicBezTo>
                <a:moveTo>
                  <a:pt x="279019" y="275716"/>
                </a:moveTo>
                <a:cubicBezTo>
                  <a:pt x="297180" y="270764"/>
                  <a:pt x="316991" y="274065"/>
                  <a:pt x="336804" y="275716"/>
                </a:cubicBezTo>
                <a:cubicBezTo>
                  <a:pt x="341756" y="275716"/>
                  <a:pt x="343407" y="272414"/>
                  <a:pt x="345059" y="267461"/>
                </a:cubicBezTo>
                <a:cubicBezTo>
                  <a:pt x="361569" y="203073"/>
                  <a:pt x="346710" y="135381"/>
                  <a:pt x="345059" y="69341"/>
                </a:cubicBezTo>
                <a:cubicBezTo>
                  <a:pt x="345059" y="64388"/>
                  <a:pt x="341756" y="61086"/>
                  <a:pt x="336804" y="61086"/>
                </a:cubicBezTo>
                <a:cubicBezTo>
                  <a:pt x="249301" y="67690"/>
                  <a:pt x="155194" y="31368"/>
                  <a:pt x="72644" y="61086"/>
                </a:cubicBezTo>
                <a:cubicBezTo>
                  <a:pt x="67690" y="62738"/>
                  <a:pt x="62737" y="64388"/>
                  <a:pt x="64389" y="69341"/>
                </a:cubicBezTo>
                <a:cubicBezTo>
                  <a:pt x="84200" y="132080"/>
                  <a:pt x="67690" y="201421"/>
                  <a:pt x="64389" y="267461"/>
                </a:cubicBezTo>
                <a:cubicBezTo>
                  <a:pt x="64389" y="272414"/>
                  <a:pt x="67690" y="275716"/>
                  <a:pt x="72644" y="275716"/>
                </a:cubicBezTo>
                <a:cubicBezTo>
                  <a:pt x="92455" y="272414"/>
                  <a:pt x="110617" y="275716"/>
                  <a:pt x="130429" y="275716"/>
                </a:cubicBezTo>
                <a:moveTo>
                  <a:pt x="105664" y="341756"/>
                </a:moveTo>
                <a:cubicBezTo>
                  <a:pt x="92455" y="341756"/>
                  <a:pt x="77597" y="341756"/>
                  <a:pt x="64389" y="341756"/>
                </a:cubicBezTo>
                <a:moveTo>
                  <a:pt x="303784" y="341756"/>
                </a:moveTo>
                <a:cubicBezTo>
                  <a:pt x="316991" y="336804"/>
                  <a:pt x="331851" y="343408"/>
                  <a:pt x="345059" y="341756"/>
                </a:cubicBezTo>
                <a:moveTo>
                  <a:pt x="179959" y="308736"/>
                </a:moveTo>
                <a:cubicBezTo>
                  <a:pt x="175005" y="287274"/>
                  <a:pt x="179959" y="264159"/>
                  <a:pt x="179959" y="242696"/>
                </a:cubicBezTo>
                <a:cubicBezTo>
                  <a:pt x="199771" y="257555"/>
                  <a:pt x="226186" y="260858"/>
                  <a:pt x="245999" y="275716"/>
                </a:cubicBezTo>
                <a:cubicBezTo>
                  <a:pt x="224536" y="287274"/>
                  <a:pt x="199771" y="295529"/>
                  <a:pt x="179959" y="308736"/>
                </a:cubicBezTo>
              </a:path>
            </a:pathLst>
          </a:custGeom>
          <a:noFill/>
          <a:ln w="12382">
            <a:solidFill>
              <a:srgbClr val="484848"/>
            </a:solidFill>
          </a:ln>
        </p:spPr>
        <p:txBody>
          <a:bodyPr rtlCol="0" anchor="ctr"/>
          <a:lstStyle/>
          <a:p>
            <a:pPr algn="ctr"/>
            <a:endParaRPr/>
          </a:p>
        </p:txBody>
      </p:sp>
      <p:sp>
        <p:nvSpPr>
          <p:cNvPr id="4" name="TextBox 3">
            <a:extLst>
              <a:ext uri="{FF2B5EF4-FFF2-40B4-BE49-F238E27FC236}">
                <a16:creationId xmlns:a16="http://schemas.microsoft.com/office/drawing/2014/main" id="{7A3950D7-C90D-BD57-6F8F-857AA1FF2891}"/>
              </a:ext>
            </a:extLst>
          </p:cNvPr>
          <p:cNvSpPr txBox="1"/>
          <p:nvPr/>
        </p:nvSpPr>
        <p:spPr>
          <a:xfrm>
            <a:off x="8075558" y="2835014"/>
            <a:ext cx="4116442" cy="3108543"/>
          </a:xfrm>
          <a:prstGeom prst="rect">
            <a:avLst/>
          </a:prstGeom>
          <a:noFill/>
        </p:spPr>
        <p:txBody>
          <a:bodyPr wrap="square">
            <a:spAutoFit/>
          </a:bodyPr>
          <a:lstStyle/>
          <a:p>
            <a:pPr algn="ctr"/>
            <a:r>
              <a:rPr lang="en-US" sz="2800" b="1" dirty="0"/>
              <a:t>We share easy tutorials, clear diagrams, and creative ideas to help beginners and learners improve their origami skills.</a:t>
            </a:r>
          </a:p>
        </p:txBody>
      </p:sp>
      <p:sp>
        <p:nvSpPr>
          <p:cNvPr id="3" name="Freeform 2">
            <a:extLst>
              <a:ext uri="{FF2B5EF4-FFF2-40B4-BE49-F238E27FC236}">
                <a16:creationId xmlns:a16="http://schemas.microsoft.com/office/drawing/2014/main" id="{28ED9E25-7D60-C0F6-154A-72FA17433822}"/>
              </a:ext>
            </a:extLst>
          </p:cNvPr>
          <p:cNvSpPr/>
          <p:nvPr/>
        </p:nvSpPr>
        <p:spPr>
          <a:xfrm rot="1614470" flipH="1" flipV="1">
            <a:off x="9947662" y="469556"/>
            <a:ext cx="1951894" cy="999042"/>
          </a:xfrm>
          <a:custGeom>
            <a:avLst/>
            <a:gdLst/>
            <a:ahLst/>
            <a:cxnLst/>
            <a:rect l="l" t="t" r="r" b="b"/>
            <a:pathLst>
              <a:path w="3356927" h="2038570">
                <a:moveTo>
                  <a:pt x="3356927" y="2038570"/>
                </a:moveTo>
                <a:lnTo>
                  <a:pt x="0" y="2038570"/>
                </a:lnTo>
                <a:lnTo>
                  <a:pt x="0" y="0"/>
                </a:lnTo>
                <a:lnTo>
                  <a:pt x="3356927" y="0"/>
                </a:lnTo>
                <a:lnTo>
                  <a:pt x="3356927" y="2038570"/>
                </a:lnTo>
                <a:close/>
              </a:path>
            </a:pathLst>
          </a:custGeom>
          <a:blipFill>
            <a:blip r:embed="rId2">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510526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9BBD5-A245-BA6E-6FE5-DF07E39F9E13}"/>
              </a:ext>
            </a:extLst>
          </p:cNvPr>
          <p:cNvSpPr>
            <a:spLocks noGrp="1"/>
          </p:cNvSpPr>
          <p:nvPr>
            <p:ph type="title"/>
          </p:nvPr>
        </p:nvSpPr>
        <p:spPr>
          <a:xfrm>
            <a:off x="1742303" y="160638"/>
            <a:ext cx="8773297" cy="815546"/>
          </a:xfrm>
        </p:spPr>
        <p:txBody>
          <a:bodyPr>
            <a:normAutofit fontScale="90000"/>
          </a:bodyPr>
          <a:lstStyle/>
          <a:p>
            <a:pPr algn="ctr"/>
            <a:r>
              <a:rPr lang="en-US" dirty="0">
                <a:solidFill>
                  <a:schemeClr val="tx2">
                    <a:lumMod val="60000"/>
                    <a:lumOff val="40000"/>
                  </a:schemeClr>
                </a:solidFill>
                <a:latin typeface="Cooper Black" panose="0208090404030B020404" pitchFamily="18" charset="0"/>
              </a:rPr>
              <a:t>Acknowledgment</a:t>
            </a:r>
          </a:p>
        </p:txBody>
      </p:sp>
      <p:sp>
        <p:nvSpPr>
          <p:cNvPr id="3" name="Text Placeholder 2">
            <a:extLst>
              <a:ext uri="{FF2B5EF4-FFF2-40B4-BE49-F238E27FC236}">
                <a16:creationId xmlns:a16="http://schemas.microsoft.com/office/drawing/2014/main" id="{38F6A543-0FFA-4F6F-B9BE-016EC15EC85F}"/>
              </a:ext>
            </a:extLst>
          </p:cNvPr>
          <p:cNvSpPr>
            <a:spLocks noGrp="1"/>
          </p:cNvSpPr>
          <p:nvPr>
            <p:ph type="body" idx="1"/>
          </p:nvPr>
        </p:nvSpPr>
        <p:spPr>
          <a:xfrm>
            <a:off x="1581666" y="1482812"/>
            <a:ext cx="5931242" cy="5375188"/>
          </a:xfrm>
        </p:spPr>
        <p:txBody>
          <a:bodyPr>
            <a:normAutofit/>
          </a:bodyPr>
          <a:lstStyle/>
          <a:p>
            <a:pPr algn="ctr"/>
            <a:r>
              <a:rPr lang="en-US" sz="2800" b="1" dirty="0"/>
              <a:t>I would like to express my sincere gratitude to my teacher for guidance and encouragement throughout this project. I am also thankful to my institute for providing learning resources. Special thanks to my family and friends for their continuous support, motivation, and valuable feedback during the development of the Origami Hub website.</a:t>
            </a:r>
          </a:p>
          <a:p>
            <a:pPr algn="ctr"/>
            <a:endParaRPr lang="en-US" sz="2800" b="1" dirty="0"/>
          </a:p>
        </p:txBody>
      </p:sp>
      <p:pic>
        <p:nvPicPr>
          <p:cNvPr id="9" name="Picture 8">
            <a:extLst>
              <a:ext uri="{FF2B5EF4-FFF2-40B4-BE49-F238E27FC236}">
                <a16:creationId xmlns:a16="http://schemas.microsoft.com/office/drawing/2014/main" id="{8797A296-41C1-4D13-7307-4619B9BF51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12907" y="1734066"/>
            <a:ext cx="3793525" cy="4963296"/>
          </a:xfrm>
          <a:prstGeom prst="rect">
            <a:avLst/>
          </a:prstGeom>
        </p:spPr>
      </p:pic>
      <p:sp>
        <p:nvSpPr>
          <p:cNvPr id="4" name="Freeform 2">
            <a:extLst>
              <a:ext uri="{FF2B5EF4-FFF2-40B4-BE49-F238E27FC236}">
                <a16:creationId xmlns:a16="http://schemas.microsoft.com/office/drawing/2014/main" id="{365CC211-ADC9-AE08-C5F9-5B42B8297D8D}"/>
              </a:ext>
            </a:extLst>
          </p:cNvPr>
          <p:cNvSpPr/>
          <p:nvPr/>
        </p:nvSpPr>
        <p:spPr>
          <a:xfrm rot="1614470" flipH="1" flipV="1">
            <a:off x="9947662" y="469556"/>
            <a:ext cx="1951894" cy="999042"/>
          </a:xfrm>
          <a:custGeom>
            <a:avLst/>
            <a:gdLst/>
            <a:ahLst/>
            <a:cxnLst/>
            <a:rect l="l" t="t" r="r" b="b"/>
            <a:pathLst>
              <a:path w="3356927" h="2038570">
                <a:moveTo>
                  <a:pt x="3356927" y="2038570"/>
                </a:moveTo>
                <a:lnTo>
                  <a:pt x="0" y="2038570"/>
                </a:lnTo>
                <a:lnTo>
                  <a:pt x="0" y="0"/>
                </a:lnTo>
                <a:lnTo>
                  <a:pt x="3356927" y="0"/>
                </a:lnTo>
                <a:lnTo>
                  <a:pt x="3356927" y="2038570"/>
                </a:lnTo>
                <a:close/>
              </a:path>
            </a:pathLst>
          </a:custGeom>
          <a:blipFill>
            <a:blip r:embed="rId4">
              <a:extLst>
                <a:ext uri="{96DAC541-7B7A-43D3-8B79-37D633B846F1}">
                  <asvg:svgBlip xmlns:asvg="http://schemas.microsoft.com/office/drawing/2016/SVG/main" r:embed="rId5"/>
                </a:ext>
              </a:extLst>
            </a:blip>
            <a:stretch>
              <a:fillRect/>
            </a:stretch>
          </a:blipFill>
        </p:spPr>
      </p:sp>
    </p:spTree>
    <p:extLst>
      <p:ext uri="{BB962C8B-B14F-4D97-AF65-F5344CB8AC3E}">
        <p14:creationId xmlns:p14="http://schemas.microsoft.com/office/powerpoint/2010/main" val="1723390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1848F7-B3BE-29C7-B879-3745808913D8}"/>
              </a:ext>
            </a:extLst>
          </p:cNvPr>
          <p:cNvSpPr>
            <a:spLocks noGrp="1"/>
          </p:cNvSpPr>
          <p:nvPr>
            <p:ph type="title"/>
          </p:nvPr>
        </p:nvSpPr>
        <p:spPr>
          <a:xfrm>
            <a:off x="2589212" y="172995"/>
            <a:ext cx="8915399" cy="775095"/>
          </a:xfrm>
        </p:spPr>
        <p:txBody>
          <a:bodyPr>
            <a:normAutofit fontScale="90000"/>
          </a:bodyPr>
          <a:lstStyle/>
          <a:p>
            <a:pPr algn="ctr"/>
            <a:r>
              <a:rPr lang="en-US" dirty="0">
                <a:solidFill>
                  <a:schemeClr val="tx2">
                    <a:lumMod val="60000"/>
                    <a:lumOff val="40000"/>
                  </a:schemeClr>
                </a:solidFill>
                <a:latin typeface="Cooper Black" panose="0208090404030B020404" pitchFamily="18" charset="0"/>
              </a:rPr>
              <a:t>Synopsis</a:t>
            </a:r>
          </a:p>
        </p:txBody>
      </p:sp>
      <p:sp>
        <p:nvSpPr>
          <p:cNvPr id="3" name="Text Placeholder 2">
            <a:extLst>
              <a:ext uri="{FF2B5EF4-FFF2-40B4-BE49-F238E27FC236}">
                <a16:creationId xmlns:a16="http://schemas.microsoft.com/office/drawing/2014/main" id="{9EF08C52-6386-19FE-9AE0-62A2A1D0BBEF}"/>
              </a:ext>
            </a:extLst>
          </p:cNvPr>
          <p:cNvSpPr>
            <a:spLocks noGrp="1"/>
          </p:cNvSpPr>
          <p:nvPr>
            <p:ph type="body" idx="1"/>
          </p:nvPr>
        </p:nvSpPr>
        <p:spPr>
          <a:xfrm>
            <a:off x="7978606" y="1275771"/>
            <a:ext cx="3605426" cy="5313406"/>
          </a:xfrm>
        </p:spPr>
        <p:txBody>
          <a:bodyPr>
            <a:normAutofit lnSpcReduction="10000"/>
          </a:bodyPr>
          <a:lstStyle/>
          <a:p>
            <a:pPr>
              <a:lnSpc>
                <a:spcPct val="150000"/>
              </a:lnSpc>
            </a:pPr>
            <a:r>
              <a:rPr lang="en-US" b="1" dirty="0">
                <a:solidFill>
                  <a:srgbClr val="FFC000"/>
                </a:solidFill>
              </a:rPr>
              <a:t>"Origami Hub is a creative platform dedicated to the art of paper folding. It offers step-by-step tutorials, inspiring DIY projects, and a community for enthusiasts to share ideas. Whether you are a beginner or an experienced folder, Origami Hub provides all the resources and guidance to explore, learn, and create stunning origami designs effortlessly."</a:t>
            </a:r>
          </a:p>
        </p:txBody>
      </p:sp>
      <p:sp>
        <p:nvSpPr>
          <p:cNvPr id="4" name="Rounded Rectangle 1">
            <a:extLst>
              <a:ext uri="{FF2B5EF4-FFF2-40B4-BE49-F238E27FC236}">
                <a16:creationId xmlns:a16="http://schemas.microsoft.com/office/drawing/2014/main" id="{57028D61-95ED-BC66-875A-34B8A964A716}"/>
              </a:ext>
            </a:extLst>
          </p:cNvPr>
          <p:cNvSpPr/>
          <p:nvPr/>
        </p:nvSpPr>
        <p:spPr>
          <a:xfrm>
            <a:off x="5103347" y="1588097"/>
            <a:ext cx="892727" cy="617058"/>
          </a:xfrm>
          <a:custGeom>
            <a:avLst/>
            <a:gdLst/>
            <a:ahLst/>
            <a:cxnLst/>
            <a:rect l="0" t="0" r="0" b="0"/>
            <a:pathLst>
              <a:path w="892727" h="617058">
                <a:moveTo>
                  <a:pt x="305281" y="62997"/>
                </a:moveTo>
                <a:lnTo>
                  <a:pt x="258417" y="135913"/>
                </a:lnTo>
                <a:lnTo>
                  <a:pt x="0" y="72915"/>
                </a:lnTo>
                <a:lnTo>
                  <a:pt x="46934" y="0"/>
                </a:lnTo>
                <a:lnTo>
                  <a:pt x="305281" y="62997"/>
                </a:lnTo>
                <a:moveTo>
                  <a:pt x="728248" y="335104"/>
                </a:moveTo>
                <a:lnTo>
                  <a:pt x="680755" y="408439"/>
                </a:lnTo>
                <a:lnTo>
                  <a:pt x="258417" y="135913"/>
                </a:lnTo>
                <a:lnTo>
                  <a:pt x="305281" y="62997"/>
                </a:lnTo>
                <a:lnTo>
                  <a:pt x="728248" y="335104"/>
                </a:lnTo>
                <a:moveTo>
                  <a:pt x="892727" y="544143"/>
                </a:moveTo>
                <a:lnTo>
                  <a:pt x="845793" y="617058"/>
                </a:lnTo>
                <a:lnTo>
                  <a:pt x="680755" y="408439"/>
                </a:lnTo>
                <a:lnTo>
                  <a:pt x="728248" y="335104"/>
                </a:lnTo>
                <a:lnTo>
                  <a:pt x="892587" y="543933"/>
                </a:lnTo>
              </a:path>
            </a:pathLst>
          </a:custGeom>
          <a:solidFill>
            <a:srgbClr val="EBEBEB"/>
          </a:solidFill>
          <a:ln>
            <a:noFill/>
          </a:ln>
        </p:spPr>
        <p:txBody>
          <a:bodyPr rtlCol="0" anchor="ctr"/>
          <a:lstStyle/>
          <a:p>
            <a:pPr algn="ctr"/>
            <a:endParaRPr sz="1400" b="1"/>
          </a:p>
        </p:txBody>
      </p:sp>
      <p:sp>
        <p:nvSpPr>
          <p:cNvPr id="5" name="Rounded Rectangle 2">
            <a:extLst>
              <a:ext uri="{FF2B5EF4-FFF2-40B4-BE49-F238E27FC236}">
                <a16:creationId xmlns:a16="http://schemas.microsoft.com/office/drawing/2014/main" id="{18E272FB-1AF1-0750-0648-27BCEE461FDC}"/>
              </a:ext>
            </a:extLst>
          </p:cNvPr>
          <p:cNvSpPr/>
          <p:nvPr/>
        </p:nvSpPr>
        <p:spPr>
          <a:xfrm>
            <a:off x="5103347" y="1588097"/>
            <a:ext cx="892727" cy="617058"/>
          </a:xfrm>
          <a:custGeom>
            <a:avLst/>
            <a:gdLst/>
            <a:ahLst/>
            <a:cxnLst/>
            <a:rect l="0" t="0" r="0" b="0"/>
            <a:pathLst>
              <a:path w="892727" h="617058">
                <a:moveTo>
                  <a:pt x="305281" y="62997"/>
                </a:moveTo>
                <a:lnTo>
                  <a:pt x="258417" y="135913"/>
                </a:lnTo>
                <a:lnTo>
                  <a:pt x="258207" y="135913"/>
                </a:lnTo>
                <a:lnTo>
                  <a:pt x="258138" y="135843"/>
                </a:lnTo>
                <a:lnTo>
                  <a:pt x="0" y="72915"/>
                </a:lnTo>
                <a:lnTo>
                  <a:pt x="46934" y="0"/>
                </a:lnTo>
                <a:lnTo>
                  <a:pt x="305281" y="62997"/>
                </a:lnTo>
                <a:close/>
                <a:moveTo>
                  <a:pt x="728248" y="335104"/>
                </a:moveTo>
                <a:lnTo>
                  <a:pt x="680755" y="408439"/>
                </a:lnTo>
                <a:lnTo>
                  <a:pt x="258417" y="135913"/>
                </a:lnTo>
                <a:lnTo>
                  <a:pt x="305281" y="62997"/>
                </a:lnTo>
                <a:lnTo>
                  <a:pt x="728248" y="335104"/>
                </a:lnTo>
                <a:close/>
                <a:moveTo>
                  <a:pt x="892727" y="544143"/>
                </a:moveTo>
                <a:lnTo>
                  <a:pt x="845793" y="617058"/>
                </a:lnTo>
                <a:lnTo>
                  <a:pt x="845723" y="617058"/>
                </a:lnTo>
                <a:lnTo>
                  <a:pt x="680755" y="408439"/>
                </a:lnTo>
                <a:lnTo>
                  <a:pt x="728248" y="335104"/>
                </a:lnTo>
                <a:lnTo>
                  <a:pt x="892587" y="543933"/>
                </a:lnTo>
                <a:lnTo>
                  <a:pt x="892587" y="544003"/>
                </a:lnTo>
                <a:lnTo>
                  <a:pt x="892727" y="544143"/>
                </a:lnTo>
                <a:close/>
              </a:path>
            </a:pathLst>
          </a:custGeom>
          <a:noFill/>
          <a:ln w="10476">
            <a:solidFill>
              <a:srgbClr val="FFFFFF"/>
            </a:solidFill>
          </a:ln>
        </p:spPr>
        <p:txBody>
          <a:bodyPr rtlCol="0" anchor="ctr"/>
          <a:lstStyle/>
          <a:p>
            <a:pPr algn="ctr"/>
            <a:endParaRPr sz="1400" b="1"/>
          </a:p>
        </p:txBody>
      </p:sp>
      <p:sp>
        <p:nvSpPr>
          <p:cNvPr id="6" name="Rounded Rectangle 3">
            <a:extLst>
              <a:ext uri="{FF2B5EF4-FFF2-40B4-BE49-F238E27FC236}">
                <a16:creationId xmlns:a16="http://schemas.microsoft.com/office/drawing/2014/main" id="{3D2FEA22-E215-DEBB-2D3A-F4DE5BA84C6B}"/>
              </a:ext>
            </a:extLst>
          </p:cNvPr>
          <p:cNvSpPr/>
          <p:nvPr/>
        </p:nvSpPr>
        <p:spPr>
          <a:xfrm>
            <a:off x="2905752" y="5095799"/>
            <a:ext cx="847189" cy="734883"/>
          </a:xfrm>
          <a:custGeom>
            <a:avLst/>
            <a:gdLst/>
            <a:ahLst/>
            <a:cxnLst/>
            <a:rect l="0" t="0" r="0" b="0"/>
            <a:pathLst>
              <a:path w="847189" h="734883">
                <a:moveTo>
                  <a:pt x="847189" y="542047"/>
                </a:moveTo>
                <a:lnTo>
                  <a:pt x="364857" y="734883"/>
                </a:lnTo>
                <a:cubicBezTo>
                  <a:pt x="314012" y="607560"/>
                  <a:pt x="189343" y="517812"/>
                  <a:pt x="43930" y="518301"/>
                </a:cubicBezTo>
                <a:cubicBezTo>
                  <a:pt x="38273" y="518301"/>
                  <a:pt x="32686" y="518441"/>
                  <a:pt x="27098" y="518790"/>
                </a:cubicBezTo>
                <a:lnTo>
                  <a:pt x="0" y="0"/>
                </a:lnTo>
                <a:lnTo>
                  <a:pt x="258557" y="62369"/>
                </a:lnTo>
                <a:lnTo>
                  <a:pt x="682152" y="333358"/>
                </a:lnTo>
                <a:lnTo>
                  <a:pt x="847189" y="542047"/>
                </a:lnTo>
              </a:path>
            </a:pathLst>
          </a:custGeom>
          <a:solidFill>
            <a:srgbClr val="EBEBEB"/>
          </a:solidFill>
          <a:ln>
            <a:noFill/>
          </a:ln>
        </p:spPr>
        <p:txBody>
          <a:bodyPr rtlCol="0" anchor="ctr"/>
          <a:lstStyle/>
          <a:p>
            <a:pPr algn="ctr"/>
            <a:endParaRPr sz="1400" b="1"/>
          </a:p>
        </p:txBody>
      </p:sp>
      <p:sp>
        <p:nvSpPr>
          <p:cNvPr id="7" name="Rounded Rectangle 4">
            <a:extLst>
              <a:ext uri="{FF2B5EF4-FFF2-40B4-BE49-F238E27FC236}">
                <a16:creationId xmlns:a16="http://schemas.microsoft.com/office/drawing/2014/main" id="{CD0BB5BA-7093-A09A-9BE7-2FAD0B0178FD}"/>
              </a:ext>
            </a:extLst>
          </p:cNvPr>
          <p:cNvSpPr/>
          <p:nvPr/>
        </p:nvSpPr>
        <p:spPr>
          <a:xfrm>
            <a:off x="2905752" y="5095799"/>
            <a:ext cx="847189" cy="734883"/>
          </a:xfrm>
          <a:custGeom>
            <a:avLst/>
            <a:gdLst/>
            <a:ahLst/>
            <a:cxnLst/>
            <a:rect l="0" t="0" r="0" b="0"/>
            <a:pathLst>
              <a:path w="847189" h="734883">
                <a:moveTo>
                  <a:pt x="847189" y="542047"/>
                </a:moveTo>
                <a:lnTo>
                  <a:pt x="364857" y="734883"/>
                </a:lnTo>
                <a:cubicBezTo>
                  <a:pt x="314012" y="607560"/>
                  <a:pt x="189343" y="517812"/>
                  <a:pt x="43930" y="518301"/>
                </a:cubicBezTo>
                <a:cubicBezTo>
                  <a:pt x="38273" y="518301"/>
                  <a:pt x="32686" y="518441"/>
                  <a:pt x="27098" y="518790"/>
                </a:cubicBezTo>
                <a:lnTo>
                  <a:pt x="0" y="0"/>
                </a:lnTo>
                <a:lnTo>
                  <a:pt x="258557" y="62369"/>
                </a:lnTo>
                <a:lnTo>
                  <a:pt x="682152" y="333358"/>
                </a:lnTo>
                <a:lnTo>
                  <a:pt x="847189" y="542047"/>
                </a:lnTo>
                <a:close/>
              </a:path>
            </a:pathLst>
          </a:custGeom>
          <a:noFill/>
          <a:ln w="10476">
            <a:solidFill>
              <a:srgbClr val="FFFFFF"/>
            </a:solidFill>
          </a:ln>
        </p:spPr>
        <p:txBody>
          <a:bodyPr rtlCol="0" anchor="ctr"/>
          <a:lstStyle/>
          <a:p>
            <a:pPr algn="ctr"/>
            <a:endParaRPr sz="1400" b="1"/>
          </a:p>
        </p:txBody>
      </p:sp>
      <p:sp>
        <p:nvSpPr>
          <p:cNvPr id="8" name="Rounded Rectangle 5">
            <a:extLst>
              <a:ext uri="{FF2B5EF4-FFF2-40B4-BE49-F238E27FC236}">
                <a16:creationId xmlns:a16="http://schemas.microsoft.com/office/drawing/2014/main" id="{DA1A96AC-4DC5-355B-BDD1-BA32816002F0}"/>
              </a:ext>
            </a:extLst>
          </p:cNvPr>
          <p:cNvSpPr/>
          <p:nvPr/>
        </p:nvSpPr>
        <p:spPr>
          <a:xfrm>
            <a:off x="2932851" y="1423339"/>
            <a:ext cx="3147244" cy="4535155"/>
          </a:xfrm>
          <a:custGeom>
            <a:avLst/>
            <a:gdLst/>
            <a:ahLst/>
            <a:cxnLst/>
            <a:rect l="0" t="0" r="0" b="0"/>
            <a:pathLst>
              <a:path w="3147244" h="4535155">
                <a:moveTo>
                  <a:pt x="337758" y="4407343"/>
                </a:moveTo>
                <a:lnTo>
                  <a:pt x="17949" y="4535155"/>
                </a:lnTo>
                <a:lnTo>
                  <a:pt x="0" y="4191250"/>
                </a:lnTo>
                <a:cubicBezTo>
                  <a:pt x="5587" y="4190901"/>
                  <a:pt x="11174" y="4190761"/>
                  <a:pt x="16832" y="4190761"/>
                </a:cubicBezTo>
                <a:cubicBezTo>
                  <a:pt x="162244" y="4190272"/>
                  <a:pt x="286913" y="4280020"/>
                  <a:pt x="337758" y="4407343"/>
                </a:cubicBezTo>
                <a:moveTo>
                  <a:pt x="3063223" y="708831"/>
                </a:moveTo>
                <a:lnTo>
                  <a:pt x="3097795" y="654843"/>
                </a:lnTo>
                <a:cubicBezTo>
                  <a:pt x="3147244" y="577527"/>
                  <a:pt x="3139841" y="476884"/>
                  <a:pt x="3079567" y="407601"/>
                </a:cubicBezTo>
                <a:cubicBezTo>
                  <a:pt x="2921373" y="225940"/>
                  <a:pt x="2714430" y="93449"/>
                  <a:pt x="2483251" y="25911"/>
                </a:cubicBezTo>
                <a:lnTo>
                  <a:pt x="2482762" y="25911"/>
                </a:lnTo>
                <a:cubicBezTo>
                  <a:pt x="2394621" y="0"/>
                  <a:pt x="2300054" y="35480"/>
                  <a:pt x="2250605" y="112795"/>
                </a:cubicBezTo>
                <a:lnTo>
                  <a:pt x="2217430" y="164688"/>
                </a:lnTo>
                <a:lnTo>
                  <a:pt x="2475848" y="227686"/>
                </a:lnTo>
                <a:lnTo>
                  <a:pt x="2898744" y="499793"/>
                </a:lnTo>
                <a:lnTo>
                  <a:pt x="3063223" y="708762"/>
                </a:lnTo>
              </a:path>
            </a:pathLst>
          </a:custGeom>
          <a:solidFill>
            <a:srgbClr val="EBEBEB"/>
          </a:solidFill>
          <a:ln>
            <a:noFill/>
          </a:ln>
        </p:spPr>
        <p:txBody>
          <a:bodyPr rtlCol="0" anchor="ctr"/>
          <a:lstStyle/>
          <a:p>
            <a:pPr algn="ctr"/>
            <a:endParaRPr sz="1400" b="1"/>
          </a:p>
        </p:txBody>
      </p:sp>
      <p:sp>
        <p:nvSpPr>
          <p:cNvPr id="9" name="Rounded Rectangle 6">
            <a:extLst>
              <a:ext uri="{FF2B5EF4-FFF2-40B4-BE49-F238E27FC236}">
                <a16:creationId xmlns:a16="http://schemas.microsoft.com/office/drawing/2014/main" id="{C168E12A-52F1-9E3B-79B4-2F75949877F5}"/>
              </a:ext>
            </a:extLst>
          </p:cNvPr>
          <p:cNvSpPr/>
          <p:nvPr/>
        </p:nvSpPr>
        <p:spPr>
          <a:xfrm>
            <a:off x="2932851" y="1423336"/>
            <a:ext cx="3147244" cy="4535155"/>
          </a:xfrm>
          <a:custGeom>
            <a:avLst/>
            <a:gdLst/>
            <a:ahLst/>
            <a:cxnLst/>
            <a:rect l="0" t="0" r="0" b="0"/>
            <a:pathLst>
              <a:path w="3147244" h="4535155">
                <a:moveTo>
                  <a:pt x="337758" y="4407343"/>
                </a:moveTo>
                <a:lnTo>
                  <a:pt x="17949" y="4535155"/>
                </a:lnTo>
                <a:lnTo>
                  <a:pt x="0" y="4191250"/>
                </a:lnTo>
                <a:cubicBezTo>
                  <a:pt x="5587" y="4190901"/>
                  <a:pt x="11174" y="4190761"/>
                  <a:pt x="16832" y="4190761"/>
                </a:cubicBezTo>
                <a:cubicBezTo>
                  <a:pt x="162244" y="4190272"/>
                  <a:pt x="286913" y="4280020"/>
                  <a:pt x="337758" y="4407343"/>
                </a:cubicBezTo>
                <a:close/>
                <a:moveTo>
                  <a:pt x="3063223" y="708831"/>
                </a:moveTo>
                <a:lnTo>
                  <a:pt x="3097795" y="654843"/>
                </a:lnTo>
                <a:cubicBezTo>
                  <a:pt x="3147244" y="577527"/>
                  <a:pt x="3139841" y="476884"/>
                  <a:pt x="3079567" y="407601"/>
                </a:cubicBezTo>
                <a:cubicBezTo>
                  <a:pt x="2921373" y="225940"/>
                  <a:pt x="2714430" y="93449"/>
                  <a:pt x="2483251" y="25911"/>
                </a:cubicBezTo>
                <a:lnTo>
                  <a:pt x="2482762" y="25771"/>
                </a:lnTo>
                <a:cubicBezTo>
                  <a:pt x="2394621" y="0"/>
                  <a:pt x="2300054" y="35480"/>
                  <a:pt x="2250605" y="112795"/>
                </a:cubicBezTo>
                <a:lnTo>
                  <a:pt x="2217430" y="164688"/>
                </a:lnTo>
                <a:lnTo>
                  <a:pt x="2475848" y="227686"/>
                </a:lnTo>
                <a:lnTo>
                  <a:pt x="2898744" y="499793"/>
                </a:lnTo>
                <a:lnTo>
                  <a:pt x="3063223" y="708762"/>
                </a:lnTo>
                <a:lnTo>
                  <a:pt x="3063223" y="708831"/>
                </a:lnTo>
                <a:close/>
              </a:path>
            </a:pathLst>
          </a:custGeom>
          <a:noFill/>
          <a:ln w="10476">
            <a:solidFill>
              <a:srgbClr val="FFFFFF"/>
            </a:solidFill>
          </a:ln>
        </p:spPr>
        <p:txBody>
          <a:bodyPr rtlCol="0" anchor="ctr"/>
          <a:lstStyle/>
          <a:p>
            <a:pPr algn="ctr"/>
            <a:endParaRPr sz="1400" b="1"/>
          </a:p>
        </p:txBody>
      </p:sp>
      <p:sp>
        <p:nvSpPr>
          <p:cNvPr id="10" name="Rounded Rectangle 7">
            <a:extLst>
              <a:ext uri="{FF2B5EF4-FFF2-40B4-BE49-F238E27FC236}">
                <a16:creationId xmlns:a16="http://schemas.microsoft.com/office/drawing/2014/main" id="{6E344FB2-7BE5-ED7D-573E-E74A63660894}"/>
              </a:ext>
            </a:extLst>
          </p:cNvPr>
          <p:cNvSpPr/>
          <p:nvPr/>
        </p:nvSpPr>
        <p:spPr>
          <a:xfrm>
            <a:off x="2905752" y="4605435"/>
            <a:ext cx="1160922" cy="1032412"/>
          </a:xfrm>
          <a:custGeom>
            <a:avLst/>
            <a:gdLst/>
            <a:ahLst/>
            <a:cxnLst/>
            <a:rect l="0" t="0" r="0" b="0"/>
            <a:pathLst>
              <a:path w="1160922" h="1032412">
                <a:moveTo>
                  <a:pt x="1160922" y="541978"/>
                </a:moveTo>
                <a:lnTo>
                  <a:pt x="847189" y="1032412"/>
                </a:lnTo>
                <a:lnTo>
                  <a:pt x="682152" y="823722"/>
                </a:lnTo>
                <a:lnTo>
                  <a:pt x="995884" y="333358"/>
                </a:lnTo>
                <a:lnTo>
                  <a:pt x="1160922" y="541978"/>
                </a:lnTo>
                <a:moveTo>
                  <a:pt x="572359" y="62369"/>
                </a:moveTo>
                <a:lnTo>
                  <a:pt x="258557" y="552733"/>
                </a:lnTo>
                <a:lnTo>
                  <a:pt x="0" y="490364"/>
                </a:lnTo>
                <a:lnTo>
                  <a:pt x="313732" y="0"/>
                </a:lnTo>
                <a:lnTo>
                  <a:pt x="572359" y="62369"/>
                </a:lnTo>
                <a:moveTo>
                  <a:pt x="995884" y="333358"/>
                </a:moveTo>
                <a:lnTo>
                  <a:pt x="682152" y="823722"/>
                </a:lnTo>
                <a:lnTo>
                  <a:pt x="258557" y="552733"/>
                </a:lnTo>
                <a:lnTo>
                  <a:pt x="572359" y="62369"/>
                </a:lnTo>
                <a:lnTo>
                  <a:pt x="995884" y="333358"/>
                </a:lnTo>
              </a:path>
            </a:pathLst>
          </a:custGeom>
          <a:solidFill>
            <a:srgbClr val="D1F4FF"/>
          </a:solidFill>
          <a:ln>
            <a:noFill/>
          </a:ln>
        </p:spPr>
        <p:txBody>
          <a:bodyPr rtlCol="0" anchor="ctr"/>
          <a:lstStyle/>
          <a:p>
            <a:pPr algn="ctr"/>
            <a:endParaRPr sz="1400" b="1"/>
          </a:p>
        </p:txBody>
      </p:sp>
      <p:sp>
        <p:nvSpPr>
          <p:cNvPr id="11" name="Rounded Rectangle 8">
            <a:extLst>
              <a:ext uri="{FF2B5EF4-FFF2-40B4-BE49-F238E27FC236}">
                <a16:creationId xmlns:a16="http://schemas.microsoft.com/office/drawing/2014/main" id="{F467B2FD-7F71-6169-CF00-B24DC2933CBC}"/>
              </a:ext>
            </a:extLst>
          </p:cNvPr>
          <p:cNvSpPr/>
          <p:nvPr/>
        </p:nvSpPr>
        <p:spPr>
          <a:xfrm>
            <a:off x="2905752" y="4605435"/>
            <a:ext cx="1160922" cy="1032412"/>
          </a:xfrm>
          <a:custGeom>
            <a:avLst/>
            <a:gdLst/>
            <a:ahLst/>
            <a:cxnLst/>
            <a:rect l="0" t="0" r="0" b="0"/>
            <a:pathLst>
              <a:path w="1160922" h="1032412">
                <a:moveTo>
                  <a:pt x="1160922" y="541978"/>
                </a:moveTo>
                <a:lnTo>
                  <a:pt x="847189" y="1032412"/>
                </a:lnTo>
                <a:lnTo>
                  <a:pt x="682152" y="823722"/>
                </a:lnTo>
                <a:lnTo>
                  <a:pt x="995884" y="333358"/>
                </a:lnTo>
                <a:lnTo>
                  <a:pt x="1160922" y="541978"/>
                </a:lnTo>
                <a:close/>
                <a:moveTo>
                  <a:pt x="572359" y="62369"/>
                </a:moveTo>
                <a:lnTo>
                  <a:pt x="258557" y="552733"/>
                </a:lnTo>
                <a:lnTo>
                  <a:pt x="0" y="490364"/>
                </a:lnTo>
                <a:lnTo>
                  <a:pt x="313732" y="0"/>
                </a:lnTo>
                <a:lnTo>
                  <a:pt x="572359" y="62369"/>
                </a:lnTo>
                <a:close/>
                <a:moveTo>
                  <a:pt x="995884" y="333358"/>
                </a:moveTo>
                <a:lnTo>
                  <a:pt x="682152" y="823722"/>
                </a:lnTo>
                <a:lnTo>
                  <a:pt x="258557" y="552733"/>
                </a:lnTo>
                <a:lnTo>
                  <a:pt x="572359" y="62369"/>
                </a:lnTo>
                <a:lnTo>
                  <a:pt x="995884" y="333358"/>
                </a:lnTo>
                <a:close/>
              </a:path>
            </a:pathLst>
          </a:custGeom>
          <a:noFill/>
          <a:ln w="10476">
            <a:solidFill>
              <a:srgbClr val="FFFFFF"/>
            </a:solidFill>
          </a:ln>
        </p:spPr>
        <p:txBody>
          <a:bodyPr rtlCol="0" anchor="ctr"/>
          <a:lstStyle/>
          <a:p>
            <a:pPr algn="ctr"/>
            <a:endParaRPr sz="1400" b="1"/>
          </a:p>
        </p:txBody>
      </p:sp>
      <p:sp>
        <p:nvSpPr>
          <p:cNvPr id="12" name="Rounded Rectangle 9">
            <a:extLst>
              <a:ext uri="{FF2B5EF4-FFF2-40B4-BE49-F238E27FC236}">
                <a16:creationId xmlns:a16="http://schemas.microsoft.com/office/drawing/2014/main" id="{04AF681F-BEAF-C88F-4BA8-70C5A9CC5966}"/>
              </a:ext>
            </a:extLst>
          </p:cNvPr>
          <p:cNvSpPr/>
          <p:nvPr/>
        </p:nvSpPr>
        <p:spPr>
          <a:xfrm>
            <a:off x="3219485" y="4115063"/>
            <a:ext cx="1160922" cy="1032342"/>
          </a:xfrm>
          <a:custGeom>
            <a:avLst/>
            <a:gdLst/>
            <a:ahLst/>
            <a:cxnLst/>
            <a:rect l="0" t="0" r="0" b="0"/>
            <a:pathLst>
              <a:path w="1160922" h="1032342">
                <a:moveTo>
                  <a:pt x="572359" y="62369"/>
                </a:moveTo>
                <a:lnTo>
                  <a:pt x="258626" y="552733"/>
                </a:lnTo>
                <a:lnTo>
                  <a:pt x="0" y="490364"/>
                </a:lnTo>
                <a:lnTo>
                  <a:pt x="313732" y="0"/>
                </a:lnTo>
                <a:lnTo>
                  <a:pt x="572359" y="62369"/>
                </a:lnTo>
                <a:moveTo>
                  <a:pt x="1160922" y="541978"/>
                </a:moveTo>
                <a:lnTo>
                  <a:pt x="847189" y="1032342"/>
                </a:lnTo>
                <a:lnTo>
                  <a:pt x="682152" y="823722"/>
                </a:lnTo>
                <a:lnTo>
                  <a:pt x="995954" y="333358"/>
                </a:lnTo>
                <a:lnTo>
                  <a:pt x="1160922" y="541978"/>
                </a:lnTo>
                <a:moveTo>
                  <a:pt x="995954" y="333358"/>
                </a:moveTo>
                <a:lnTo>
                  <a:pt x="682152" y="823722"/>
                </a:lnTo>
                <a:lnTo>
                  <a:pt x="258626" y="552733"/>
                </a:lnTo>
                <a:lnTo>
                  <a:pt x="572359" y="62369"/>
                </a:lnTo>
                <a:lnTo>
                  <a:pt x="995954" y="333358"/>
                </a:lnTo>
              </a:path>
            </a:pathLst>
          </a:custGeom>
          <a:solidFill>
            <a:srgbClr val="C8FFE5"/>
          </a:solidFill>
          <a:ln>
            <a:noFill/>
          </a:ln>
        </p:spPr>
        <p:txBody>
          <a:bodyPr rtlCol="0" anchor="ctr"/>
          <a:lstStyle/>
          <a:p>
            <a:pPr algn="ctr"/>
            <a:endParaRPr sz="1400" b="1"/>
          </a:p>
        </p:txBody>
      </p:sp>
      <p:sp>
        <p:nvSpPr>
          <p:cNvPr id="13" name="Rounded Rectangle 10">
            <a:extLst>
              <a:ext uri="{FF2B5EF4-FFF2-40B4-BE49-F238E27FC236}">
                <a16:creationId xmlns:a16="http://schemas.microsoft.com/office/drawing/2014/main" id="{F1AF09D8-2D44-CB4B-0E63-2C2D6F8AE7FE}"/>
              </a:ext>
            </a:extLst>
          </p:cNvPr>
          <p:cNvSpPr/>
          <p:nvPr/>
        </p:nvSpPr>
        <p:spPr>
          <a:xfrm>
            <a:off x="3219485" y="4115063"/>
            <a:ext cx="1160922" cy="1032342"/>
          </a:xfrm>
          <a:custGeom>
            <a:avLst/>
            <a:gdLst/>
            <a:ahLst/>
            <a:cxnLst/>
            <a:rect l="0" t="0" r="0" b="0"/>
            <a:pathLst>
              <a:path w="1160922" h="1032342">
                <a:moveTo>
                  <a:pt x="572359" y="62369"/>
                </a:moveTo>
                <a:lnTo>
                  <a:pt x="258626" y="552733"/>
                </a:lnTo>
                <a:lnTo>
                  <a:pt x="0" y="490364"/>
                </a:lnTo>
                <a:lnTo>
                  <a:pt x="313732" y="0"/>
                </a:lnTo>
                <a:lnTo>
                  <a:pt x="572359" y="62369"/>
                </a:lnTo>
                <a:close/>
                <a:moveTo>
                  <a:pt x="1160922" y="541978"/>
                </a:moveTo>
                <a:lnTo>
                  <a:pt x="847189" y="1032342"/>
                </a:lnTo>
                <a:lnTo>
                  <a:pt x="682152" y="823722"/>
                </a:lnTo>
                <a:lnTo>
                  <a:pt x="995954" y="333358"/>
                </a:lnTo>
                <a:lnTo>
                  <a:pt x="1160922" y="541978"/>
                </a:lnTo>
                <a:close/>
                <a:moveTo>
                  <a:pt x="995954" y="333358"/>
                </a:moveTo>
                <a:lnTo>
                  <a:pt x="682152" y="823722"/>
                </a:lnTo>
                <a:lnTo>
                  <a:pt x="258626" y="552733"/>
                </a:lnTo>
                <a:lnTo>
                  <a:pt x="572359" y="62369"/>
                </a:lnTo>
                <a:lnTo>
                  <a:pt x="995954" y="333358"/>
                </a:lnTo>
                <a:close/>
              </a:path>
            </a:pathLst>
          </a:custGeom>
          <a:noFill/>
          <a:ln w="10476">
            <a:solidFill>
              <a:srgbClr val="FFFFFF"/>
            </a:solidFill>
          </a:ln>
        </p:spPr>
        <p:txBody>
          <a:bodyPr rtlCol="0" anchor="ctr"/>
          <a:lstStyle/>
          <a:p>
            <a:pPr algn="ctr"/>
            <a:endParaRPr sz="1400" b="1"/>
          </a:p>
        </p:txBody>
      </p:sp>
      <p:sp>
        <p:nvSpPr>
          <p:cNvPr id="14" name="Rounded Rectangle 11">
            <a:extLst>
              <a:ext uri="{FF2B5EF4-FFF2-40B4-BE49-F238E27FC236}">
                <a16:creationId xmlns:a16="http://schemas.microsoft.com/office/drawing/2014/main" id="{64A29EA8-D9B0-E351-8F7C-FC7C60AF5982}"/>
              </a:ext>
            </a:extLst>
          </p:cNvPr>
          <p:cNvSpPr/>
          <p:nvPr/>
        </p:nvSpPr>
        <p:spPr>
          <a:xfrm>
            <a:off x="3533217" y="3624636"/>
            <a:ext cx="1160922" cy="1032412"/>
          </a:xfrm>
          <a:custGeom>
            <a:avLst/>
            <a:gdLst/>
            <a:ahLst/>
            <a:cxnLst/>
            <a:rect l="0" t="0" r="0" b="0"/>
            <a:pathLst>
              <a:path w="1160922" h="1032412">
                <a:moveTo>
                  <a:pt x="572359" y="62369"/>
                </a:moveTo>
                <a:lnTo>
                  <a:pt x="258626" y="552803"/>
                </a:lnTo>
                <a:lnTo>
                  <a:pt x="0" y="490434"/>
                </a:lnTo>
                <a:lnTo>
                  <a:pt x="313732" y="0"/>
                </a:lnTo>
                <a:lnTo>
                  <a:pt x="572359" y="62369"/>
                </a:lnTo>
                <a:moveTo>
                  <a:pt x="1160922" y="542047"/>
                </a:moveTo>
                <a:lnTo>
                  <a:pt x="847189" y="1032412"/>
                </a:lnTo>
                <a:lnTo>
                  <a:pt x="682221" y="823792"/>
                </a:lnTo>
                <a:lnTo>
                  <a:pt x="995954" y="333428"/>
                </a:lnTo>
                <a:lnTo>
                  <a:pt x="1160922" y="542047"/>
                </a:lnTo>
                <a:moveTo>
                  <a:pt x="995954" y="333428"/>
                </a:moveTo>
                <a:lnTo>
                  <a:pt x="682221" y="823792"/>
                </a:lnTo>
                <a:lnTo>
                  <a:pt x="258626" y="552803"/>
                </a:lnTo>
                <a:lnTo>
                  <a:pt x="572359" y="62369"/>
                </a:lnTo>
                <a:lnTo>
                  <a:pt x="995954" y="333428"/>
                </a:lnTo>
              </a:path>
            </a:pathLst>
          </a:custGeom>
          <a:solidFill>
            <a:srgbClr val="E9FFB9"/>
          </a:solidFill>
          <a:ln>
            <a:noFill/>
          </a:ln>
        </p:spPr>
        <p:txBody>
          <a:bodyPr rtlCol="0" anchor="ctr"/>
          <a:lstStyle/>
          <a:p>
            <a:pPr algn="ctr"/>
            <a:endParaRPr sz="1400" b="1"/>
          </a:p>
        </p:txBody>
      </p:sp>
      <p:sp>
        <p:nvSpPr>
          <p:cNvPr id="15" name="Rounded Rectangle 12">
            <a:extLst>
              <a:ext uri="{FF2B5EF4-FFF2-40B4-BE49-F238E27FC236}">
                <a16:creationId xmlns:a16="http://schemas.microsoft.com/office/drawing/2014/main" id="{EFCBF69A-9A39-E738-1E44-0F74E069CA9E}"/>
              </a:ext>
            </a:extLst>
          </p:cNvPr>
          <p:cNvSpPr/>
          <p:nvPr/>
        </p:nvSpPr>
        <p:spPr>
          <a:xfrm>
            <a:off x="3533217" y="3624636"/>
            <a:ext cx="1160922" cy="1032412"/>
          </a:xfrm>
          <a:custGeom>
            <a:avLst/>
            <a:gdLst/>
            <a:ahLst/>
            <a:cxnLst/>
            <a:rect l="0" t="0" r="0" b="0"/>
            <a:pathLst>
              <a:path w="1160922" h="1032412">
                <a:moveTo>
                  <a:pt x="572359" y="62369"/>
                </a:moveTo>
                <a:lnTo>
                  <a:pt x="258626" y="552803"/>
                </a:lnTo>
                <a:lnTo>
                  <a:pt x="0" y="490434"/>
                </a:lnTo>
                <a:lnTo>
                  <a:pt x="313732" y="0"/>
                </a:lnTo>
                <a:lnTo>
                  <a:pt x="313802" y="0"/>
                </a:lnTo>
                <a:lnTo>
                  <a:pt x="572359" y="62369"/>
                </a:lnTo>
                <a:close/>
                <a:moveTo>
                  <a:pt x="1160922" y="542047"/>
                </a:moveTo>
                <a:lnTo>
                  <a:pt x="847189" y="1032412"/>
                </a:lnTo>
                <a:lnTo>
                  <a:pt x="682221" y="823792"/>
                </a:lnTo>
                <a:lnTo>
                  <a:pt x="995954" y="333428"/>
                </a:lnTo>
                <a:lnTo>
                  <a:pt x="1160922" y="542047"/>
                </a:lnTo>
                <a:close/>
                <a:moveTo>
                  <a:pt x="995954" y="333428"/>
                </a:moveTo>
                <a:lnTo>
                  <a:pt x="682221" y="823792"/>
                </a:lnTo>
                <a:lnTo>
                  <a:pt x="258626" y="552803"/>
                </a:lnTo>
                <a:lnTo>
                  <a:pt x="572359" y="62369"/>
                </a:lnTo>
                <a:lnTo>
                  <a:pt x="995954" y="333428"/>
                </a:lnTo>
                <a:close/>
              </a:path>
            </a:pathLst>
          </a:custGeom>
          <a:noFill/>
          <a:ln w="10476">
            <a:solidFill>
              <a:srgbClr val="FFFFFF"/>
            </a:solidFill>
          </a:ln>
        </p:spPr>
        <p:txBody>
          <a:bodyPr rtlCol="0" anchor="ctr"/>
          <a:lstStyle/>
          <a:p>
            <a:pPr algn="ctr"/>
            <a:endParaRPr sz="1400" b="1"/>
          </a:p>
        </p:txBody>
      </p:sp>
      <p:sp>
        <p:nvSpPr>
          <p:cNvPr id="16" name="Rounded Rectangle 13">
            <a:extLst>
              <a:ext uri="{FF2B5EF4-FFF2-40B4-BE49-F238E27FC236}">
                <a16:creationId xmlns:a16="http://schemas.microsoft.com/office/drawing/2014/main" id="{3E81361D-A6B4-32FC-A29B-5F0C654AB413}"/>
              </a:ext>
            </a:extLst>
          </p:cNvPr>
          <p:cNvSpPr/>
          <p:nvPr/>
        </p:nvSpPr>
        <p:spPr>
          <a:xfrm>
            <a:off x="3847020" y="3134271"/>
            <a:ext cx="1160852" cy="1032412"/>
          </a:xfrm>
          <a:custGeom>
            <a:avLst/>
            <a:gdLst/>
            <a:ahLst/>
            <a:cxnLst/>
            <a:rect l="0" t="0" r="0" b="0"/>
            <a:pathLst>
              <a:path w="1160852" h="1032412">
                <a:moveTo>
                  <a:pt x="1160852" y="542047"/>
                </a:moveTo>
                <a:lnTo>
                  <a:pt x="847120" y="1032412"/>
                </a:lnTo>
                <a:lnTo>
                  <a:pt x="682152" y="823792"/>
                </a:lnTo>
                <a:lnTo>
                  <a:pt x="995884" y="333358"/>
                </a:lnTo>
                <a:lnTo>
                  <a:pt x="1160852" y="542047"/>
                </a:lnTo>
                <a:moveTo>
                  <a:pt x="572289" y="62369"/>
                </a:moveTo>
                <a:lnTo>
                  <a:pt x="258557" y="552733"/>
                </a:lnTo>
                <a:lnTo>
                  <a:pt x="0" y="490364"/>
                </a:lnTo>
                <a:lnTo>
                  <a:pt x="313732" y="0"/>
                </a:lnTo>
                <a:lnTo>
                  <a:pt x="572289" y="62369"/>
                </a:lnTo>
                <a:moveTo>
                  <a:pt x="995884" y="333358"/>
                </a:moveTo>
                <a:lnTo>
                  <a:pt x="682152" y="823792"/>
                </a:lnTo>
                <a:lnTo>
                  <a:pt x="258557" y="552733"/>
                </a:lnTo>
                <a:lnTo>
                  <a:pt x="572289" y="62369"/>
                </a:lnTo>
                <a:lnTo>
                  <a:pt x="995884" y="333358"/>
                </a:lnTo>
              </a:path>
            </a:pathLst>
          </a:custGeom>
          <a:solidFill>
            <a:srgbClr val="FFF8B6"/>
          </a:solidFill>
          <a:ln>
            <a:noFill/>
          </a:ln>
        </p:spPr>
        <p:txBody>
          <a:bodyPr rtlCol="0" anchor="ctr"/>
          <a:lstStyle/>
          <a:p>
            <a:pPr algn="ctr"/>
            <a:endParaRPr sz="1400" b="1"/>
          </a:p>
        </p:txBody>
      </p:sp>
      <p:sp>
        <p:nvSpPr>
          <p:cNvPr id="17" name="Rounded Rectangle 14">
            <a:extLst>
              <a:ext uri="{FF2B5EF4-FFF2-40B4-BE49-F238E27FC236}">
                <a16:creationId xmlns:a16="http://schemas.microsoft.com/office/drawing/2014/main" id="{1630950D-A710-E162-23BD-ED773760E6A1}"/>
              </a:ext>
            </a:extLst>
          </p:cNvPr>
          <p:cNvSpPr/>
          <p:nvPr/>
        </p:nvSpPr>
        <p:spPr>
          <a:xfrm>
            <a:off x="3847020" y="3134271"/>
            <a:ext cx="1160852" cy="1032412"/>
          </a:xfrm>
          <a:custGeom>
            <a:avLst/>
            <a:gdLst/>
            <a:ahLst/>
            <a:cxnLst/>
            <a:rect l="0" t="0" r="0" b="0"/>
            <a:pathLst>
              <a:path w="1160852" h="1032412">
                <a:moveTo>
                  <a:pt x="1160852" y="542047"/>
                </a:moveTo>
                <a:lnTo>
                  <a:pt x="847120" y="1032412"/>
                </a:lnTo>
                <a:lnTo>
                  <a:pt x="682152" y="823792"/>
                </a:lnTo>
                <a:lnTo>
                  <a:pt x="995884" y="333358"/>
                </a:lnTo>
                <a:lnTo>
                  <a:pt x="1160852" y="542047"/>
                </a:lnTo>
                <a:close/>
                <a:moveTo>
                  <a:pt x="572289" y="62369"/>
                </a:moveTo>
                <a:lnTo>
                  <a:pt x="258557" y="552733"/>
                </a:lnTo>
                <a:lnTo>
                  <a:pt x="0" y="490364"/>
                </a:lnTo>
                <a:lnTo>
                  <a:pt x="313732" y="0"/>
                </a:lnTo>
                <a:lnTo>
                  <a:pt x="572289" y="62369"/>
                </a:lnTo>
                <a:close/>
                <a:moveTo>
                  <a:pt x="995884" y="333358"/>
                </a:moveTo>
                <a:lnTo>
                  <a:pt x="682152" y="823792"/>
                </a:lnTo>
                <a:lnTo>
                  <a:pt x="258557" y="552733"/>
                </a:lnTo>
                <a:lnTo>
                  <a:pt x="572289" y="62369"/>
                </a:lnTo>
                <a:lnTo>
                  <a:pt x="995884" y="333358"/>
                </a:lnTo>
                <a:close/>
              </a:path>
            </a:pathLst>
          </a:custGeom>
          <a:noFill/>
          <a:ln w="10476">
            <a:solidFill>
              <a:srgbClr val="FFFFFF"/>
            </a:solidFill>
          </a:ln>
        </p:spPr>
        <p:txBody>
          <a:bodyPr rtlCol="0" anchor="ctr"/>
          <a:lstStyle/>
          <a:p>
            <a:pPr algn="ctr"/>
            <a:endParaRPr sz="1400" b="1"/>
          </a:p>
        </p:txBody>
      </p:sp>
      <p:sp>
        <p:nvSpPr>
          <p:cNvPr id="18" name="Rounded Rectangle 15">
            <a:extLst>
              <a:ext uri="{FF2B5EF4-FFF2-40B4-BE49-F238E27FC236}">
                <a16:creationId xmlns:a16="http://schemas.microsoft.com/office/drawing/2014/main" id="{1700CA4D-6C7A-BA18-7FB3-5E0333C14E70}"/>
              </a:ext>
            </a:extLst>
          </p:cNvPr>
          <p:cNvSpPr/>
          <p:nvPr/>
        </p:nvSpPr>
        <p:spPr>
          <a:xfrm>
            <a:off x="4160753" y="2643907"/>
            <a:ext cx="1160922" cy="1032412"/>
          </a:xfrm>
          <a:custGeom>
            <a:avLst/>
            <a:gdLst/>
            <a:ahLst/>
            <a:cxnLst/>
            <a:rect l="0" t="0" r="0" b="0"/>
            <a:pathLst>
              <a:path w="1160922" h="1032412">
                <a:moveTo>
                  <a:pt x="572289" y="62369"/>
                </a:moveTo>
                <a:lnTo>
                  <a:pt x="258557" y="552733"/>
                </a:lnTo>
                <a:lnTo>
                  <a:pt x="0" y="490364"/>
                </a:lnTo>
                <a:lnTo>
                  <a:pt x="313732" y="0"/>
                </a:lnTo>
                <a:lnTo>
                  <a:pt x="572289" y="62369"/>
                </a:lnTo>
                <a:moveTo>
                  <a:pt x="1160922" y="541978"/>
                </a:moveTo>
                <a:lnTo>
                  <a:pt x="847120" y="1032412"/>
                </a:lnTo>
                <a:lnTo>
                  <a:pt x="682152" y="823722"/>
                </a:lnTo>
                <a:lnTo>
                  <a:pt x="995884" y="333358"/>
                </a:lnTo>
                <a:lnTo>
                  <a:pt x="1160922" y="541978"/>
                </a:lnTo>
                <a:moveTo>
                  <a:pt x="572296" y="62397"/>
                </a:moveTo>
                <a:lnTo>
                  <a:pt x="258571" y="552761"/>
                </a:lnTo>
                <a:lnTo>
                  <a:pt x="682166" y="823764"/>
                </a:lnTo>
                <a:lnTo>
                  <a:pt x="995884" y="333400"/>
                </a:lnTo>
                <a:lnTo>
                  <a:pt x="572296" y="62397"/>
                </a:lnTo>
              </a:path>
            </a:pathLst>
          </a:custGeom>
          <a:solidFill>
            <a:srgbClr val="FFE4CB"/>
          </a:solidFill>
          <a:ln>
            <a:noFill/>
          </a:ln>
        </p:spPr>
        <p:txBody>
          <a:bodyPr rtlCol="0" anchor="ctr"/>
          <a:lstStyle/>
          <a:p>
            <a:pPr algn="ctr"/>
            <a:endParaRPr sz="1400" b="1"/>
          </a:p>
        </p:txBody>
      </p:sp>
      <p:sp>
        <p:nvSpPr>
          <p:cNvPr id="19" name="Rounded Rectangle 16">
            <a:extLst>
              <a:ext uri="{FF2B5EF4-FFF2-40B4-BE49-F238E27FC236}">
                <a16:creationId xmlns:a16="http://schemas.microsoft.com/office/drawing/2014/main" id="{6E3DEC08-ABDF-4D96-6146-7BE1CBFED808}"/>
              </a:ext>
            </a:extLst>
          </p:cNvPr>
          <p:cNvSpPr/>
          <p:nvPr/>
        </p:nvSpPr>
        <p:spPr>
          <a:xfrm>
            <a:off x="4160753" y="2643907"/>
            <a:ext cx="1160922" cy="1032412"/>
          </a:xfrm>
          <a:custGeom>
            <a:avLst/>
            <a:gdLst/>
            <a:ahLst/>
            <a:cxnLst/>
            <a:rect l="0" t="0" r="0" b="0"/>
            <a:pathLst>
              <a:path w="1160922" h="1032412">
                <a:moveTo>
                  <a:pt x="572289" y="62369"/>
                </a:moveTo>
                <a:lnTo>
                  <a:pt x="258557" y="552733"/>
                </a:lnTo>
                <a:lnTo>
                  <a:pt x="0" y="490364"/>
                </a:lnTo>
                <a:lnTo>
                  <a:pt x="313732" y="0"/>
                </a:lnTo>
                <a:lnTo>
                  <a:pt x="572289" y="62369"/>
                </a:lnTo>
                <a:close/>
                <a:moveTo>
                  <a:pt x="1160922" y="541978"/>
                </a:moveTo>
                <a:lnTo>
                  <a:pt x="847120" y="1032412"/>
                </a:lnTo>
                <a:lnTo>
                  <a:pt x="682152" y="823722"/>
                </a:lnTo>
                <a:lnTo>
                  <a:pt x="995884" y="333358"/>
                </a:lnTo>
                <a:lnTo>
                  <a:pt x="1160922" y="541978"/>
                </a:lnTo>
                <a:close/>
                <a:moveTo>
                  <a:pt x="572295" y="62393"/>
                </a:moveTo>
                <a:lnTo>
                  <a:pt x="258570" y="552761"/>
                </a:lnTo>
                <a:lnTo>
                  <a:pt x="682163" y="823765"/>
                </a:lnTo>
                <a:lnTo>
                  <a:pt x="995888" y="333397"/>
                </a:lnTo>
                <a:lnTo>
                  <a:pt x="572295" y="62393"/>
                </a:lnTo>
                <a:close/>
              </a:path>
            </a:pathLst>
          </a:custGeom>
          <a:noFill/>
          <a:ln w="10476">
            <a:solidFill>
              <a:srgbClr val="FFFFFF"/>
            </a:solidFill>
          </a:ln>
        </p:spPr>
        <p:txBody>
          <a:bodyPr rtlCol="0" anchor="ctr"/>
          <a:lstStyle/>
          <a:p>
            <a:pPr algn="ctr"/>
            <a:endParaRPr sz="1400" b="1"/>
          </a:p>
        </p:txBody>
      </p:sp>
      <p:sp>
        <p:nvSpPr>
          <p:cNvPr id="20" name="Rounded Rectangle 17">
            <a:extLst>
              <a:ext uri="{FF2B5EF4-FFF2-40B4-BE49-F238E27FC236}">
                <a16:creationId xmlns:a16="http://schemas.microsoft.com/office/drawing/2014/main" id="{AA5F73C3-47EC-E1F9-3ECC-EBC02AE287FA}"/>
              </a:ext>
            </a:extLst>
          </p:cNvPr>
          <p:cNvSpPr/>
          <p:nvPr/>
        </p:nvSpPr>
        <p:spPr>
          <a:xfrm>
            <a:off x="4474485" y="2153542"/>
            <a:ext cx="1160922" cy="1032342"/>
          </a:xfrm>
          <a:custGeom>
            <a:avLst/>
            <a:gdLst/>
            <a:ahLst/>
            <a:cxnLst/>
            <a:rect l="0" t="0" r="0" b="0"/>
            <a:pathLst>
              <a:path w="1160922" h="1032342">
                <a:moveTo>
                  <a:pt x="1160922" y="541978"/>
                </a:moveTo>
                <a:lnTo>
                  <a:pt x="847189" y="1032342"/>
                </a:lnTo>
                <a:lnTo>
                  <a:pt x="682152" y="823722"/>
                </a:lnTo>
                <a:lnTo>
                  <a:pt x="995884" y="333358"/>
                </a:lnTo>
                <a:lnTo>
                  <a:pt x="1160922" y="541978"/>
                </a:lnTo>
                <a:moveTo>
                  <a:pt x="572289" y="62369"/>
                </a:moveTo>
                <a:lnTo>
                  <a:pt x="258557" y="552733"/>
                </a:lnTo>
                <a:lnTo>
                  <a:pt x="0" y="490364"/>
                </a:lnTo>
                <a:lnTo>
                  <a:pt x="313732" y="0"/>
                </a:lnTo>
                <a:lnTo>
                  <a:pt x="572289" y="62369"/>
                </a:lnTo>
                <a:moveTo>
                  <a:pt x="572268" y="62348"/>
                </a:moveTo>
                <a:lnTo>
                  <a:pt x="258543" y="552719"/>
                </a:lnTo>
                <a:lnTo>
                  <a:pt x="682138" y="823722"/>
                </a:lnTo>
                <a:lnTo>
                  <a:pt x="995863" y="333351"/>
                </a:lnTo>
                <a:lnTo>
                  <a:pt x="572268" y="62348"/>
                </a:lnTo>
              </a:path>
            </a:pathLst>
          </a:custGeom>
          <a:solidFill>
            <a:srgbClr val="FFD9D8"/>
          </a:solidFill>
          <a:ln>
            <a:noFill/>
          </a:ln>
        </p:spPr>
        <p:txBody>
          <a:bodyPr rtlCol="0" anchor="ctr"/>
          <a:lstStyle/>
          <a:p>
            <a:pPr algn="ctr"/>
            <a:endParaRPr sz="1400" b="1"/>
          </a:p>
        </p:txBody>
      </p:sp>
      <p:sp>
        <p:nvSpPr>
          <p:cNvPr id="21" name="Rounded Rectangle 18">
            <a:extLst>
              <a:ext uri="{FF2B5EF4-FFF2-40B4-BE49-F238E27FC236}">
                <a16:creationId xmlns:a16="http://schemas.microsoft.com/office/drawing/2014/main" id="{07970801-2EEC-3551-FFFF-42E7F421B4ED}"/>
              </a:ext>
            </a:extLst>
          </p:cNvPr>
          <p:cNvSpPr/>
          <p:nvPr/>
        </p:nvSpPr>
        <p:spPr>
          <a:xfrm>
            <a:off x="4474485" y="2153542"/>
            <a:ext cx="1160922" cy="1032342"/>
          </a:xfrm>
          <a:custGeom>
            <a:avLst/>
            <a:gdLst/>
            <a:ahLst/>
            <a:cxnLst/>
            <a:rect l="0" t="0" r="0" b="0"/>
            <a:pathLst>
              <a:path w="1160922" h="1032342">
                <a:moveTo>
                  <a:pt x="1160922" y="541978"/>
                </a:moveTo>
                <a:lnTo>
                  <a:pt x="847189" y="1032342"/>
                </a:lnTo>
                <a:lnTo>
                  <a:pt x="682152" y="823722"/>
                </a:lnTo>
                <a:lnTo>
                  <a:pt x="995884" y="333358"/>
                </a:lnTo>
                <a:lnTo>
                  <a:pt x="1160922" y="541978"/>
                </a:lnTo>
                <a:close/>
                <a:moveTo>
                  <a:pt x="572289" y="62369"/>
                </a:moveTo>
                <a:lnTo>
                  <a:pt x="258557" y="552733"/>
                </a:lnTo>
                <a:lnTo>
                  <a:pt x="0" y="490364"/>
                </a:lnTo>
                <a:lnTo>
                  <a:pt x="313732" y="0"/>
                </a:lnTo>
                <a:lnTo>
                  <a:pt x="572289" y="62369"/>
                </a:lnTo>
                <a:close/>
                <a:moveTo>
                  <a:pt x="572268" y="62350"/>
                </a:moveTo>
                <a:lnTo>
                  <a:pt x="258543" y="552719"/>
                </a:lnTo>
                <a:lnTo>
                  <a:pt x="682137" y="823722"/>
                </a:lnTo>
                <a:lnTo>
                  <a:pt x="995861" y="333354"/>
                </a:lnTo>
                <a:lnTo>
                  <a:pt x="572268" y="62350"/>
                </a:lnTo>
                <a:close/>
              </a:path>
            </a:pathLst>
          </a:custGeom>
          <a:noFill/>
          <a:ln w="10476">
            <a:solidFill>
              <a:srgbClr val="FFFFFF"/>
            </a:solidFill>
          </a:ln>
        </p:spPr>
        <p:txBody>
          <a:bodyPr rtlCol="0" anchor="ctr"/>
          <a:lstStyle/>
          <a:p>
            <a:pPr algn="ctr"/>
            <a:endParaRPr sz="1400" b="1"/>
          </a:p>
        </p:txBody>
      </p:sp>
      <p:sp>
        <p:nvSpPr>
          <p:cNvPr id="22" name="Rounded Rectangle 19">
            <a:extLst>
              <a:ext uri="{FF2B5EF4-FFF2-40B4-BE49-F238E27FC236}">
                <a16:creationId xmlns:a16="http://schemas.microsoft.com/office/drawing/2014/main" id="{78BDC046-53CA-4220-F33B-F7D12508C99B}"/>
              </a:ext>
            </a:extLst>
          </p:cNvPr>
          <p:cNvSpPr/>
          <p:nvPr/>
        </p:nvSpPr>
        <p:spPr>
          <a:xfrm>
            <a:off x="4788218" y="1661013"/>
            <a:ext cx="1160922" cy="1034507"/>
          </a:xfrm>
          <a:custGeom>
            <a:avLst/>
            <a:gdLst/>
            <a:ahLst/>
            <a:cxnLst/>
            <a:rect l="0" t="0" r="0" b="0"/>
            <a:pathLst>
              <a:path w="1160922" h="1034507">
                <a:moveTo>
                  <a:pt x="1160922" y="544143"/>
                </a:moveTo>
                <a:lnTo>
                  <a:pt x="847189" y="1034507"/>
                </a:lnTo>
                <a:lnTo>
                  <a:pt x="682152" y="825888"/>
                </a:lnTo>
                <a:lnTo>
                  <a:pt x="995884" y="335523"/>
                </a:lnTo>
                <a:lnTo>
                  <a:pt x="1160922" y="544143"/>
                </a:lnTo>
                <a:moveTo>
                  <a:pt x="573546" y="62997"/>
                </a:moveTo>
                <a:lnTo>
                  <a:pt x="258557" y="554898"/>
                </a:lnTo>
                <a:lnTo>
                  <a:pt x="0" y="492529"/>
                </a:lnTo>
                <a:lnTo>
                  <a:pt x="315129" y="0"/>
                </a:lnTo>
                <a:lnTo>
                  <a:pt x="573546" y="62997"/>
                </a:lnTo>
                <a:moveTo>
                  <a:pt x="995884" y="335523"/>
                </a:moveTo>
                <a:lnTo>
                  <a:pt x="682152" y="825888"/>
                </a:lnTo>
                <a:lnTo>
                  <a:pt x="258557" y="554898"/>
                </a:lnTo>
                <a:lnTo>
                  <a:pt x="573546" y="62997"/>
                </a:lnTo>
                <a:lnTo>
                  <a:pt x="995884" y="335523"/>
                </a:lnTo>
              </a:path>
            </a:pathLst>
          </a:custGeom>
          <a:solidFill>
            <a:srgbClr val="FFD7EF"/>
          </a:solidFill>
          <a:ln>
            <a:noFill/>
          </a:ln>
        </p:spPr>
        <p:txBody>
          <a:bodyPr rtlCol="0" anchor="ctr"/>
          <a:lstStyle/>
          <a:p>
            <a:pPr algn="ctr"/>
            <a:endParaRPr sz="1400" b="1"/>
          </a:p>
        </p:txBody>
      </p:sp>
      <p:sp>
        <p:nvSpPr>
          <p:cNvPr id="23" name="Rounded Rectangle 20">
            <a:extLst>
              <a:ext uri="{FF2B5EF4-FFF2-40B4-BE49-F238E27FC236}">
                <a16:creationId xmlns:a16="http://schemas.microsoft.com/office/drawing/2014/main" id="{281F69AC-D03A-6A33-FC97-F3A09477B78E}"/>
              </a:ext>
            </a:extLst>
          </p:cNvPr>
          <p:cNvSpPr/>
          <p:nvPr/>
        </p:nvSpPr>
        <p:spPr>
          <a:xfrm>
            <a:off x="4788218" y="1661013"/>
            <a:ext cx="1160922" cy="1034507"/>
          </a:xfrm>
          <a:custGeom>
            <a:avLst/>
            <a:gdLst/>
            <a:ahLst/>
            <a:cxnLst/>
            <a:rect l="0" t="0" r="0" b="0"/>
            <a:pathLst>
              <a:path w="1160922" h="1034507">
                <a:moveTo>
                  <a:pt x="1160922" y="544143"/>
                </a:moveTo>
                <a:lnTo>
                  <a:pt x="847189" y="1034507"/>
                </a:lnTo>
                <a:lnTo>
                  <a:pt x="682152" y="825888"/>
                </a:lnTo>
                <a:lnTo>
                  <a:pt x="995884" y="335523"/>
                </a:lnTo>
                <a:lnTo>
                  <a:pt x="1160922" y="544143"/>
                </a:lnTo>
                <a:close/>
                <a:moveTo>
                  <a:pt x="573546" y="62997"/>
                </a:moveTo>
                <a:lnTo>
                  <a:pt x="258557" y="554898"/>
                </a:lnTo>
                <a:lnTo>
                  <a:pt x="0" y="492529"/>
                </a:lnTo>
                <a:lnTo>
                  <a:pt x="315129" y="0"/>
                </a:lnTo>
                <a:lnTo>
                  <a:pt x="573546" y="62997"/>
                </a:lnTo>
                <a:close/>
                <a:moveTo>
                  <a:pt x="995884" y="335523"/>
                </a:moveTo>
                <a:lnTo>
                  <a:pt x="682152" y="825888"/>
                </a:lnTo>
                <a:lnTo>
                  <a:pt x="258557" y="554898"/>
                </a:lnTo>
                <a:lnTo>
                  <a:pt x="573546" y="62997"/>
                </a:lnTo>
                <a:lnTo>
                  <a:pt x="995884" y="335523"/>
                </a:lnTo>
                <a:close/>
              </a:path>
            </a:pathLst>
          </a:custGeom>
          <a:noFill/>
          <a:ln w="10476">
            <a:solidFill>
              <a:srgbClr val="FFFFFF"/>
            </a:solidFill>
          </a:ln>
        </p:spPr>
        <p:txBody>
          <a:bodyPr rtlCol="0" anchor="ctr"/>
          <a:lstStyle/>
          <a:p>
            <a:pPr algn="ctr"/>
            <a:endParaRPr sz="1400" b="1"/>
          </a:p>
        </p:txBody>
      </p:sp>
      <p:sp>
        <p:nvSpPr>
          <p:cNvPr id="24" name="TextBox 23">
            <a:extLst>
              <a:ext uri="{FF2B5EF4-FFF2-40B4-BE49-F238E27FC236}">
                <a16:creationId xmlns:a16="http://schemas.microsoft.com/office/drawing/2014/main" id="{2BB02732-051B-A58B-8EEF-1603908CD1CC}"/>
              </a:ext>
            </a:extLst>
          </p:cNvPr>
          <p:cNvSpPr txBox="1"/>
          <p:nvPr/>
        </p:nvSpPr>
        <p:spPr>
          <a:xfrm>
            <a:off x="2370085" y="2306254"/>
            <a:ext cx="1698799" cy="430887"/>
          </a:xfrm>
          <a:prstGeom prst="rect">
            <a:avLst/>
          </a:prstGeom>
          <a:noFill/>
          <a:ln>
            <a:noFill/>
          </a:ln>
        </p:spPr>
        <p:txBody>
          <a:bodyPr wrap="none" lIns="0" tIns="0" rIns="0" bIns="0" anchor="t">
            <a:spAutoFit/>
          </a:bodyPr>
          <a:lstStyle/>
          <a:p>
            <a:pPr algn="ctr"/>
            <a:r>
              <a:rPr sz="1400" b="1" dirty="0">
                <a:solidFill>
                  <a:srgbClr val="484848"/>
                </a:solidFill>
                <a:latin typeface="Shantell Sans"/>
              </a:rPr>
              <a:t>Ensuring all parties are
informed and agree</a:t>
            </a:r>
          </a:p>
        </p:txBody>
      </p:sp>
      <p:sp>
        <p:nvSpPr>
          <p:cNvPr id="25" name="TextBox 24">
            <a:extLst>
              <a:ext uri="{FF2B5EF4-FFF2-40B4-BE49-F238E27FC236}">
                <a16:creationId xmlns:a16="http://schemas.microsoft.com/office/drawing/2014/main" id="{3F7D5841-86B5-7B95-2AE0-ACB520A4AD84}"/>
              </a:ext>
            </a:extLst>
          </p:cNvPr>
          <p:cNvSpPr txBox="1"/>
          <p:nvPr/>
        </p:nvSpPr>
        <p:spPr>
          <a:xfrm>
            <a:off x="6394076" y="2394017"/>
            <a:ext cx="1533753" cy="646331"/>
          </a:xfrm>
          <a:prstGeom prst="rect">
            <a:avLst/>
          </a:prstGeom>
          <a:noFill/>
          <a:ln>
            <a:noFill/>
          </a:ln>
        </p:spPr>
        <p:txBody>
          <a:bodyPr wrap="none" lIns="0" tIns="0" rIns="0" bIns="0" anchor="t">
            <a:spAutoFit/>
          </a:bodyPr>
          <a:lstStyle/>
          <a:p>
            <a:pPr algn="l"/>
            <a:r>
              <a:rPr sz="1400" b="1" dirty="0">
                <a:solidFill>
                  <a:srgbClr val="484848"/>
                </a:solidFill>
                <a:latin typeface="Shantell Sans"/>
              </a:rPr>
              <a:t>Facilitating clear and
concise information
exchange</a:t>
            </a:r>
          </a:p>
        </p:txBody>
      </p:sp>
      <p:sp>
        <p:nvSpPr>
          <p:cNvPr id="26" name="TextBox 25">
            <a:extLst>
              <a:ext uri="{FF2B5EF4-FFF2-40B4-BE49-F238E27FC236}">
                <a16:creationId xmlns:a16="http://schemas.microsoft.com/office/drawing/2014/main" id="{D6AE8D78-8DF1-893E-32F7-DF2258DBFEAD}"/>
              </a:ext>
            </a:extLst>
          </p:cNvPr>
          <p:cNvSpPr txBox="1"/>
          <p:nvPr/>
        </p:nvSpPr>
        <p:spPr>
          <a:xfrm>
            <a:off x="2892554" y="1752363"/>
            <a:ext cx="892617" cy="430887"/>
          </a:xfrm>
          <a:prstGeom prst="rect">
            <a:avLst/>
          </a:prstGeom>
          <a:noFill/>
          <a:ln>
            <a:noFill/>
          </a:ln>
        </p:spPr>
        <p:txBody>
          <a:bodyPr wrap="none" lIns="0" tIns="0" rIns="0" bIns="0" anchor="t">
            <a:spAutoFit/>
          </a:bodyPr>
          <a:lstStyle/>
          <a:p>
            <a:pPr algn="ctr"/>
            <a:r>
              <a:rPr sz="1400" b="1" dirty="0">
                <a:solidFill>
                  <a:srgbClr val="E55753"/>
                </a:solidFill>
                <a:latin typeface="Shantell Sans"/>
              </a:rPr>
              <a:t>Stakeholder
Alignment</a:t>
            </a:r>
          </a:p>
        </p:txBody>
      </p:sp>
      <p:sp>
        <p:nvSpPr>
          <p:cNvPr id="27" name="TextBox 26">
            <a:extLst>
              <a:ext uri="{FF2B5EF4-FFF2-40B4-BE49-F238E27FC236}">
                <a16:creationId xmlns:a16="http://schemas.microsoft.com/office/drawing/2014/main" id="{C118C23C-AFE7-0BE2-C3B4-F9822C17100C}"/>
              </a:ext>
            </a:extLst>
          </p:cNvPr>
          <p:cNvSpPr txBox="1"/>
          <p:nvPr/>
        </p:nvSpPr>
        <p:spPr>
          <a:xfrm>
            <a:off x="2346898" y="2983377"/>
            <a:ext cx="1125694" cy="215444"/>
          </a:xfrm>
          <a:prstGeom prst="rect">
            <a:avLst/>
          </a:prstGeom>
          <a:noFill/>
          <a:ln>
            <a:noFill/>
          </a:ln>
        </p:spPr>
        <p:txBody>
          <a:bodyPr wrap="none" lIns="0" tIns="0" rIns="0" bIns="0" anchor="t">
            <a:spAutoFit/>
          </a:bodyPr>
          <a:lstStyle/>
          <a:p>
            <a:pPr algn="ctr"/>
            <a:r>
              <a:rPr sz="1400" b="1" dirty="0">
                <a:solidFill>
                  <a:srgbClr val="E0CB15"/>
                </a:solidFill>
                <a:latin typeface="Shantell Sans"/>
              </a:rPr>
              <a:t>Methodologies</a:t>
            </a:r>
          </a:p>
        </p:txBody>
      </p:sp>
      <p:sp>
        <p:nvSpPr>
          <p:cNvPr id="28" name="TextBox 27">
            <a:extLst>
              <a:ext uri="{FF2B5EF4-FFF2-40B4-BE49-F238E27FC236}">
                <a16:creationId xmlns:a16="http://schemas.microsoft.com/office/drawing/2014/main" id="{24571692-37D1-EE78-CCA5-9D7A01512CBB}"/>
              </a:ext>
            </a:extLst>
          </p:cNvPr>
          <p:cNvSpPr txBox="1"/>
          <p:nvPr/>
        </p:nvSpPr>
        <p:spPr>
          <a:xfrm>
            <a:off x="4256996" y="5558003"/>
            <a:ext cx="1555811" cy="430887"/>
          </a:xfrm>
          <a:prstGeom prst="rect">
            <a:avLst/>
          </a:prstGeom>
          <a:noFill/>
          <a:ln>
            <a:noFill/>
          </a:ln>
        </p:spPr>
        <p:txBody>
          <a:bodyPr wrap="none" lIns="0" tIns="0" rIns="0" bIns="0" anchor="t">
            <a:spAutoFit/>
          </a:bodyPr>
          <a:lstStyle/>
          <a:p>
            <a:pPr algn="ctr"/>
            <a:r>
              <a:rPr sz="1400" b="1">
                <a:solidFill>
                  <a:srgbClr val="484848"/>
                </a:solidFill>
                <a:latin typeface="Shantell Sans"/>
              </a:rPr>
              <a:t>The goals the project
aims to achieve</a:t>
            </a:r>
          </a:p>
        </p:txBody>
      </p:sp>
      <p:sp>
        <p:nvSpPr>
          <p:cNvPr id="29" name="TextBox 28">
            <a:extLst>
              <a:ext uri="{FF2B5EF4-FFF2-40B4-BE49-F238E27FC236}">
                <a16:creationId xmlns:a16="http://schemas.microsoft.com/office/drawing/2014/main" id="{0F10F517-F0F2-7EFD-0CE6-E8C1EAD9676A}"/>
              </a:ext>
            </a:extLst>
          </p:cNvPr>
          <p:cNvSpPr txBox="1"/>
          <p:nvPr/>
        </p:nvSpPr>
        <p:spPr>
          <a:xfrm>
            <a:off x="1878121" y="3238006"/>
            <a:ext cx="1680974" cy="646331"/>
          </a:xfrm>
          <a:prstGeom prst="rect">
            <a:avLst/>
          </a:prstGeom>
          <a:noFill/>
          <a:ln>
            <a:noFill/>
          </a:ln>
        </p:spPr>
        <p:txBody>
          <a:bodyPr wrap="none" lIns="0" tIns="0" rIns="0" bIns="0" anchor="t">
            <a:spAutoFit/>
          </a:bodyPr>
          <a:lstStyle/>
          <a:p>
            <a:pPr algn="ctr"/>
            <a:r>
              <a:rPr sz="1400" b="1" dirty="0">
                <a:solidFill>
                  <a:srgbClr val="484848"/>
                </a:solidFill>
                <a:latin typeface="Shantell Sans"/>
              </a:rPr>
              <a:t>The approaches and
techniques used in the
project</a:t>
            </a:r>
          </a:p>
        </p:txBody>
      </p:sp>
      <p:sp>
        <p:nvSpPr>
          <p:cNvPr id="30" name="TextBox 29">
            <a:extLst>
              <a:ext uri="{FF2B5EF4-FFF2-40B4-BE49-F238E27FC236}">
                <a16:creationId xmlns:a16="http://schemas.microsoft.com/office/drawing/2014/main" id="{C56D2524-4162-AE17-CC4D-CAB5C2A015D7}"/>
              </a:ext>
            </a:extLst>
          </p:cNvPr>
          <p:cNvSpPr txBox="1"/>
          <p:nvPr/>
        </p:nvSpPr>
        <p:spPr>
          <a:xfrm>
            <a:off x="5514161" y="3567491"/>
            <a:ext cx="1701556" cy="646331"/>
          </a:xfrm>
          <a:prstGeom prst="rect">
            <a:avLst/>
          </a:prstGeom>
          <a:noFill/>
          <a:ln>
            <a:noFill/>
          </a:ln>
        </p:spPr>
        <p:txBody>
          <a:bodyPr wrap="none" lIns="0" tIns="0" rIns="0" bIns="0" anchor="t">
            <a:spAutoFit/>
          </a:bodyPr>
          <a:lstStyle/>
          <a:p>
            <a:pPr algn="ctr"/>
            <a:r>
              <a:rPr sz="1400" b="1" dirty="0">
                <a:solidFill>
                  <a:srgbClr val="484848"/>
                </a:solidFill>
                <a:latin typeface="Shantell Sans"/>
              </a:rPr>
              <a:t>The anticipated results
and deliverables of the
project</a:t>
            </a:r>
          </a:p>
        </p:txBody>
      </p:sp>
      <p:sp>
        <p:nvSpPr>
          <p:cNvPr id="31" name="TextBox 30">
            <a:extLst>
              <a:ext uri="{FF2B5EF4-FFF2-40B4-BE49-F238E27FC236}">
                <a16:creationId xmlns:a16="http://schemas.microsoft.com/office/drawing/2014/main" id="{17184988-834E-92C4-FB41-AAA0AD3795BA}"/>
              </a:ext>
            </a:extLst>
          </p:cNvPr>
          <p:cNvSpPr txBox="1"/>
          <p:nvPr/>
        </p:nvSpPr>
        <p:spPr>
          <a:xfrm>
            <a:off x="2125475" y="4081617"/>
            <a:ext cx="441531" cy="215444"/>
          </a:xfrm>
          <a:prstGeom prst="rect">
            <a:avLst/>
          </a:prstGeom>
          <a:noFill/>
          <a:ln>
            <a:noFill/>
          </a:ln>
        </p:spPr>
        <p:txBody>
          <a:bodyPr wrap="none" lIns="0" tIns="0" rIns="0" bIns="0" anchor="t">
            <a:spAutoFit/>
          </a:bodyPr>
          <a:lstStyle/>
          <a:p>
            <a:pPr algn="ctr"/>
            <a:r>
              <a:rPr sz="1400" b="1" dirty="0">
                <a:solidFill>
                  <a:srgbClr val="3CC583"/>
                </a:solidFill>
                <a:latin typeface="Shantell Sans"/>
              </a:rPr>
              <a:t>Scope</a:t>
            </a:r>
          </a:p>
        </p:txBody>
      </p:sp>
      <p:sp>
        <p:nvSpPr>
          <p:cNvPr id="32" name="TextBox 31">
            <a:extLst>
              <a:ext uri="{FF2B5EF4-FFF2-40B4-BE49-F238E27FC236}">
                <a16:creationId xmlns:a16="http://schemas.microsoft.com/office/drawing/2014/main" id="{24242EBB-A433-B4B4-12B2-6E615787E360}"/>
              </a:ext>
            </a:extLst>
          </p:cNvPr>
          <p:cNvSpPr txBox="1"/>
          <p:nvPr/>
        </p:nvSpPr>
        <p:spPr>
          <a:xfrm>
            <a:off x="4927484" y="4304329"/>
            <a:ext cx="880626" cy="215444"/>
          </a:xfrm>
          <a:prstGeom prst="rect">
            <a:avLst/>
          </a:prstGeom>
          <a:noFill/>
          <a:ln>
            <a:noFill/>
          </a:ln>
        </p:spPr>
        <p:txBody>
          <a:bodyPr wrap="none" lIns="0" tIns="0" rIns="0" bIns="0" anchor="t">
            <a:spAutoFit/>
          </a:bodyPr>
          <a:lstStyle/>
          <a:p>
            <a:pPr algn="ctr"/>
            <a:r>
              <a:rPr sz="1400" b="1">
                <a:solidFill>
                  <a:srgbClr val="92BD39"/>
                </a:solidFill>
                <a:latin typeface="Shantell Sans"/>
              </a:rPr>
              <a:t>Significance</a:t>
            </a:r>
          </a:p>
        </p:txBody>
      </p:sp>
      <p:sp>
        <p:nvSpPr>
          <p:cNvPr id="33" name="TextBox 32">
            <a:extLst>
              <a:ext uri="{FF2B5EF4-FFF2-40B4-BE49-F238E27FC236}">
                <a16:creationId xmlns:a16="http://schemas.microsoft.com/office/drawing/2014/main" id="{F5F4B477-1C45-CEB0-0708-1AB197AF0F22}"/>
              </a:ext>
            </a:extLst>
          </p:cNvPr>
          <p:cNvSpPr txBox="1"/>
          <p:nvPr/>
        </p:nvSpPr>
        <p:spPr>
          <a:xfrm>
            <a:off x="1250759" y="4346037"/>
            <a:ext cx="1525226" cy="430887"/>
          </a:xfrm>
          <a:prstGeom prst="rect">
            <a:avLst/>
          </a:prstGeom>
          <a:noFill/>
          <a:ln>
            <a:noFill/>
          </a:ln>
        </p:spPr>
        <p:txBody>
          <a:bodyPr wrap="none" lIns="0" tIns="0" rIns="0" bIns="0" anchor="t">
            <a:spAutoFit/>
          </a:bodyPr>
          <a:lstStyle/>
          <a:p>
            <a:pPr algn="ctr"/>
            <a:r>
              <a:rPr sz="1400" b="1" dirty="0">
                <a:solidFill>
                  <a:srgbClr val="484848"/>
                </a:solidFill>
                <a:latin typeface="Shantell Sans"/>
              </a:rPr>
              <a:t>The boundaries and
extent of the project</a:t>
            </a:r>
          </a:p>
        </p:txBody>
      </p:sp>
      <p:sp>
        <p:nvSpPr>
          <p:cNvPr id="34" name="TextBox 33">
            <a:extLst>
              <a:ext uri="{FF2B5EF4-FFF2-40B4-BE49-F238E27FC236}">
                <a16:creationId xmlns:a16="http://schemas.microsoft.com/office/drawing/2014/main" id="{DED79AFA-E94A-5088-4905-8659280C1DF3}"/>
              </a:ext>
            </a:extLst>
          </p:cNvPr>
          <p:cNvSpPr txBox="1"/>
          <p:nvPr/>
        </p:nvSpPr>
        <p:spPr>
          <a:xfrm>
            <a:off x="6409326" y="1913826"/>
            <a:ext cx="1157433" cy="430887"/>
          </a:xfrm>
          <a:prstGeom prst="rect">
            <a:avLst/>
          </a:prstGeom>
          <a:noFill/>
          <a:ln>
            <a:noFill/>
          </a:ln>
        </p:spPr>
        <p:txBody>
          <a:bodyPr wrap="none" lIns="0" tIns="0" rIns="0" bIns="0" anchor="t">
            <a:spAutoFit/>
          </a:bodyPr>
          <a:lstStyle/>
          <a:p>
            <a:pPr algn="l"/>
            <a:r>
              <a:rPr sz="1400" b="0" dirty="0">
                <a:solidFill>
                  <a:srgbClr val="DE58A9"/>
                </a:solidFill>
                <a:latin typeface="Shantell Sans"/>
              </a:rPr>
              <a:t>Effective
Communication</a:t>
            </a:r>
          </a:p>
        </p:txBody>
      </p:sp>
      <p:sp>
        <p:nvSpPr>
          <p:cNvPr id="35" name="TextBox 34">
            <a:extLst>
              <a:ext uri="{FF2B5EF4-FFF2-40B4-BE49-F238E27FC236}">
                <a16:creationId xmlns:a16="http://schemas.microsoft.com/office/drawing/2014/main" id="{40014ED0-9563-5088-BEE4-3423F67629DC}"/>
              </a:ext>
            </a:extLst>
          </p:cNvPr>
          <p:cNvSpPr txBox="1"/>
          <p:nvPr/>
        </p:nvSpPr>
        <p:spPr>
          <a:xfrm>
            <a:off x="4927484" y="4552270"/>
            <a:ext cx="1562351" cy="430887"/>
          </a:xfrm>
          <a:prstGeom prst="rect">
            <a:avLst/>
          </a:prstGeom>
          <a:noFill/>
          <a:ln>
            <a:noFill/>
          </a:ln>
        </p:spPr>
        <p:txBody>
          <a:bodyPr wrap="none" lIns="0" tIns="0" rIns="0" bIns="0" anchor="t">
            <a:spAutoFit/>
          </a:bodyPr>
          <a:lstStyle/>
          <a:p>
            <a:pPr algn="ctr"/>
            <a:r>
              <a:rPr sz="1400" b="1">
                <a:solidFill>
                  <a:srgbClr val="484848"/>
                </a:solidFill>
                <a:latin typeface="Shantell Sans"/>
              </a:rPr>
              <a:t>The importance and
impact of the project</a:t>
            </a:r>
          </a:p>
        </p:txBody>
      </p:sp>
      <p:sp>
        <p:nvSpPr>
          <p:cNvPr id="36" name="TextBox 35">
            <a:extLst>
              <a:ext uri="{FF2B5EF4-FFF2-40B4-BE49-F238E27FC236}">
                <a16:creationId xmlns:a16="http://schemas.microsoft.com/office/drawing/2014/main" id="{DB21EABB-BC3B-BCCD-4C27-852FEF2755ED}"/>
              </a:ext>
            </a:extLst>
          </p:cNvPr>
          <p:cNvSpPr txBox="1"/>
          <p:nvPr/>
        </p:nvSpPr>
        <p:spPr>
          <a:xfrm>
            <a:off x="4256996" y="5310062"/>
            <a:ext cx="782202" cy="215444"/>
          </a:xfrm>
          <a:prstGeom prst="rect">
            <a:avLst/>
          </a:prstGeom>
          <a:noFill/>
          <a:ln>
            <a:noFill/>
          </a:ln>
        </p:spPr>
        <p:txBody>
          <a:bodyPr wrap="none" lIns="0" tIns="0" rIns="0" bIns="0" anchor="t">
            <a:spAutoFit/>
          </a:bodyPr>
          <a:lstStyle/>
          <a:p>
            <a:pPr algn="ctr"/>
            <a:r>
              <a:rPr sz="1400" b="1">
                <a:solidFill>
                  <a:srgbClr val="1EABDA"/>
                </a:solidFill>
                <a:latin typeface="Shantell Sans"/>
              </a:rPr>
              <a:t>Objectives</a:t>
            </a:r>
          </a:p>
        </p:txBody>
      </p:sp>
      <p:sp>
        <p:nvSpPr>
          <p:cNvPr id="37" name="TextBox 36">
            <a:extLst>
              <a:ext uri="{FF2B5EF4-FFF2-40B4-BE49-F238E27FC236}">
                <a16:creationId xmlns:a16="http://schemas.microsoft.com/office/drawing/2014/main" id="{B8328CC7-38F7-0814-8B8D-8D04538543D2}"/>
              </a:ext>
            </a:extLst>
          </p:cNvPr>
          <p:cNvSpPr txBox="1"/>
          <p:nvPr/>
        </p:nvSpPr>
        <p:spPr>
          <a:xfrm>
            <a:off x="5514161" y="3298597"/>
            <a:ext cx="1474121" cy="215444"/>
          </a:xfrm>
          <a:prstGeom prst="rect">
            <a:avLst/>
          </a:prstGeom>
          <a:noFill/>
          <a:ln>
            <a:noFill/>
          </a:ln>
        </p:spPr>
        <p:txBody>
          <a:bodyPr wrap="none" lIns="0" tIns="0" rIns="0" bIns="0" anchor="t">
            <a:spAutoFit/>
          </a:bodyPr>
          <a:lstStyle/>
          <a:p>
            <a:pPr algn="ctr"/>
            <a:r>
              <a:rPr sz="1400" b="1">
                <a:solidFill>
                  <a:srgbClr val="DE8431"/>
                </a:solidFill>
                <a:latin typeface="Shantell Sans"/>
              </a:rPr>
              <a:t>Expected Outcomes</a:t>
            </a:r>
          </a:p>
        </p:txBody>
      </p:sp>
      <p:sp>
        <p:nvSpPr>
          <p:cNvPr id="38" name="Rounded Rectangle 36">
            <a:extLst>
              <a:ext uri="{FF2B5EF4-FFF2-40B4-BE49-F238E27FC236}">
                <a16:creationId xmlns:a16="http://schemas.microsoft.com/office/drawing/2014/main" id="{5659A6D8-9A5C-ED64-4FCB-FF10E3DD785D}"/>
              </a:ext>
            </a:extLst>
          </p:cNvPr>
          <p:cNvSpPr/>
          <p:nvPr/>
        </p:nvSpPr>
        <p:spPr>
          <a:xfrm>
            <a:off x="4640256" y="2958885"/>
            <a:ext cx="281116" cy="283893"/>
          </a:xfrm>
          <a:custGeom>
            <a:avLst/>
            <a:gdLst/>
            <a:ahLst/>
            <a:cxnLst/>
            <a:rect l="0" t="0" r="0" b="0"/>
            <a:pathLst>
              <a:path w="281116" h="283893">
                <a:moveTo>
                  <a:pt x="61112" y="167780"/>
                </a:moveTo>
                <a:lnTo>
                  <a:pt x="61112" y="131113"/>
                </a:lnTo>
                <a:moveTo>
                  <a:pt x="85557" y="283893"/>
                </a:moveTo>
                <a:lnTo>
                  <a:pt x="91668" y="210559"/>
                </a:lnTo>
                <a:lnTo>
                  <a:pt x="122224" y="210559"/>
                </a:lnTo>
                <a:lnTo>
                  <a:pt x="122224" y="167780"/>
                </a:lnTo>
                <a:cubicBezTo>
                  <a:pt x="122224" y="134029"/>
                  <a:pt x="94863" y="106668"/>
                  <a:pt x="61112" y="106668"/>
                </a:cubicBezTo>
                <a:cubicBezTo>
                  <a:pt x="27360" y="106668"/>
                  <a:pt x="0" y="134029"/>
                  <a:pt x="0" y="167780"/>
                </a:cubicBezTo>
                <a:lnTo>
                  <a:pt x="0" y="210559"/>
                </a:lnTo>
                <a:lnTo>
                  <a:pt x="30556" y="210559"/>
                </a:lnTo>
                <a:lnTo>
                  <a:pt x="36667" y="283893"/>
                </a:lnTo>
                <a:close/>
                <a:moveTo>
                  <a:pt x="75375" y="45556"/>
                </a:moveTo>
                <a:cubicBezTo>
                  <a:pt x="84979" y="45564"/>
                  <a:pt x="94485" y="43622"/>
                  <a:pt x="103316" y="39848"/>
                </a:cubicBezTo>
                <a:cubicBezTo>
                  <a:pt x="100992" y="21773"/>
                  <a:pt x="87406" y="7191"/>
                  <a:pt x="69541" y="3595"/>
                </a:cubicBezTo>
                <a:cubicBezTo>
                  <a:pt x="51676" y="0"/>
                  <a:pt x="33507" y="8191"/>
                  <a:pt x="24371" y="23959"/>
                </a:cubicBezTo>
                <a:cubicBezTo>
                  <a:pt x="37748" y="37766"/>
                  <a:pt x="56151" y="45558"/>
                  <a:pt x="75375" y="45556"/>
                </a:cubicBezTo>
                <a:close/>
                <a:moveTo>
                  <a:pt x="18333" y="45556"/>
                </a:moveTo>
                <a:cubicBezTo>
                  <a:pt x="18333" y="69182"/>
                  <a:pt x="37486" y="88334"/>
                  <a:pt x="61112" y="88334"/>
                </a:cubicBezTo>
                <a:cubicBezTo>
                  <a:pt x="84738" y="88334"/>
                  <a:pt x="103890" y="69182"/>
                  <a:pt x="103890" y="45556"/>
                </a:cubicBezTo>
                <a:cubicBezTo>
                  <a:pt x="103890" y="21930"/>
                  <a:pt x="84738" y="2777"/>
                  <a:pt x="61112" y="2777"/>
                </a:cubicBezTo>
                <a:cubicBezTo>
                  <a:pt x="37486" y="2777"/>
                  <a:pt x="18333" y="21930"/>
                  <a:pt x="18333" y="45556"/>
                </a:cubicBezTo>
                <a:close/>
                <a:moveTo>
                  <a:pt x="152780" y="149446"/>
                </a:moveTo>
                <a:lnTo>
                  <a:pt x="213892" y="149446"/>
                </a:lnTo>
                <a:moveTo>
                  <a:pt x="213892" y="39444"/>
                </a:moveTo>
                <a:lnTo>
                  <a:pt x="207781" y="39444"/>
                </a:lnTo>
                <a:cubicBezTo>
                  <a:pt x="194280" y="39444"/>
                  <a:pt x="183336" y="50389"/>
                  <a:pt x="183336" y="63889"/>
                </a:cubicBezTo>
                <a:lnTo>
                  <a:pt x="183336" y="222781"/>
                </a:lnTo>
                <a:cubicBezTo>
                  <a:pt x="183336" y="236282"/>
                  <a:pt x="194280" y="247226"/>
                  <a:pt x="207781" y="247226"/>
                </a:cubicBezTo>
                <a:lnTo>
                  <a:pt x="213892" y="247226"/>
                </a:lnTo>
                <a:moveTo>
                  <a:pt x="238337" y="45556"/>
                </a:moveTo>
                <a:lnTo>
                  <a:pt x="250560" y="57778"/>
                </a:lnTo>
                <a:lnTo>
                  <a:pt x="281116" y="33333"/>
                </a:lnTo>
                <a:moveTo>
                  <a:pt x="238337" y="155558"/>
                </a:moveTo>
                <a:lnTo>
                  <a:pt x="250560" y="167780"/>
                </a:lnTo>
                <a:lnTo>
                  <a:pt x="281116" y="143335"/>
                </a:lnTo>
                <a:moveTo>
                  <a:pt x="238337" y="228892"/>
                </a:moveTo>
                <a:lnTo>
                  <a:pt x="275004" y="265560"/>
                </a:lnTo>
                <a:moveTo>
                  <a:pt x="275004" y="228892"/>
                </a:moveTo>
                <a:lnTo>
                  <a:pt x="238337" y="265560"/>
                </a:lnTo>
              </a:path>
            </a:pathLst>
          </a:custGeom>
          <a:noFill/>
          <a:ln w="10476">
            <a:solidFill>
              <a:srgbClr val="DE8431"/>
            </a:solidFill>
          </a:ln>
        </p:spPr>
        <p:txBody>
          <a:bodyPr rtlCol="0" anchor="ctr"/>
          <a:lstStyle/>
          <a:p>
            <a:pPr algn="ctr"/>
            <a:endParaRPr sz="1400" b="1"/>
          </a:p>
        </p:txBody>
      </p:sp>
      <p:sp>
        <p:nvSpPr>
          <p:cNvPr id="39" name="Rounded Rectangle 37">
            <a:extLst>
              <a:ext uri="{FF2B5EF4-FFF2-40B4-BE49-F238E27FC236}">
                <a16:creationId xmlns:a16="http://schemas.microsoft.com/office/drawing/2014/main" id="{D7F31AE4-F561-85B7-918D-913652DE4888}"/>
              </a:ext>
            </a:extLst>
          </p:cNvPr>
          <p:cNvSpPr/>
          <p:nvPr/>
        </p:nvSpPr>
        <p:spPr>
          <a:xfrm>
            <a:off x="4326838" y="3444449"/>
            <a:ext cx="282949" cy="283713"/>
          </a:xfrm>
          <a:custGeom>
            <a:avLst/>
            <a:gdLst/>
            <a:ahLst/>
            <a:cxnLst/>
            <a:rect l="0" t="0" r="0" b="0"/>
            <a:pathLst>
              <a:path w="282949" h="283713">
                <a:moveTo>
                  <a:pt x="111835" y="49959"/>
                </a:moveTo>
                <a:lnTo>
                  <a:pt x="111835" y="21847"/>
                </a:lnTo>
                <a:cubicBezTo>
                  <a:pt x="111835" y="14514"/>
                  <a:pt x="116724" y="9625"/>
                  <a:pt x="124057" y="9625"/>
                </a:cubicBezTo>
                <a:lnTo>
                  <a:pt x="241393" y="9625"/>
                </a:lnTo>
                <a:cubicBezTo>
                  <a:pt x="243837" y="9625"/>
                  <a:pt x="247504" y="10847"/>
                  <a:pt x="248726" y="12069"/>
                </a:cubicBezTo>
                <a:lnTo>
                  <a:pt x="278060" y="36514"/>
                </a:lnTo>
                <a:cubicBezTo>
                  <a:pt x="280505" y="38959"/>
                  <a:pt x="282949" y="42625"/>
                  <a:pt x="282949" y="46292"/>
                </a:cubicBezTo>
                <a:lnTo>
                  <a:pt x="282949" y="199073"/>
                </a:lnTo>
                <a:cubicBezTo>
                  <a:pt x="282949" y="206406"/>
                  <a:pt x="278060" y="211295"/>
                  <a:pt x="270727" y="211295"/>
                </a:cubicBezTo>
                <a:lnTo>
                  <a:pt x="179058" y="211295"/>
                </a:lnTo>
                <a:moveTo>
                  <a:pt x="0" y="0"/>
                </a:moveTo>
                <a:moveTo>
                  <a:pt x="160725" y="60959"/>
                </a:moveTo>
                <a:lnTo>
                  <a:pt x="142391" y="79292"/>
                </a:lnTo>
                <a:lnTo>
                  <a:pt x="160725" y="97626"/>
                </a:lnTo>
                <a:moveTo>
                  <a:pt x="0" y="0"/>
                </a:moveTo>
                <a:moveTo>
                  <a:pt x="234059" y="97626"/>
                </a:moveTo>
                <a:lnTo>
                  <a:pt x="252393" y="79292"/>
                </a:lnTo>
                <a:lnTo>
                  <a:pt x="234059" y="60959"/>
                </a:lnTo>
                <a:moveTo>
                  <a:pt x="0" y="0"/>
                </a:moveTo>
                <a:moveTo>
                  <a:pt x="185170" y="103738"/>
                </a:moveTo>
                <a:lnTo>
                  <a:pt x="209614" y="48737"/>
                </a:lnTo>
                <a:moveTo>
                  <a:pt x="165614" y="283713"/>
                </a:moveTo>
                <a:cubicBezTo>
                  <a:pt x="154613" y="251935"/>
                  <a:pt x="124057" y="228712"/>
                  <a:pt x="88612" y="228712"/>
                </a:cubicBezTo>
                <a:cubicBezTo>
                  <a:pt x="53167" y="228712"/>
                  <a:pt x="21389" y="251935"/>
                  <a:pt x="10388" y="283713"/>
                </a:cubicBezTo>
                <a:moveTo>
                  <a:pt x="87390" y="118710"/>
                </a:moveTo>
                <a:lnTo>
                  <a:pt x="87390" y="82043"/>
                </a:lnTo>
                <a:moveTo>
                  <a:pt x="20165" y="154155"/>
                </a:moveTo>
                <a:lnTo>
                  <a:pt x="154612" y="154155"/>
                </a:lnTo>
                <a:moveTo>
                  <a:pt x="37277" y="167600"/>
                </a:moveTo>
                <a:cubicBezTo>
                  <a:pt x="38499" y="194489"/>
                  <a:pt x="60499" y="216490"/>
                  <a:pt x="87389" y="216490"/>
                </a:cubicBezTo>
                <a:cubicBezTo>
                  <a:pt x="115500" y="216490"/>
                  <a:pt x="137501" y="194489"/>
                  <a:pt x="137501" y="166378"/>
                </a:cubicBezTo>
                <a:lnTo>
                  <a:pt x="137501" y="144377"/>
                </a:lnTo>
                <a:cubicBezTo>
                  <a:pt x="137501" y="116265"/>
                  <a:pt x="115500" y="94265"/>
                  <a:pt x="87389" y="94265"/>
                </a:cubicBezTo>
                <a:cubicBezTo>
                  <a:pt x="60499" y="94265"/>
                  <a:pt x="38499" y="116265"/>
                  <a:pt x="37277" y="143155"/>
                </a:cubicBezTo>
                <a:close/>
              </a:path>
            </a:pathLst>
          </a:custGeom>
          <a:noFill/>
          <a:ln w="10476">
            <a:solidFill>
              <a:srgbClr val="E0CB15"/>
            </a:solidFill>
          </a:ln>
        </p:spPr>
        <p:txBody>
          <a:bodyPr rtlCol="0" anchor="ctr"/>
          <a:lstStyle/>
          <a:p>
            <a:pPr algn="ctr"/>
            <a:endParaRPr sz="1400" b="1"/>
          </a:p>
        </p:txBody>
      </p:sp>
      <p:sp>
        <p:nvSpPr>
          <p:cNvPr id="40" name="Rounded Rectangle 38">
            <a:extLst>
              <a:ext uri="{FF2B5EF4-FFF2-40B4-BE49-F238E27FC236}">
                <a16:creationId xmlns:a16="http://schemas.microsoft.com/office/drawing/2014/main" id="{38399A26-BA8E-AF51-B480-B6A4F33FC393}"/>
              </a:ext>
            </a:extLst>
          </p:cNvPr>
          <p:cNvSpPr/>
          <p:nvPr/>
        </p:nvSpPr>
        <p:spPr>
          <a:xfrm>
            <a:off x="4011674" y="3932474"/>
            <a:ext cx="281116" cy="281116"/>
          </a:xfrm>
          <a:custGeom>
            <a:avLst/>
            <a:gdLst/>
            <a:ahLst/>
            <a:cxnLst/>
            <a:rect l="0" t="0" r="0" b="0"/>
            <a:pathLst>
              <a:path w="281116" h="281116">
                <a:moveTo>
                  <a:pt x="24444" y="281116"/>
                </a:moveTo>
                <a:lnTo>
                  <a:pt x="24444" y="61112"/>
                </a:lnTo>
                <a:moveTo>
                  <a:pt x="48889" y="85557"/>
                </a:moveTo>
                <a:lnTo>
                  <a:pt x="24444" y="61112"/>
                </a:lnTo>
                <a:lnTo>
                  <a:pt x="0" y="85557"/>
                </a:lnTo>
                <a:moveTo>
                  <a:pt x="61112" y="24444"/>
                </a:moveTo>
                <a:lnTo>
                  <a:pt x="281116" y="24444"/>
                </a:lnTo>
                <a:moveTo>
                  <a:pt x="85557" y="0"/>
                </a:moveTo>
                <a:lnTo>
                  <a:pt x="61112" y="24444"/>
                </a:lnTo>
                <a:lnTo>
                  <a:pt x="85557" y="48889"/>
                </a:lnTo>
                <a:moveTo>
                  <a:pt x="256671" y="48889"/>
                </a:moveTo>
                <a:lnTo>
                  <a:pt x="281116" y="24444"/>
                </a:lnTo>
                <a:lnTo>
                  <a:pt x="256671" y="0"/>
                </a:lnTo>
                <a:moveTo>
                  <a:pt x="256671" y="275004"/>
                </a:moveTo>
                <a:cubicBezTo>
                  <a:pt x="256671" y="278380"/>
                  <a:pt x="253935" y="281116"/>
                  <a:pt x="250560" y="281116"/>
                </a:cubicBezTo>
                <a:lnTo>
                  <a:pt x="171114" y="281116"/>
                </a:lnTo>
                <a:lnTo>
                  <a:pt x="171114" y="112568"/>
                </a:lnTo>
                <a:cubicBezTo>
                  <a:pt x="171113" y="110581"/>
                  <a:pt x="172079" y="108718"/>
                  <a:pt x="173703" y="107573"/>
                </a:cubicBezTo>
                <a:cubicBezTo>
                  <a:pt x="175327" y="106428"/>
                  <a:pt x="177407" y="106144"/>
                  <a:pt x="179278" y="106811"/>
                </a:cubicBezTo>
                <a:lnTo>
                  <a:pt x="252613" y="132992"/>
                </a:lnTo>
                <a:cubicBezTo>
                  <a:pt x="255047" y="133860"/>
                  <a:pt x="256671" y="136165"/>
                  <a:pt x="256671" y="138749"/>
                </a:cubicBezTo>
                <a:close/>
                <a:moveTo>
                  <a:pt x="244448" y="128335"/>
                </a:moveTo>
                <a:lnTo>
                  <a:pt x="244448" y="91668"/>
                </a:lnTo>
                <a:moveTo>
                  <a:pt x="171114" y="158891"/>
                </a:moveTo>
                <a:lnTo>
                  <a:pt x="207781" y="158891"/>
                </a:lnTo>
                <a:moveTo>
                  <a:pt x="122224" y="195559"/>
                </a:moveTo>
                <a:lnTo>
                  <a:pt x="85557" y="195559"/>
                </a:lnTo>
                <a:moveTo>
                  <a:pt x="122224" y="232226"/>
                </a:moveTo>
                <a:lnTo>
                  <a:pt x="85557" y="232226"/>
                </a:lnTo>
                <a:moveTo>
                  <a:pt x="171114" y="195559"/>
                </a:moveTo>
                <a:lnTo>
                  <a:pt x="226115" y="195559"/>
                </a:lnTo>
                <a:moveTo>
                  <a:pt x="201670" y="232226"/>
                </a:moveTo>
                <a:cubicBezTo>
                  <a:pt x="198295" y="232226"/>
                  <a:pt x="195559" y="234962"/>
                  <a:pt x="195559" y="238337"/>
                </a:cubicBezTo>
                <a:lnTo>
                  <a:pt x="195559" y="281116"/>
                </a:lnTo>
                <a:lnTo>
                  <a:pt x="195559" y="281116"/>
                </a:lnTo>
                <a:lnTo>
                  <a:pt x="232226" y="281116"/>
                </a:lnTo>
                <a:lnTo>
                  <a:pt x="232226" y="281116"/>
                </a:lnTo>
                <a:lnTo>
                  <a:pt x="232226" y="238337"/>
                </a:lnTo>
                <a:cubicBezTo>
                  <a:pt x="232226" y="234962"/>
                  <a:pt x="229490" y="232226"/>
                  <a:pt x="226115" y="232226"/>
                </a:cubicBezTo>
                <a:close/>
                <a:moveTo>
                  <a:pt x="171114" y="158891"/>
                </a:moveTo>
                <a:lnTo>
                  <a:pt x="91668" y="158891"/>
                </a:lnTo>
                <a:cubicBezTo>
                  <a:pt x="88293" y="158891"/>
                  <a:pt x="85557" y="161627"/>
                  <a:pt x="85557" y="165002"/>
                </a:cubicBezTo>
                <a:lnTo>
                  <a:pt x="85557" y="275004"/>
                </a:lnTo>
                <a:cubicBezTo>
                  <a:pt x="85557" y="278380"/>
                  <a:pt x="88293" y="281116"/>
                  <a:pt x="91668" y="281116"/>
                </a:cubicBezTo>
                <a:lnTo>
                  <a:pt x="171114" y="281116"/>
                </a:lnTo>
              </a:path>
            </a:pathLst>
          </a:custGeom>
          <a:noFill/>
          <a:ln w="10476">
            <a:solidFill>
              <a:srgbClr val="92BD39"/>
            </a:solidFill>
          </a:ln>
        </p:spPr>
        <p:txBody>
          <a:bodyPr rtlCol="0" anchor="ctr"/>
          <a:lstStyle/>
          <a:p>
            <a:pPr algn="ctr"/>
            <a:endParaRPr sz="1400" b="1"/>
          </a:p>
        </p:txBody>
      </p:sp>
      <p:sp>
        <p:nvSpPr>
          <p:cNvPr id="41" name="Rounded Rectangle 39">
            <a:extLst>
              <a:ext uri="{FF2B5EF4-FFF2-40B4-BE49-F238E27FC236}">
                <a16:creationId xmlns:a16="http://schemas.microsoft.com/office/drawing/2014/main" id="{0FDD1156-241F-48D3-9E28-4544AAC6914D}"/>
              </a:ext>
            </a:extLst>
          </p:cNvPr>
          <p:cNvSpPr/>
          <p:nvPr/>
        </p:nvSpPr>
        <p:spPr>
          <a:xfrm>
            <a:off x="5268839" y="1983867"/>
            <a:ext cx="281116" cy="281116"/>
          </a:xfrm>
          <a:custGeom>
            <a:avLst/>
            <a:gdLst/>
            <a:ahLst/>
            <a:cxnLst/>
            <a:rect l="0" t="0" r="0" b="0"/>
            <a:pathLst>
              <a:path w="281116" h="281116">
                <a:moveTo>
                  <a:pt x="73334" y="73334"/>
                </a:moveTo>
                <a:lnTo>
                  <a:pt x="110001" y="73334"/>
                </a:lnTo>
                <a:lnTo>
                  <a:pt x="110001" y="103890"/>
                </a:lnTo>
                <a:lnTo>
                  <a:pt x="140558" y="73334"/>
                </a:lnTo>
                <a:lnTo>
                  <a:pt x="207781" y="73334"/>
                </a:lnTo>
                <a:lnTo>
                  <a:pt x="207781" y="0"/>
                </a:lnTo>
                <a:lnTo>
                  <a:pt x="73334" y="0"/>
                </a:lnTo>
                <a:close/>
                <a:moveTo>
                  <a:pt x="158891" y="49109"/>
                </a:moveTo>
                <a:lnTo>
                  <a:pt x="97779" y="49109"/>
                </a:lnTo>
                <a:moveTo>
                  <a:pt x="183336" y="24664"/>
                </a:moveTo>
                <a:lnTo>
                  <a:pt x="97779" y="24664"/>
                </a:lnTo>
                <a:moveTo>
                  <a:pt x="9166" y="119168"/>
                </a:moveTo>
                <a:cubicBezTo>
                  <a:pt x="9166" y="134356"/>
                  <a:pt x="21479" y="146669"/>
                  <a:pt x="36667" y="146669"/>
                </a:cubicBezTo>
                <a:cubicBezTo>
                  <a:pt x="51855" y="146669"/>
                  <a:pt x="64167" y="134356"/>
                  <a:pt x="64167" y="119168"/>
                </a:cubicBezTo>
                <a:cubicBezTo>
                  <a:pt x="64167" y="103980"/>
                  <a:pt x="51855" y="91668"/>
                  <a:pt x="36667" y="91668"/>
                </a:cubicBezTo>
                <a:cubicBezTo>
                  <a:pt x="21479" y="91668"/>
                  <a:pt x="9166" y="103980"/>
                  <a:pt x="9166" y="119168"/>
                </a:cubicBezTo>
                <a:close/>
                <a:moveTo>
                  <a:pt x="36667" y="158891"/>
                </a:moveTo>
                <a:cubicBezTo>
                  <a:pt x="16416" y="158891"/>
                  <a:pt x="0" y="175308"/>
                  <a:pt x="0" y="195559"/>
                </a:cubicBezTo>
                <a:lnTo>
                  <a:pt x="0" y="220003"/>
                </a:lnTo>
                <a:lnTo>
                  <a:pt x="18333" y="220003"/>
                </a:lnTo>
                <a:lnTo>
                  <a:pt x="24444" y="281116"/>
                </a:lnTo>
                <a:lnTo>
                  <a:pt x="48889" y="281116"/>
                </a:lnTo>
                <a:lnTo>
                  <a:pt x="55000" y="220003"/>
                </a:lnTo>
                <a:lnTo>
                  <a:pt x="73334" y="220003"/>
                </a:lnTo>
                <a:lnTo>
                  <a:pt x="73334" y="195559"/>
                </a:lnTo>
                <a:cubicBezTo>
                  <a:pt x="73334" y="175308"/>
                  <a:pt x="56918" y="158891"/>
                  <a:pt x="36667" y="158891"/>
                </a:cubicBezTo>
                <a:close/>
                <a:moveTo>
                  <a:pt x="216948" y="119168"/>
                </a:moveTo>
                <a:cubicBezTo>
                  <a:pt x="216948" y="134356"/>
                  <a:pt x="229260" y="146669"/>
                  <a:pt x="244448" y="146669"/>
                </a:cubicBezTo>
                <a:cubicBezTo>
                  <a:pt x="259636" y="146669"/>
                  <a:pt x="271949" y="134356"/>
                  <a:pt x="271949" y="119168"/>
                </a:cubicBezTo>
                <a:cubicBezTo>
                  <a:pt x="271949" y="103980"/>
                  <a:pt x="259636" y="91668"/>
                  <a:pt x="244448" y="91668"/>
                </a:cubicBezTo>
                <a:cubicBezTo>
                  <a:pt x="229260" y="91668"/>
                  <a:pt x="216948" y="103980"/>
                  <a:pt x="216948" y="119168"/>
                </a:cubicBezTo>
                <a:close/>
                <a:moveTo>
                  <a:pt x="244448" y="158891"/>
                </a:moveTo>
                <a:cubicBezTo>
                  <a:pt x="224198" y="158891"/>
                  <a:pt x="207781" y="175308"/>
                  <a:pt x="207781" y="195559"/>
                </a:cubicBezTo>
                <a:lnTo>
                  <a:pt x="207781" y="220003"/>
                </a:lnTo>
                <a:lnTo>
                  <a:pt x="226115" y="220003"/>
                </a:lnTo>
                <a:lnTo>
                  <a:pt x="232226" y="281116"/>
                </a:lnTo>
                <a:lnTo>
                  <a:pt x="256671" y="281116"/>
                </a:lnTo>
                <a:lnTo>
                  <a:pt x="262782" y="220003"/>
                </a:lnTo>
                <a:lnTo>
                  <a:pt x="281116" y="220003"/>
                </a:lnTo>
                <a:lnTo>
                  <a:pt x="281116" y="195559"/>
                </a:lnTo>
                <a:cubicBezTo>
                  <a:pt x="281116" y="175308"/>
                  <a:pt x="264699" y="158891"/>
                  <a:pt x="244448" y="158891"/>
                </a:cubicBezTo>
                <a:close/>
              </a:path>
            </a:pathLst>
          </a:custGeom>
          <a:noFill/>
          <a:ln w="10476">
            <a:solidFill>
              <a:srgbClr val="DE58A9"/>
            </a:solidFill>
          </a:ln>
        </p:spPr>
        <p:txBody>
          <a:bodyPr rtlCol="0" anchor="ctr"/>
          <a:lstStyle/>
          <a:p>
            <a:pPr algn="ctr"/>
            <a:endParaRPr sz="1400" b="1"/>
          </a:p>
        </p:txBody>
      </p:sp>
      <p:sp>
        <p:nvSpPr>
          <p:cNvPr id="42" name="Rounded Rectangle 40">
            <a:extLst>
              <a:ext uri="{FF2B5EF4-FFF2-40B4-BE49-F238E27FC236}">
                <a16:creationId xmlns:a16="http://schemas.microsoft.com/office/drawing/2014/main" id="{B7C54E12-4E16-6B2A-7B61-A488873DFF23}"/>
              </a:ext>
            </a:extLst>
          </p:cNvPr>
          <p:cNvSpPr/>
          <p:nvPr/>
        </p:nvSpPr>
        <p:spPr>
          <a:xfrm>
            <a:off x="3704366" y="4428808"/>
            <a:ext cx="281126" cy="280211"/>
          </a:xfrm>
          <a:custGeom>
            <a:avLst/>
            <a:gdLst/>
            <a:ahLst/>
            <a:cxnLst/>
            <a:rect l="0" t="0" r="0" b="0"/>
            <a:pathLst>
              <a:path w="281126" h="280211">
                <a:moveTo>
                  <a:pt x="117237" y="212756"/>
                </a:moveTo>
                <a:lnTo>
                  <a:pt x="25789" y="212756"/>
                </a:lnTo>
                <a:cubicBezTo>
                  <a:pt x="11546" y="212756"/>
                  <a:pt x="0" y="201209"/>
                  <a:pt x="0" y="186966"/>
                </a:cubicBezTo>
                <a:lnTo>
                  <a:pt x="0" y="25789"/>
                </a:lnTo>
                <a:cubicBezTo>
                  <a:pt x="0" y="11546"/>
                  <a:pt x="11546" y="0"/>
                  <a:pt x="25789" y="0"/>
                </a:cubicBezTo>
                <a:lnTo>
                  <a:pt x="219209" y="0"/>
                </a:lnTo>
                <a:cubicBezTo>
                  <a:pt x="233452" y="0"/>
                  <a:pt x="244998" y="11546"/>
                  <a:pt x="244998" y="25789"/>
                </a:cubicBezTo>
                <a:lnTo>
                  <a:pt x="244998" y="116785"/>
                </a:lnTo>
                <a:moveTo>
                  <a:pt x="0" y="50356"/>
                </a:moveTo>
                <a:lnTo>
                  <a:pt x="244998" y="50356"/>
                </a:lnTo>
                <a:moveTo>
                  <a:pt x="0" y="157376"/>
                </a:moveTo>
                <a:lnTo>
                  <a:pt x="117237" y="157376"/>
                </a:lnTo>
                <a:moveTo>
                  <a:pt x="0" y="103951"/>
                </a:moveTo>
                <a:lnTo>
                  <a:pt x="244998" y="103951"/>
                </a:lnTo>
                <a:moveTo>
                  <a:pt x="100065" y="50356"/>
                </a:moveTo>
                <a:lnTo>
                  <a:pt x="100065" y="212756"/>
                </a:lnTo>
                <a:moveTo>
                  <a:pt x="171810" y="50356"/>
                </a:moveTo>
                <a:lnTo>
                  <a:pt x="171810" y="113460"/>
                </a:lnTo>
                <a:moveTo>
                  <a:pt x="153000" y="161262"/>
                </a:moveTo>
                <a:cubicBezTo>
                  <a:pt x="152990" y="176426"/>
                  <a:pt x="181673" y="188722"/>
                  <a:pt x="217058" y="188722"/>
                </a:cubicBezTo>
                <a:cubicBezTo>
                  <a:pt x="252443" y="188722"/>
                  <a:pt x="281126" y="176426"/>
                  <a:pt x="281116" y="161262"/>
                </a:cubicBezTo>
                <a:cubicBezTo>
                  <a:pt x="281126" y="146098"/>
                  <a:pt x="252443" y="133803"/>
                  <a:pt x="217058" y="133803"/>
                </a:cubicBezTo>
                <a:cubicBezTo>
                  <a:pt x="181673" y="133803"/>
                  <a:pt x="152990" y="146098"/>
                  <a:pt x="153000" y="161262"/>
                </a:cubicBezTo>
                <a:moveTo>
                  <a:pt x="153000" y="161250"/>
                </a:moveTo>
                <a:lnTo>
                  <a:pt x="153000" y="207011"/>
                </a:lnTo>
                <a:cubicBezTo>
                  <a:pt x="153000" y="222155"/>
                  <a:pt x="181686" y="234463"/>
                  <a:pt x="217058" y="234463"/>
                </a:cubicBezTo>
                <a:cubicBezTo>
                  <a:pt x="252430" y="234463"/>
                  <a:pt x="281116" y="222167"/>
                  <a:pt x="281116" y="207011"/>
                </a:cubicBezTo>
                <a:lnTo>
                  <a:pt x="281116" y="161250"/>
                </a:lnTo>
                <a:moveTo>
                  <a:pt x="153000" y="207011"/>
                </a:moveTo>
                <a:lnTo>
                  <a:pt x="153000" y="252760"/>
                </a:lnTo>
                <a:cubicBezTo>
                  <a:pt x="153000" y="267915"/>
                  <a:pt x="181686" y="280211"/>
                  <a:pt x="217058" y="280211"/>
                </a:cubicBezTo>
                <a:cubicBezTo>
                  <a:pt x="252430" y="280211"/>
                  <a:pt x="281116" y="267928"/>
                  <a:pt x="281116" y="252760"/>
                </a:cubicBezTo>
                <a:lnTo>
                  <a:pt x="281116" y="207011"/>
                </a:lnTo>
              </a:path>
            </a:pathLst>
          </a:custGeom>
          <a:noFill/>
          <a:ln w="10476">
            <a:solidFill>
              <a:srgbClr val="3CC583"/>
            </a:solidFill>
          </a:ln>
        </p:spPr>
        <p:txBody>
          <a:bodyPr rtlCol="0" anchor="ctr"/>
          <a:lstStyle/>
          <a:p>
            <a:pPr algn="ctr"/>
            <a:endParaRPr sz="1400" b="1"/>
          </a:p>
        </p:txBody>
      </p:sp>
      <p:sp>
        <p:nvSpPr>
          <p:cNvPr id="43" name="Rounded Rectangle 41">
            <a:extLst>
              <a:ext uri="{FF2B5EF4-FFF2-40B4-BE49-F238E27FC236}">
                <a16:creationId xmlns:a16="http://schemas.microsoft.com/office/drawing/2014/main" id="{128E02C7-ADC8-CAA6-C17B-7006657D197F}"/>
              </a:ext>
            </a:extLst>
          </p:cNvPr>
          <p:cNvSpPr/>
          <p:nvPr/>
        </p:nvSpPr>
        <p:spPr>
          <a:xfrm>
            <a:off x="3385329" y="4910270"/>
            <a:ext cx="292846" cy="294999"/>
          </a:xfrm>
          <a:custGeom>
            <a:avLst/>
            <a:gdLst/>
            <a:ahLst/>
            <a:cxnLst/>
            <a:rect l="0" t="0" r="0" b="0"/>
            <a:pathLst>
              <a:path w="292846" h="294999">
                <a:moveTo>
                  <a:pt x="154488" y="138358"/>
                </a:moveTo>
                <a:cubicBezTo>
                  <a:pt x="135891" y="119749"/>
                  <a:pt x="106735" y="116876"/>
                  <a:pt x="84863" y="131498"/>
                </a:cubicBezTo>
                <a:cubicBezTo>
                  <a:pt x="62992" y="146119"/>
                  <a:pt x="54501" y="174159"/>
                  <a:pt x="64587" y="198457"/>
                </a:cubicBezTo>
                <a:cubicBezTo>
                  <a:pt x="74674" y="222756"/>
                  <a:pt x="100525" y="236540"/>
                  <a:pt x="126322" y="231374"/>
                </a:cubicBezTo>
                <a:cubicBezTo>
                  <a:pt x="152118" y="226209"/>
                  <a:pt x="170669" y="203534"/>
                  <a:pt x="170622" y="177225"/>
                </a:cubicBezTo>
                <a:cubicBezTo>
                  <a:pt x="170640" y="170935"/>
                  <a:pt x="169565" y="164690"/>
                  <a:pt x="167444" y="158769"/>
                </a:cubicBezTo>
                <a:moveTo>
                  <a:pt x="205334" y="124791"/>
                </a:moveTo>
                <a:cubicBezTo>
                  <a:pt x="233426" y="171993"/>
                  <a:pt x="220023" y="232900"/>
                  <a:pt x="174711" y="263949"/>
                </a:cubicBezTo>
                <a:cubicBezTo>
                  <a:pt x="129399" y="294999"/>
                  <a:pt x="67761" y="285515"/>
                  <a:pt x="33880" y="242278"/>
                </a:cubicBezTo>
                <a:cubicBezTo>
                  <a:pt x="0" y="199042"/>
                  <a:pt x="5528" y="136925"/>
                  <a:pt x="46511" y="100351"/>
                </a:cubicBezTo>
                <a:cubicBezTo>
                  <a:pt x="87495" y="63778"/>
                  <a:pt x="149839" y="65327"/>
                  <a:pt x="188956" y="103890"/>
                </a:cubicBezTo>
                <a:moveTo>
                  <a:pt x="11730" y="281116"/>
                </a:moveTo>
                <a:lnTo>
                  <a:pt x="42164" y="250682"/>
                </a:lnTo>
                <a:moveTo>
                  <a:pt x="189078" y="250682"/>
                </a:moveTo>
                <a:lnTo>
                  <a:pt x="219512" y="281116"/>
                </a:lnTo>
                <a:moveTo>
                  <a:pt x="206434" y="86412"/>
                </a:moveTo>
                <a:lnTo>
                  <a:pt x="202034" y="38867"/>
                </a:lnTo>
                <a:lnTo>
                  <a:pt x="240901" y="0"/>
                </a:lnTo>
                <a:lnTo>
                  <a:pt x="253979" y="38867"/>
                </a:lnTo>
                <a:lnTo>
                  <a:pt x="292846" y="51945"/>
                </a:lnTo>
                <a:lnTo>
                  <a:pt x="253979" y="90812"/>
                </a:lnTo>
                <a:close/>
                <a:moveTo>
                  <a:pt x="237845" y="55000"/>
                </a:moveTo>
                <a:lnTo>
                  <a:pt x="115621" y="177225"/>
                </a:lnTo>
              </a:path>
            </a:pathLst>
          </a:custGeom>
          <a:noFill/>
          <a:ln w="10476">
            <a:solidFill>
              <a:srgbClr val="1EABDA"/>
            </a:solidFill>
          </a:ln>
        </p:spPr>
        <p:txBody>
          <a:bodyPr rtlCol="0" anchor="ctr"/>
          <a:lstStyle/>
          <a:p>
            <a:pPr algn="ctr"/>
            <a:endParaRPr sz="1400" b="1"/>
          </a:p>
        </p:txBody>
      </p:sp>
      <p:sp>
        <p:nvSpPr>
          <p:cNvPr id="44" name="Rounded Rectangle 42">
            <a:extLst>
              <a:ext uri="{FF2B5EF4-FFF2-40B4-BE49-F238E27FC236}">
                <a16:creationId xmlns:a16="http://schemas.microsoft.com/office/drawing/2014/main" id="{83FE1BF0-CB65-EE5A-3856-DA05FAD276DB}"/>
              </a:ext>
            </a:extLst>
          </p:cNvPr>
          <p:cNvSpPr/>
          <p:nvPr/>
        </p:nvSpPr>
        <p:spPr>
          <a:xfrm>
            <a:off x="4955421" y="2466654"/>
            <a:ext cx="280635" cy="278715"/>
          </a:xfrm>
          <a:custGeom>
            <a:avLst/>
            <a:gdLst/>
            <a:ahLst/>
            <a:cxnLst/>
            <a:rect l="0" t="0" r="0" b="0"/>
            <a:pathLst>
              <a:path w="280635" h="278715">
                <a:moveTo>
                  <a:pt x="66680" y="215432"/>
                </a:moveTo>
                <a:cubicBezTo>
                  <a:pt x="83717" y="215432"/>
                  <a:pt x="97528" y="201621"/>
                  <a:pt x="97528" y="184583"/>
                </a:cubicBezTo>
                <a:cubicBezTo>
                  <a:pt x="97528" y="167546"/>
                  <a:pt x="83717" y="153735"/>
                  <a:pt x="66680" y="153735"/>
                </a:cubicBezTo>
                <a:cubicBezTo>
                  <a:pt x="49643" y="153735"/>
                  <a:pt x="35831" y="167546"/>
                  <a:pt x="35831" y="184583"/>
                </a:cubicBezTo>
                <a:cubicBezTo>
                  <a:pt x="35831" y="201621"/>
                  <a:pt x="49643" y="215432"/>
                  <a:pt x="66680" y="215432"/>
                </a:cubicBezTo>
                <a:close/>
                <a:moveTo>
                  <a:pt x="12699" y="278715"/>
                </a:moveTo>
                <a:cubicBezTo>
                  <a:pt x="12699" y="249408"/>
                  <a:pt x="37378" y="224730"/>
                  <a:pt x="66684" y="224730"/>
                </a:cubicBezTo>
                <a:cubicBezTo>
                  <a:pt x="95990" y="224730"/>
                  <a:pt x="120669" y="249408"/>
                  <a:pt x="120669" y="278715"/>
                </a:cubicBezTo>
                <a:moveTo>
                  <a:pt x="226645" y="215432"/>
                </a:moveTo>
                <a:cubicBezTo>
                  <a:pt x="243683" y="215432"/>
                  <a:pt x="257495" y="201621"/>
                  <a:pt x="257495" y="184583"/>
                </a:cubicBezTo>
                <a:cubicBezTo>
                  <a:pt x="257495" y="167546"/>
                  <a:pt x="243683" y="153735"/>
                  <a:pt x="226645" y="153735"/>
                </a:cubicBezTo>
                <a:cubicBezTo>
                  <a:pt x="209608" y="153735"/>
                  <a:pt x="195797" y="167546"/>
                  <a:pt x="195797" y="184583"/>
                </a:cubicBezTo>
                <a:cubicBezTo>
                  <a:pt x="195797" y="201621"/>
                  <a:pt x="209608" y="215432"/>
                  <a:pt x="226645" y="215432"/>
                </a:cubicBezTo>
                <a:close/>
                <a:moveTo>
                  <a:pt x="172666" y="278715"/>
                </a:moveTo>
                <a:cubicBezTo>
                  <a:pt x="172666" y="249408"/>
                  <a:pt x="197344" y="224730"/>
                  <a:pt x="226650" y="224730"/>
                </a:cubicBezTo>
                <a:cubicBezTo>
                  <a:pt x="255956" y="224730"/>
                  <a:pt x="280635" y="249408"/>
                  <a:pt x="280635" y="278715"/>
                </a:cubicBezTo>
                <a:moveTo>
                  <a:pt x="215704" y="106315"/>
                </a:moveTo>
                <a:lnTo>
                  <a:pt x="215704" y="88599"/>
                </a:lnTo>
                <a:cubicBezTo>
                  <a:pt x="215704" y="48485"/>
                  <a:pt x="181923" y="14705"/>
                  <a:pt x="141809" y="14705"/>
                </a:cubicBezTo>
                <a:cubicBezTo>
                  <a:pt x="101695" y="14705"/>
                  <a:pt x="67915" y="48485"/>
                  <a:pt x="67915" y="88599"/>
                </a:cubicBezTo>
                <a:lnTo>
                  <a:pt x="67915" y="113102"/>
                </a:lnTo>
                <a:moveTo>
                  <a:pt x="0" y="0"/>
                </a:moveTo>
                <a:moveTo>
                  <a:pt x="186690" y="88612"/>
                </a:moveTo>
                <a:lnTo>
                  <a:pt x="215704" y="117641"/>
                </a:lnTo>
                <a:lnTo>
                  <a:pt x="244732" y="88612"/>
                </a:lnTo>
              </a:path>
            </a:pathLst>
          </a:custGeom>
          <a:noFill/>
          <a:ln w="10476">
            <a:solidFill>
              <a:srgbClr val="E55753"/>
            </a:solidFill>
          </a:ln>
        </p:spPr>
        <p:txBody>
          <a:bodyPr rtlCol="0" anchor="ctr"/>
          <a:lstStyle/>
          <a:p>
            <a:pPr algn="ctr"/>
            <a:endParaRPr sz="1400" b="1"/>
          </a:p>
        </p:txBody>
      </p:sp>
      <p:sp>
        <p:nvSpPr>
          <p:cNvPr id="45" name="Freeform 2">
            <a:extLst>
              <a:ext uri="{FF2B5EF4-FFF2-40B4-BE49-F238E27FC236}">
                <a16:creationId xmlns:a16="http://schemas.microsoft.com/office/drawing/2014/main" id="{E3D2266F-1289-CA76-0E8F-C2192012567B}"/>
              </a:ext>
            </a:extLst>
          </p:cNvPr>
          <p:cNvSpPr/>
          <p:nvPr/>
        </p:nvSpPr>
        <p:spPr>
          <a:xfrm rot="19409795" flipH="1" flipV="1">
            <a:off x="202935" y="527192"/>
            <a:ext cx="1951894" cy="999042"/>
          </a:xfrm>
          <a:custGeom>
            <a:avLst/>
            <a:gdLst/>
            <a:ahLst/>
            <a:cxnLst/>
            <a:rect l="l" t="t" r="r" b="b"/>
            <a:pathLst>
              <a:path w="3356927" h="2038570">
                <a:moveTo>
                  <a:pt x="3356927" y="2038570"/>
                </a:moveTo>
                <a:lnTo>
                  <a:pt x="0" y="2038570"/>
                </a:lnTo>
                <a:lnTo>
                  <a:pt x="0" y="0"/>
                </a:lnTo>
                <a:lnTo>
                  <a:pt x="3356927" y="0"/>
                </a:lnTo>
                <a:lnTo>
                  <a:pt x="3356927" y="2038570"/>
                </a:lnTo>
                <a:close/>
              </a:path>
            </a:pathLst>
          </a:custGeom>
          <a:blipFill>
            <a:blip r:embed="rId2">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712612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A898-B19C-4F05-37FE-146D19336B34}"/>
              </a:ext>
            </a:extLst>
          </p:cNvPr>
          <p:cNvSpPr>
            <a:spLocks noGrp="1"/>
          </p:cNvSpPr>
          <p:nvPr>
            <p:ph type="title"/>
          </p:nvPr>
        </p:nvSpPr>
        <p:spPr>
          <a:xfrm>
            <a:off x="1445742" y="284205"/>
            <a:ext cx="10058870" cy="5943600"/>
          </a:xfrm>
        </p:spPr>
        <p:txBody>
          <a:bodyPr>
            <a:noAutofit/>
          </a:bodyPr>
          <a:lstStyle/>
          <a:p>
            <a:pPr algn="ctr"/>
            <a:r>
              <a:rPr lang="en-US" sz="2400" b="1" dirty="0"/>
              <a:t>Origami Hub is a creative and educational platform designed for origami lovers of all ages.</a:t>
            </a:r>
            <a:br>
              <a:rPr lang="en-US" sz="2400" b="1" dirty="0"/>
            </a:br>
            <a:r>
              <a:rPr lang="en-US" sz="2400" b="1" dirty="0"/>
              <a:t>The website focuses on teaching the art of paper folding in a simple and engaging way.</a:t>
            </a:r>
            <a:br>
              <a:rPr lang="en-US" sz="2400" b="1" dirty="0"/>
            </a:br>
            <a:r>
              <a:rPr lang="en-US" sz="2400" b="1" dirty="0"/>
              <a:t>It provides step-by-step tutorials that help beginners learn origami with ease.</a:t>
            </a:r>
            <a:br>
              <a:rPr lang="en-US" sz="2400" b="1" dirty="0"/>
            </a:br>
            <a:r>
              <a:rPr lang="en-US" sz="2400" b="1" dirty="0"/>
              <a:t>Advanced users can explore complex designs and innovative folding techniques.</a:t>
            </a:r>
            <a:br>
              <a:rPr lang="en-US" sz="2400" b="1" dirty="0"/>
            </a:br>
            <a:r>
              <a:rPr lang="en-US" sz="2400" b="1" dirty="0"/>
              <a:t>Origami Hub also shares creative DIY ideas to boost imagination and creativity.</a:t>
            </a:r>
            <a:br>
              <a:rPr lang="en-US" sz="2400" b="1" dirty="0"/>
            </a:br>
            <a:r>
              <a:rPr lang="en-US" sz="2400" b="1" dirty="0"/>
              <a:t>The platform encourages learning through visuals, guides, and clear instructions.</a:t>
            </a:r>
            <a:br>
              <a:rPr lang="en-US" sz="2400" b="1" dirty="0"/>
            </a:br>
            <a:r>
              <a:rPr lang="en-US" sz="2400" b="1" dirty="0"/>
              <a:t>Users can discover new patterns, shapes, and artistic concepts regularly.</a:t>
            </a:r>
            <a:br>
              <a:rPr lang="en-US" sz="2000" dirty="0"/>
            </a:br>
            <a:endParaRPr lang="en-US" sz="2000" dirty="0"/>
          </a:p>
        </p:txBody>
      </p:sp>
      <p:sp>
        <p:nvSpPr>
          <p:cNvPr id="3" name="Freeform 2">
            <a:extLst>
              <a:ext uri="{FF2B5EF4-FFF2-40B4-BE49-F238E27FC236}">
                <a16:creationId xmlns:a16="http://schemas.microsoft.com/office/drawing/2014/main" id="{938A5C18-1215-D459-8A36-456D97AA65BC}"/>
              </a:ext>
            </a:extLst>
          </p:cNvPr>
          <p:cNvSpPr/>
          <p:nvPr/>
        </p:nvSpPr>
        <p:spPr>
          <a:xfrm rot="1614470" flipH="1" flipV="1">
            <a:off x="10237416" y="5626617"/>
            <a:ext cx="1951894" cy="999042"/>
          </a:xfrm>
          <a:custGeom>
            <a:avLst/>
            <a:gdLst/>
            <a:ahLst/>
            <a:cxnLst/>
            <a:rect l="l" t="t" r="r" b="b"/>
            <a:pathLst>
              <a:path w="3356927" h="2038570">
                <a:moveTo>
                  <a:pt x="3356927" y="2038570"/>
                </a:moveTo>
                <a:lnTo>
                  <a:pt x="0" y="2038570"/>
                </a:lnTo>
                <a:lnTo>
                  <a:pt x="0" y="0"/>
                </a:lnTo>
                <a:lnTo>
                  <a:pt x="3356927" y="0"/>
                </a:lnTo>
                <a:lnTo>
                  <a:pt x="3356927" y="2038570"/>
                </a:lnTo>
                <a:close/>
              </a:path>
            </a:pathLst>
          </a:custGeom>
          <a:blipFill>
            <a:blip r:embed="rId2">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2941120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1DEB6-7EC1-E965-1CEC-BBC35996C39E}"/>
              </a:ext>
            </a:extLst>
          </p:cNvPr>
          <p:cNvSpPr>
            <a:spLocks noGrp="1"/>
          </p:cNvSpPr>
          <p:nvPr>
            <p:ph type="title"/>
          </p:nvPr>
        </p:nvSpPr>
        <p:spPr>
          <a:xfrm>
            <a:off x="1841157" y="271849"/>
            <a:ext cx="9663454" cy="852616"/>
          </a:xfrm>
        </p:spPr>
        <p:txBody>
          <a:bodyPr/>
          <a:lstStyle/>
          <a:p>
            <a:pPr algn="ctr"/>
            <a:r>
              <a:rPr lang="en-US" dirty="0">
                <a:solidFill>
                  <a:schemeClr val="tx2">
                    <a:lumMod val="60000"/>
                    <a:lumOff val="40000"/>
                  </a:schemeClr>
                </a:solidFill>
                <a:latin typeface="Cooper Black" panose="0208090404030B020404" pitchFamily="18" charset="0"/>
              </a:rPr>
              <a:t>Analysis</a:t>
            </a:r>
          </a:p>
        </p:txBody>
      </p:sp>
      <p:sp>
        <p:nvSpPr>
          <p:cNvPr id="3" name="Text Placeholder 2">
            <a:extLst>
              <a:ext uri="{FF2B5EF4-FFF2-40B4-BE49-F238E27FC236}">
                <a16:creationId xmlns:a16="http://schemas.microsoft.com/office/drawing/2014/main" id="{35D45417-4797-18A8-A747-05C410FF3BDA}"/>
              </a:ext>
            </a:extLst>
          </p:cNvPr>
          <p:cNvSpPr>
            <a:spLocks noGrp="1"/>
          </p:cNvSpPr>
          <p:nvPr>
            <p:ph type="body" idx="1"/>
          </p:nvPr>
        </p:nvSpPr>
        <p:spPr>
          <a:xfrm>
            <a:off x="2589212" y="1643450"/>
            <a:ext cx="8915399" cy="4266460"/>
          </a:xfrm>
        </p:spPr>
        <p:txBody>
          <a:bodyPr>
            <a:normAutofit fontScale="92500"/>
          </a:bodyPr>
          <a:lstStyle/>
          <a:p>
            <a:pPr algn="ctr">
              <a:lnSpc>
                <a:spcPct val="150000"/>
              </a:lnSpc>
            </a:pPr>
            <a:r>
              <a:rPr lang="en-US" sz="2800" b="1" dirty="0"/>
              <a:t>The analysis of the Origami Hub website focuses on usability, design, and content quality. The platform is structured to provide easy navigation, clear tutorials, and engaging visuals. It effectively supports creativity, learning, and user interaction through a simple, responsive, and well-organized interface.</a:t>
            </a:r>
          </a:p>
          <a:p>
            <a:endParaRPr lang="en-US" dirty="0"/>
          </a:p>
        </p:txBody>
      </p:sp>
      <p:sp>
        <p:nvSpPr>
          <p:cNvPr id="4" name="Freeform 2">
            <a:extLst>
              <a:ext uri="{FF2B5EF4-FFF2-40B4-BE49-F238E27FC236}">
                <a16:creationId xmlns:a16="http://schemas.microsoft.com/office/drawing/2014/main" id="{F53089E9-6900-1702-051C-1505767414DD}"/>
              </a:ext>
            </a:extLst>
          </p:cNvPr>
          <p:cNvSpPr/>
          <p:nvPr/>
        </p:nvSpPr>
        <p:spPr>
          <a:xfrm rot="1614470" flipH="1" flipV="1">
            <a:off x="9947662" y="469556"/>
            <a:ext cx="1951894" cy="999042"/>
          </a:xfrm>
          <a:custGeom>
            <a:avLst/>
            <a:gdLst/>
            <a:ahLst/>
            <a:cxnLst/>
            <a:rect l="l" t="t" r="r" b="b"/>
            <a:pathLst>
              <a:path w="3356927" h="2038570">
                <a:moveTo>
                  <a:pt x="3356927" y="2038570"/>
                </a:moveTo>
                <a:lnTo>
                  <a:pt x="0" y="2038570"/>
                </a:lnTo>
                <a:lnTo>
                  <a:pt x="0" y="0"/>
                </a:lnTo>
                <a:lnTo>
                  <a:pt x="3356927" y="0"/>
                </a:lnTo>
                <a:lnTo>
                  <a:pt x="3356927" y="2038570"/>
                </a:lnTo>
                <a:close/>
              </a:path>
            </a:pathLst>
          </a:custGeom>
          <a:blipFill>
            <a:blip r:embed="rId2">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1218681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174E8-E847-205F-78CF-8E19B7AA78A9}"/>
              </a:ext>
            </a:extLst>
          </p:cNvPr>
          <p:cNvSpPr>
            <a:spLocks noGrp="1"/>
          </p:cNvSpPr>
          <p:nvPr>
            <p:ph type="title"/>
          </p:nvPr>
        </p:nvSpPr>
        <p:spPr>
          <a:xfrm>
            <a:off x="1847807" y="4399005"/>
            <a:ext cx="9952896" cy="2088291"/>
          </a:xfrm>
        </p:spPr>
        <p:txBody>
          <a:bodyPr>
            <a:normAutofit/>
          </a:bodyPr>
          <a:lstStyle/>
          <a:p>
            <a:pPr algn="ctr"/>
            <a:r>
              <a:rPr lang="en-US" sz="2400" b="1" dirty="0"/>
              <a:t>The analysis of the Origami Hub website shows a strong focus on creativity, usability, and learning efficiency. The website structure is simple and well-organized, making navigation easy for users. Clear categories, visual tutorials, and responsive design enhance the overall user experience. </a:t>
            </a:r>
          </a:p>
        </p:txBody>
      </p:sp>
      <p:pic>
        <p:nvPicPr>
          <p:cNvPr id="1026" name="Picture 2" descr="Colorful origami bird illustration on the left, with three text sections about its history and pronunciation on the right.">
            <a:extLst>
              <a:ext uri="{FF2B5EF4-FFF2-40B4-BE49-F238E27FC236}">
                <a16:creationId xmlns:a16="http://schemas.microsoft.com/office/drawing/2014/main" id="{F8458027-C006-6FCE-81A6-B3D5028C92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5805" y="311959"/>
            <a:ext cx="10237102" cy="3790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747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868B4-4E70-8B31-26BD-314837E30B36}"/>
              </a:ext>
            </a:extLst>
          </p:cNvPr>
          <p:cNvSpPr>
            <a:spLocks noGrp="1"/>
          </p:cNvSpPr>
          <p:nvPr>
            <p:ph type="title"/>
          </p:nvPr>
        </p:nvSpPr>
        <p:spPr>
          <a:xfrm>
            <a:off x="2589212" y="152401"/>
            <a:ext cx="8915399" cy="876592"/>
          </a:xfrm>
        </p:spPr>
        <p:txBody>
          <a:bodyPr>
            <a:normAutofit/>
          </a:bodyPr>
          <a:lstStyle/>
          <a:p>
            <a:pPr algn="ctr"/>
            <a:r>
              <a:rPr lang="en-US" dirty="0">
                <a:solidFill>
                  <a:schemeClr val="tx2">
                    <a:lumMod val="60000"/>
                    <a:lumOff val="40000"/>
                  </a:schemeClr>
                </a:solidFill>
                <a:latin typeface="Cooper Black" panose="0208090404030B020404" pitchFamily="18" charset="0"/>
              </a:rPr>
              <a:t>Project Design</a:t>
            </a:r>
          </a:p>
        </p:txBody>
      </p:sp>
      <p:sp>
        <p:nvSpPr>
          <p:cNvPr id="3" name="Text Placeholder 2">
            <a:extLst>
              <a:ext uri="{FF2B5EF4-FFF2-40B4-BE49-F238E27FC236}">
                <a16:creationId xmlns:a16="http://schemas.microsoft.com/office/drawing/2014/main" id="{F476169A-D68A-DFE0-FA0C-EC02C4C413AE}"/>
              </a:ext>
            </a:extLst>
          </p:cNvPr>
          <p:cNvSpPr>
            <a:spLocks noGrp="1"/>
          </p:cNvSpPr>
          <p:nvPr>
            <p:ph type="body" idx="1"/>
          </p:nvPr>
        </p:nvSpPr>
        <p:spPr>
          <a:xfrm>
            <a:off x="1664678" y="1348163"/>
            <a:ext cx="4794738" cy="5357434"/>
          </a:xfrm>
        </p:spPr>
        <p:txBody>
          <a:bodyPr>
            <a:normAutofit fontScale="92500" lnSpcReduction="20000"/>
          </a:bodyPr>
          <a:lstStyle/>
          <a:p>
            <a:pPr algn="ctr">
              <a:lnSpc>
                <a:spcPct val="150000"/>
              </a:lnSpc>
            </a:pPr>
            <a:r>
              <a:rPr lang="en-US" sz="2400" b="1" dirty="0"/>
              <a:t>The Origami Hub website is designed with a modern, clean, and user-friendly interface. The layout focuses on smooth navigation, attractive color schemes, and responsive design. Clear sections, visual elements, and structured content enhance user experience and make browsing, learning, and purchasing origami products easy and engaging.</a:t>
            </a:r>
          </a:p>
          <a:p>
            <a:endParaRPr lang="en-US" dirty="0"/>
          </a:p>
        </p:txBody>
      </p:sp>
      <p:sp>
        <p:nvSpPr>
          <p:cNvPr id="4" name="Rectangle 3">
            <a:extLst>
              <a:ext uri="{FF2B5EF4-FFF2-40B4-BE49-F238E27FC236}">
                <a16:creationId xmlns:a16="http://schemas.microsoft.com/office/drawing/2014/main" id="{E04E5D98-E975-B11B-7405-01CF7B0F97C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 name="AutoShape 4">
            <a:extLst>
              <a:ext uri="{FF2B5EF4-FFF2-40B4-BE49-F238E27FC236}">
                <a16:creationId xmlns:a16="http://schemas.microsoft.com/office/drawing/2014/main" id="{B28C9305-42B5-9860-12F1-9878299AD3D2}"/>
              </a:ext>
            </a:extLst>
          </p:cNvPr>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Rectangle 5">
            <a:extLst>
              <a:ext uri="{FF2B5EF4-FFF2-40B4-BE49-F238E27FC236}">
                <a16:creationId xmlns:a16="http://schemas.microsoft.com/office/drawing/2014/main" id="{00B8B246-AC82-8ABE-3702-9F431F485EEF}"/>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AutoShape 6">
            <a:extLst>
              <a:ext uri="{FF2B5EF4-FFF2-40B4-BE49-F238E27FC236}">
                <a16:creationId xmlns:a16="http://schemas.microsoft.com/office/drawing/2014/main" id="{DD75C022-4CBF-C003-55DD-7C3B36B47762}"/>
              </a:ext>
            </a:extLst>
          </p:cNvPr>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Rectangle 7">
            <a:extLst>
              <a:ext uri="{FF2B5EF4-FFF2-40B4-BE49-F238E27FC236}">
                <a16:creationId xmlns:a16="http://schemas.microsoft.com/office/drawing/2014/main" id="{E234D3E8-0CCD-66F2-98E9-9A362664F0CE}"/>
              </a:ext>
            </a:extLst>
          </p:cNvPr>
          <p:cNvSpPr>
            <a:spLocks noChangeArrowheads="1"/>
          </p:cNvSpPr>
          <p:nvPr/>
        </p:nvSpPr>
        <p:spPr bwMode="auto">
          <a:xfrm>
            <a:off x="304800" y="304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9" name="AutoShape 8">
            <a:extLst>
              <a:ext uri="{FF2B5EF4-FFF2-40B4-BE49-F238E27FC236}">
                <a16:creationId xmlns:a16="http://schemas.microsoft.com/office/drawing/2014/main" id="{51F62377-FB09-C044-747F-3C9FD68121F8}"/>
              </a:ext>
            </a:extLst>
          </p:cNvPr>
          <p:cNvSpPr>
            <a:spLocks noChangeAspect="1" noChangeArrowheads="1"/>
          </p:cNvSpPr>
          <p:nvPr/>
        </p:nvSpPr>
        <p:spPr bwMode="auto">
          <a:xfrm>
            <a:off x="304800" y="30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1" name="Picture 10">
            <a:extLst>
              <a:ext uri="{FF2B5EF4-FFF2-40B4-BE49-F238E27FC236}">
                <a16:creationId xmlns:a16="http://schemas.microsoft.com/office/drawing/2014/main" id="{A9BD505C-1229-A7AB-2651-1F25618EB004}"/>
              </a:ext>
            </a:extLst>
          </p:cNvPr>
          <p:cNvPicPr>
            <a:picLocks noChangeAspect="1"/>
          </p:cNvPicPr>
          <p:nvPr/>
        </p:nvPicPr>
        <p:blipFill>
          <a:blip r:embed="rId2"/>
          <a:stretch>
            <a:fillRect/>
          </a:stretch>
        </p:blipFill>
        <p:spPr>
          <a:xfrm>
            <a:off x="6822830" y="1348162"/>
            <a:ext cx="5240215" cy="5357435"/>
          </a:xfrm>
          <a:prstGeom prst="rect">
            <a:avLst/>
          </a:prstGeom>
        </p:spPr>
      </p:pic>
      <p:sp>
        <p:nvSpPr>
          <p:cNvPr id="10" name="Freeform 2">
            <a:extLst>
              <a:ext uri="{FF2B5EF4-FFF2-40B4-BE49-F238E27FC236}">
                <a16:creationId xmlns:a16="http://schemas.microsoft.com/office/drawing/2014/main" id="{B5AD74D1-8156-794E-85E5-001ABD526180}"/>
              </a:ext>
            </a:extLst>
          </p:cNvPr>
          <p:cNvSpPr/>
          <p:nvPr/>
        </p:nvSpPr>
        <p:spPr>
          <a:xfrm rot="8215507" flipH="1" flipV="1">
            <a:off x="84733" y="155652"/>
            <a:ext cx="1951894" cy="1083281"/>
          </a:xfrm>
          <a:custGeom>
            <a:avLst/>
            <a:gdLst/>
            <a:ahLst/>
            <a:cxnLst/>
            <a:rect l="l" t="t" r="r" b="b"/>
            <a:pathLst>
              <a:path w="3356927" h="2038570">
                <a:moveTo>
                  <a:pt x="3356927" y="2038570"/>
                </a:moveTo>
                <a:lnTo>
                  <a:pt x="0" y="2038570"/>
                </a:lnTo>
                <a:lnTo>
                  <a:pt x="0" y="0"/>
                </a:lnTo>
                <a:lnTo>
                  <a:pt x="3356927" y="0"/>
                </a:lnTo>
                <a:lnTo>
                  <a:pt x="3356927" y="2038570"/>
                </a:lnTo>
                <a:close/>
              </a:path>
            </a:pathLst>
          </a:custGeom>
          <a:blipFill>
            <a:blip r:embed="rId3">
              <a:extLst>
                <a:ext uri="{96DAC541-7B7A-43D3-8B79-37D633B846F1}">
                  <asvg:svgBlip xmlns:asvg="http://schemas.microsoft.com/office/drawing/2016/SVG/main" r:embed="rId4"/>
                </a:ext>
              </a:extLst>
            </a:blip>
            <a:stretch>
              <a:fillRect/>
            </a:stretch>
          </a:blipFill>
        </p:spPr>
      </p:sp>
    </p:spTree>
    <p:extLst>
      <p:ext uri="{BB962C8B-B14F-4D97-AF65-F5344CB8AC3E}">
        <p14:creationId xmlns:p14="http://schemas.microsoft.com/office/powerpoint/2010/main" val="844375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AA351-D356-ECD9-AAB3-677DEADC836A}"/>
              </a:ext>
            </a:extLst>
          </p:cNvPr>
          <p:cNvSpPr>
            <a:spLocks noGrp="1"/>
          </p:cNvSpPr>
          <p:nvPr>
            <p:ph type="title"/>
          </p:nvPr>
        </p:nvSpPr>
        <p:spPr>
          <a:xfrm>
            <a:off x="2589212" y="609599"/>
            <a:ext cx="8915399" cy="5978769"/>
          </a:xfrm>
        </p:spPr>
        <p:txBody>
          <a:bodyPr>
            <a:normAutofit/>
          </a:bodyPr>
          <a:lstStyle/>
          <a:p>
            <a:pPr algn="ctr"/>
            <a:r>
              <a:rPr lang="en-US" sz="4000" b="1" dirty="0"/>
              <a:t>The design emphasizes smooth navigation, responsive layout, and visually appealing color schemes. Well-organized sections, clear typography, and graphical elements improve usability and provide an engaging and professional user experience across all devices.</a:t>
            </a:r>
          </a:p>
        </p:txBody>
      </p:sp>
      <p:sp>
        <p:nvSpPr>
          <p:cNvPr id="4" name="Freeform 2">
            <a:extLst>
              <a:ext uri="{FF2B5EF4-FFF2-40B4-BE49-F238E27FC236}">
                <a16:creationId xmlns:a16="http://schemas.microsoft.com/office/drawing/2014/main" id="{B3D720CB-32FA-6663-6B89-2D66C70346BC}"/>
              </a:ext>
            </a:extLst>
          </p:cNvPr>
          <p:cNvSpPr/>
          <p:nvPr/>
        </p:nvSpPr>
        <p:spPr>
          <a:xfrm rot="19042531" flipH="1" flipV="1">
            <a:off x="351734" y="433487"/>
            <a:ext cx="1951894" cy="1360836"/>
          </a:xfrm>
          <a:custGeom>
            <a:avLst/>
            <a:gdLst/>
            <a:ahLst/>
            <a:cxnLst/>
            <a:rect l="l" t="t" r="r" b="b"/>
            <a:pathLst>
              <a:path w="3356927" h="2038570">
                <a:moveTo>
                  <a:pt x="3356927" y="2038570"/>
                </a:moveTo>
                <a:lnTo>
                  <a:pt x="0" y="2038570"/>
                </a:lnTo>
                <a:lnTo>
                  <a:pt x="0" y="0"/>
                </a:lnTo>
                <a:lnTo>
                  <a:pt x="3356927" y="0"/>
                </a:lnTo>
                <a:lnTo>
                  <a:pt x="3356927" y="2038570"/>
                </a:lnTo>
                <a:close/>
              </a:path>
            </a:pathLst>
          </a:custGeom>
          <a:blipFill>
            <a:blip r:embed="rId2">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277945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DB6FC-EFE1-CAB4-4C2D-F537960754CB}"/>
              </a:ext>
            </a:extLst>
          </p:cNvPr>
          <p:cNvSpPr>
            <a:spLocks noGrp="1"/>
          </p:cNvSpPr>
          <p:nvPr>
            <p:ph type="title"/>
          </p:nvPr>
        </p:nvSpPr>
        <p:spPr>
          <a:xfrm>
            <a:off x="2589212" y="492369"/>
            <a:ext cx="8915399" cy="726831"/>
          </a:xfrm>
        </p:spPr>
        <p:txBody>
          <a:bodyPr>
            <a:noAutofit/>
          </a:bodyPr>
          <a:lstStyle/>
          <a:p>
            <a:pPr algn="ctr"/>
            <a:r>
              <a:rPr lang="en-US" dirty="0">
                <a:solidFill>
                  <a:schemeClr val="tx2">
                    <a:lumMod val="60000"/>
                    <a:lumOff val="40000"/>
                  </a:schemeClr>
                </a:solidFill>
                <a:latin typeface="Cooper Black" panose="0208090404030B020404" pitchFamily="18" charset="0"/>
              </a:rPr>
              <a:t> DFD’s</a:t>
            </a:r>
          </a:p>
        </p:txBody>
      </p:sp>
      <p:sp>
        <p:nvSpPr>
          <p:cNvPr id="3" name="Text Placeholder 2">
            <a:extLst>
              <a:ext uri="{FF2B5EF4-FFF2-40B4-BE49-F238E27FC236}">
                <a16:creationId xmlns:a16="http://schemas.microsoft.com/office/drawing/2014/main" id="{B6ED80BB-F778-C74F-ACD8-9EC9B95D3D00}"/>
              </a:ext>
            </a:extLst>
          </p:cNvPr>
          <p:cNvSpPr>
            <a:spLocks noGrp="1"/>
          </p:cNvSpPr>
          <p:nvPr>
            <p:ph type="body" idx="1"/>
          </p:nvPr>
        </p:nvSpPr>
        <p:spPr>
          <a:xfrm>
            <a:off x="1875692" y="1324707"/>
            <a:ext cx="5205045" cy="5322277"/>
          </a:xfrm>
        </p:spPr>
        <p:txBody>
          <a:bodyPr>
            <a:normAutofit/>
          </a:bodyPr>
          <a:lstStyle/>
          <a:p>
            <a:pPr algn="ctr"/>
            <a:r>
              <a:rPr lang="en-US" sz="2800" b="1" dirty="0"/>
              <a:t>The Data Flow Diagram of the Origami Hub website illustrates how user data flows through the system. It shows interactions between users, processes, and the database, including browsing products, submitting inquiries, and placing orders, ensuring accurate data handling and smooth system operations.</a:t>
            </a:r>
          </a:p>
        </p:txBody>
      </p:sp>
      <p:pic>
        <p:nvPicPr>
          <p:cNvPr id="5" name="Picture 4">
            <a:extLst>
              <a:ext uri="{FF2B5EF4-FFF2-40B4-BE49-F238E27FC236}">
                <a16:creationId xmlns:a16="http://schemas.microsoft.com/office/drawing/2014/main" id="{4DEB09AB-A59A-CDE2-2CE8-2639D692604A}"/>
              </a:ext>
            </a:extLst>
          </p:cNvPr>
          <p:cNvPicPr>
            <a:picLocks noChangeAspect="1"/>
          </p:cNvPicPr>
          <p:nvPr/>
        </p:nvPicPr>
        <p:blipFill>
          <a:blip r:embed="rId2"/>
          <a:stretch>
            <a:fillRect/>
          </a:stretch>
        </p:blipFill>
        <p:spPr>
          <a:xfrm>
            <a:off x="7502769" y="1324707"/>
            <a:ext cx="4287244" cy="5322277"/>
          </a:xfrm>
          <a:prstGeom prst="rect">
            <a:avLst/>
          </a:prstGeom>
        </p:spPr>
      </p:pic>
      <p:sp>
        <p:nvSpPr>
          <p:cNvPr id="4" name="Freeform 2">
            <a:extLst>
              <a:ext uri="{FF2B5EF4-FFF2-40B4-BE49-F238E27FC236}">
                <a16:creationId xmlns:a16="http://schemas.microsoft.com/office/drawing/2014/main" id="{D20A599F-44E6-C8FF-0DE3-370FB6AF73F8}"/>
              </a:ext>
            </a:extLst>
          </p:cNvPr>
          <p:cNvSpPr/>
          <p:nvPr/>
        </p:nvSpPr>
        <p:spPr>
          <a:xfrm rot="19935555" flipH="1" flipV="1">
            <a:off x="217510" y="493002"/>
            <a:ext cx="1951894" cy="999042"/>
          </a:xfrm>
          <a:custGeom>
            <a:avLst/>
            <a:gdLst/>
            <a:ahLst/>
            <a:cxnLst/>
            <a:rect l="l" t="t" r="r" b="b"/>
            <a:pathLst>
              <a:path w="3356927" h="2038570">
                <a:moveTo>
                  <a:pt x="3356927" y="2038570"/>
                </a:moveTo>
                <a:lnTo>
                  <a:pt x="0" y="2038570"/>
                </a:lnTo>
                <a:lnTo>
                  <a:pt x="0" y="0"/>
                </a:lnTo>
                <a:lnTo>
                  <a:pt x="3356927" y="0"/>
                </a:lnTo>
                <a:lnTo>
                  <a:pt x="3356927" y="2038570"/>
                </a:lnTo>
                <a:close/>
              </a:path>
            </a:pathLst>
          </a:custGeom>
          <a:blipFill>
            <a:blip r:embed="rId3">
              <a:extLst>
                <a:ext uri="{96DAC541-7B7A-43D3-8B79-37D633B846F1}">
                  <asvg:svgBlip xmlns:asvg="http://schemas.microsoft.com/office/drawing/2016/SVG/main" r:embed="rId4"/>
                </a:ext>
              </a:extLst>
            </a:blip>
            <a:stretch>
              <a:fillRect/>
            </a:stretch>
          </a:blipFill>
        </p:spPr>
      </p:sp>
    </p:spTree>
    <p:extLst>
      <p:ext uri="{BB962C8B-B14F-4D97-AF65-F5344CB8AC3E}">
        <p14:creationId xmlns:p14="http://schemas.microsoft.com/office/powerpoint/2010/main" val="1242742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9D483-0319-A767-56B7-D9CE2D8756CA}"/>
              </a:ext>
            </a:extLst>
          </p:cNvPr>
          <p:cNvSpPr>
            <a:spLocks noGrp="1"/>
          </p:cNvSpPr>
          <p:nvPr>
            <p:ph type="title"/>
          </p:nvPr>
        </p:nvSpPr>
        <p:spPr>
          <a:xfrm>
            <a:off x="2589212" y="609599"/>
            <a:ext cx="8915399" cy="5931877"/>
          </a:xfrm>
        </p:spPr>
        <p:txBody>
          <a:bodyPr>
            <a:normAutofit/>
          </a:bodyPr>
          <a:lstStyle/>
          <a:p>
            <a:pPr algn="ctr"/>
            <a:r>
              <a:rPr lang="en-US" sz="3600" b="1" dirty="0"/>
              <a:t>The DFD also represents backend processes such as user authentication, order management, and content updates. It helps in understanding how information is processed, stored, and retrieved efficiently, making the website reliable, organized, and easy to manage from both user and admin perspectives.</a:t>
            </a:r>
            <a:br>
              <a:rPr lang="en-US" sz="3600" b="1" dirty="0"/>
            </a:br>
            <a:endParaRPr lang="en-US" sz="3600" b="1" dirty="0"/>
          </a:p>
        </p:txBody>
      </p:sp>
      <p:sp>
        <p:nvSpPr>
          <p:cNvPr id="4" name="Freeform 2">
            <a:extLst>
              <a:ext uri="{FF2B5EF4-FFF2-40B4-BE49-F238E27FC236}">
                <a16:creationId xmlns:a16="http://schemas.microsoft.com/office/drawing/2014/main" id="{8C5F4524-B8E3-A808-7DAC-89DE0BA3171F}"/>
              </a:ext>
            </a:extLst>
          </p:cNvPr>
          <p:cNvSpPr/>
          <p:nvPr/>
        </p:nvSpPr>
        <p:spPr>
          <a:xfrm rot="8374259" flipH="1" flipV="1">
            <a:off x="122112" y="364402"/>
            <a:ext cx="1951894" cy="956873"/>
          </a:xfrm>
          <a:custGeom>
            <a:avLst/>
            <a:gdLst/>
            <a:ahLst/>
            <a:cxnLst/>
            <a:rect l="l" t="t" r="r" b="b"/>
            <a:pathLst>
              <a:path w="3356927" h="2038570">
                <a:moveTo>
                  <a:pt x="3356927" y="2038570"/>
                </a:moveTo>
                <a:lnTo>
                  <a:pt x="0" y="2038570"/>
                </a:lnTo>
                <a:lnTo>
                  <a:pt x="0" y="0"/>
                </a:lnTo>
                <a:lnTo>
                  <a:pt x="3356927" y="0"/>
                </a:lnTo>
                <a:lnTo>
                  <a:pt x="3356927" y="2038570"/>
                </a:lnTo>
                <a:close/>
              </a:path>
            </a:pathLst>
          </a:custGeom>
          <a:blipFill>
            <a:blip r:embed="rId2">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3670347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64A44-474A-3ED9-A4B6-CB1386EF43A6}"/>
              </a:ext>
            </a:extLst>
          </p:cNvPr>
          <p:cNvSpPr>
            <a:spLocks noGrp="1"/>
          </p:cNvSpPr>
          <p:nvPr>
            <p:ph type="title"/>
          </p:nvPr>
        </p:nvSpPr>
        <p:spPr>
          <a:xfrm>
            <a:off x="2589212" y="124171"/>
            <a:ext cx="8915399" cy="919183"/>
          </a:xfrm>
        </p:spPr>
        <p:txBody>
          <a:bodyPr>
            <a:normAutofit/>
          </a:bodyPr>
          <a:lstStyle/>
          <a:p>
            <a:pPr algn="ctr"/>
            <a:r>
              <a:rPr lang="en-US" dirty="0">
                <a:solidFill>
                  <a:schemeClr val="tx2">
                    <a:lumMod val="60000"/>
                    <a:lumOff val="40000"/>
                  </a:schemeClr>
                </a:solidFill>
                <a:latin typeface="Cooper Black" panose="0208090404030B020404" pitchFamily="18" charset="0"/>
              </a:rPr>
              <a:t>Flow Chart</a:t>
            </a:r>
          </a:p>
        </p:txBody>
      </p:sp>
      <p:pic>
        <p:nvPicPr>
          <p:cNvPr id="4" name="Picture 3">
            <a:extLst>
              <a:ext uri="{FF2B5EF4-FFF2-40B4-BE49-F238E27FC236}">
                <a16:creationId xmlns:a16="http://schemas.microsoft.com/office/drawing/2014/main" id="{B3E5F495-0E07-39BE-3420-EE9BB06527D3}"/>
              </a:ext>
            </a:extLst>
          </p:cNvPr>
          <p:cNvPicPr>
            <a:picLocks noChangeAspect="1"/>
          </p:cNvPicPr>
          <p:nvPr/>
        </p:nvPicPr>
        <p:blipFill>
          <a:blip r:embed="rId2"/>
          <a:stretch>
            <a:fillRect/>
          </a:stretch>
        </p:blipFill>
        <p:spPr>
          <a:xfrm>
            <a:off x="1946030" y="1195754"/>
            <a:ext cx="9964615" cy="5662246"/>
          </a:xfrm>
          <a:prstGeom prst="rect">
            <a:avLst/>
          </a:prstGeom>
        </p:spPr>
      </p:pic>
      <p:sp>
        <p:nvSpPr>
          <p:cNvPr id="3" name="Freeform 2">
            <a:extLst>
              <a:ext uri="{FF2B5EF4-FFF2-40B4-BE49-F238E27FC236}">
                <a16:creationId xmlns:a16="http://schemas.microsoft.com/office/drawing/2014/main" id="{A6D6092A-02A4-C96F-1A96-A80BA60F3EE4}"/>
              </a:ext>
            </a:extLst>
          </p:cNvPr>
          <p:cNvSpPr/>
          <p:nvPr/>
        </p:nvSpPr>
        <p:spPr>
          <a:xfrm rot="8273226" flipH="1" flipV="1">
            <a:off x="29577" y="184286"/>
            <a:ext cx="1951894" cy="1094851"/>
          </a:xfrm>
          <a:custGeom>
            <a:avLst/>
            <a:gdLst/>
            <a:ahLst/>
            <a:cxnLst/>
            <a:rect l="l" t="t" r="r" b="b"/>
            <a:pathLst>
              <a:path w="3356927" h="2038570">
                <a:moveTo>
                  <a:pt x="3356927" y="2038570"/>
                </a:moveTo>
                <a:lnTo>
                  <a:pt x="0" y="2038570"/>
                </a:lnTo>
                <a:lnTo>
                  <a:pt x="0" y="0"/>
                </a:lnTo>
                <a:lnTo>
                  <a:pt x="3356927" y="0"/>
                </a:lnTo>
                <a:lnTo>
                  <a:pt x="3356927" y="2038570"/>
                </a:lnTo>
                <a:close/>
              </a:path>
            </a:pathLst>
          </a:custGeom>
          <a:blipFill>
            <a:blip r:embed="rId3">
              <a:extLst>
                <a:ext uri="{96DAC541-7B7A-43D3-8B79-37D633B846F1}">
                  <asvg:svgBlip xmlns:asvg="http://schemas.microsoft.com/office/drawing/2016/SVG/main" r:embed="rId4"/>
                </a:ext>
              </a:extLst>
            </a:blip>
            <a:stretch>
              <a:fillRect/>
            </a:stretch>
          </a:blipFill>
        </p:spPr>
      </p:sp>
    </p:spTree>
    <p:extLst>
      <p:ext uri="{BB962C8B-B14F-4D97-AF65-F5344CB8AC3E}">
        <p14:creationId xmlns:p14="http://schemas.microsoft.com/office/powerpoint/2010/main" val="27932110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95AC2-F768-DEFD-DFBB-62604AA1ACAC}"/>
              </a:ext>
            </a:extLst>
          </p:cNvPr>
          <p:cNvSpPr>
            <a:spLocks noGrp="1"/>
          </p:cNvSpPr>
          <p:nvPr>
            <p:ph type="title"/>
          </p:nvPr>
        </p:nvSpPr>
        <p:spPr>
          <a:xfrm>
            <a:off x="2589212" y="-386862"/>
            <a:ext cx="8915399" cy="4740908"/>
          </a:xfrm>
        </p:spPr>
        <p:txBody>
          <a:bodyPr>
            <a:noAutofit/>
          </a:bodyPr>
          <a:lstStyle/>
          <a:p>
            <a:pPr algn="ctr"/>
            <a:r>
              <a:rPr lang="en-US" sz="2400" b="1" dirty="0"/>
              <a:t>The flowchart of the Origami Hub website represents the step-by-step flow of user activities within the system. It shows how users navigate from the homepage to browsing origami products, viewing details, and submitting orders or inquiries, ensuring a smooth and logical process flow.</a:t>
            </a:r>
          </a:p>
        </p:txBody>
      </p:sp>
      <p:sp>
        <p:nvSpPr>
          <p:cNvPr id="3" name="Text Placeholder 2">
            <a:extLst>
              <a:ext uri="{FF2B5EF4-FFF2-40B4-BE49-F238E27FC236}">
                <a16:creationId xmlns:a16="http://schemas.microsoft.com/office/drawing/2014/main" id="{F1B9DC8F-5934-6A93-E043-9947404EF0FB}"/>
              </a:ext>
            </a:extLst>
          </p:cNvPr>
          <p:cNvSpPr>
            <a:spLocks noGrp="1"/>
          </p:cNvSpPr>
          <p:nvPr>
            <p:ph type="body" idx="1"/>
          </p:nvPr>
        </p:nvSpPr>
        <p:spPr>
          <a:xfrm>
            <a:off x="2589212" y="3188677"/>
            <a:ext cx="8915399" cy="2721233"/>
          </a:xfrm>
        </p:spPr>
        <p:txBody>
          <a:bodyPr/>
          <a:lstStyle/>
          <a:p>
            <a:pPr algn="ctr"/>
            <a:r>
              <a:rPr lang="en-US" sz="2400" b="1" dirty="0">
                <a:solidFill>
                  <a:schemeClr val="tx1">
                    <a:lumMod val="85000"/>
                    <a:lumOff val="15000"/>
                  </a:schemeClr>
                </a:solidFill>
              </a:rPr>
              <a:t>The flowchart also highlights decision points such as user login, product selection, and order confirmation. This visual representation helps in understanding system functionality, improves clarity of operations, and supports efficient website management and user interaction.</a:t>
            </a:r>
          </a:p>
          <a:p>
            <a:endParaRPr lang="en-US" dirty="0"/>
          </a:p>
        </p:txBody>
      </p:sp>
      <p:sp>
        <p:nvSpPr>
          <p:cNvPr id="4" name="Freeform 2">
            <a:extLst>
              <a:ext uri="{FF2B5EF4-FFF2-40B4-BE49-F238E27FC236}">
                <a16:creationId xmlns:a16="http://schemas.microsoft.com/office/drawing/2014/main" id="{B75B3AE8-C6AE-B257-928D-145AC613B5F2}"/>
              </a:ext>
            </a:extLst>
          </p:cNvPr>
          <p:cNvSpPr/>
          <p:nvPr/>
        </p:nvSpPr>
        <p:spPr>
          <a:xfrm rot="1614470" flipH="1" flipV="1">
            <a:off x="10119704" y="5569094"/>
            <a:ext cx="1951894" cy="999042"/>
          </a:xfrm>
          <a:custGeom>
            <a:avLst/>
            <a:gdLst/>
            <a:ahLst/>
            <a:cxnLst/>
            <a:rect l="l" t="t" r="r" b="b"/>
            <a:pathLst>
              <a:path w="3356927" h="2038570">
                <a:moveTo>
                  <a:pt x="3356927" y="2038570"/>
                </a:moveTo>
                <a:lnTo>
                  <a:pt x="0" y="2038570"/>
                </a:lnTo>
                <a:lnTo>
                  <a:pt x="0" y="0"/>
                </a:lnTo>
                <a:lnTo>
                  <a:pt x="3356927" y="0"/>
                </a:lnTo>
                <a:lnTo>
                  <a:pt x="3356927" y="2038570"/>
                </a:lnTo>
                <a:close/>
              </a:path>
            </a:pathLst>
          </a:custGeom>
          <a:blipFill>
            <a:blip r:embed="rId2">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1686821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6B78F-62B2-24B4-A4F3-E91EA75B902A}"/>
              </a:ext>
            </a:extLst>
          </p:cNvPr>
          <p:cNvSpPr>
            <a:spLocks noGrp="1"/>
          </p:cNvSpPr>
          <p:nvPr>
            <p:ph type="title"/>
          </p:nvPr>
        </p:nvSpPr>
        <p:spPr>
          <a:xfrm>
            <a:off x="2589212" y="609600"/>
            <a:ext cx="8915399" cy="480646"/>
          </a:xfrm>
        </p:spPr>
        <p:txBody>
          <a:bodyPr>
            <a:noAutofit/>
          </a:bodyPr>
          <a:lstStyle/>
          <a:p>
            <a:pPr algn="ctr"/>
            <a:r>
              <a:rPr lang="en-US" dirty="0">
                <a:solidFill>
                  <a:schemeClr val="tx2">
                    <a:lumMod val="60000"/>
                    <a:lumOff val="40000"/>
                  </a:schemeClr>
                </a:solidFill>
                <a:latin typeface="Cooper Black" panose="0208090404030B020404" pitchFamily="18" charset="0"/>
              </a:rPr>
              <a:t>Process Diagram</a:t>
            </a:r>
          </a:p>
        </p:txBody>
      </p:sp>
      <p:pic>
        <p:nvPicPr>
          <p:cNvPr id="4" name="Picture 3">
            <a:extLst>
              <a:ext uri="{FF2B5EF4-FFF2-40B4-BE49-F238E27FC236}">
                <a16:creationId xmlns:a16="http://schemas.microsoft.com/office/drawing/2014/main" id="{1188A2A4-B9FB-ABD5-7F4A-BD350E928F7D}"/>
              </a:ext>
            </a:extLst>
          </p:cNvPr>
          <p:cNvPicPr>
            <a:picLocks noChangeAspect="1"/>
          </p:cNvPicPr>
          <p:nvPr/>
        </p:nvPicPr>
        <p:blipFill>
          <a:blip r:embed="rId2"/>
          <a:stretch>
            <a:fillRect/>
          </a:stretch>
        </p:blipFill>
        <p:spPr>
          <a:xfrm>
            <a:off x="2211822" y="1428735"/>
            <a:ext cx="9476085" cy="5312033"/>
          </a:xfrm>
          <a:prstGeom prst="rect">
            <a:avLst/>
          </a:prstGeom>
        </p:spPr>
      </p:pic>
      <p:sp>
        <p:nvSpPr>
          <p:cNvPr id="3" name="Freeform 2">
            <a:extLst>
              <a:ext uri="{FF2B5EF4-FFF2-40B4-BE49-F238E27FC236}">
                <a16:creationId xmlns:a16="http://schemas.microsoft.com/office/drawing/2014/main" id="{EDDDF6CE-3F28-B6B7-C486-37A83588C545}"/>
              </a:ext>
            </a:extLst>
          </p:cNvPr>
          <p:cNvSpPr/>
          <p:nvPr/>
        </p:nvSpPr>
        <p:spPr>
          <a:xfrm rot="8675666" flipH="1" flipV="1">
            <a:off x="82944" y="139904"/>
            <a:ext cx="1951894" cy="1119364"/>
          </a:xfrm>
          <a:custGeom>
            <a:avLst/>
            <a:gdLst/>
            <a:ahLst/>
            <a:cxnLst/>
            <a:rect l="l" t="t" r="r" b="b"/>
            <a:pathLst>
              <a:path w="3356927" h="2038570">
                <a:moveTo>
                  <a:pt x="3356927" y="2038570"/>
                </a:moveTo>
                <a:lnTo>
                  <a:pt x="0" y="2038570"/>
                </a:lnTo>
                <a:lnTo>
                  <a:pt x="0" y="0"/>
                </a:lnTo>
                <a:lnTo>
                  <a:pt x="3356927" y="0"/>
                </a:lnTo>
                <a:lnTo>
                  <a:pt x="3356927" y="2038570"/>
                </a:lnTo>
                <a:close/>
              </a:path>
            </a:pathLst>
          </a:custGeom>
          <a:blipFill>
            <a:blip r:embed="rId3">
              <a:extLst>
                <a:ext uri="{96DAC541-7B7A-43D3-8B79-37D633B846F1}">
                  <asvg:svgBlip xmlns:asvg="http://schemas.microsoft.com/office/drawing/2016/SVG/main" r:embed="rId4"/>
                </a:ext>
              </a:extLst>
            </a:blip>
            <a:stretch>
              <a:fillRect/>
            </a:stretch>
          </a:blipFill>
        </p:spPr>
      </p:sp>
    </p:spTree>
    <p:extLst>
      <p:ext uri="{BB962C8B-B14F-4D97-AF65-F5344CB8AC3E}">
        <p14:creationId xmlns:p14="http://schemas.microsoft.com/office/powerpoint/2010/main" val="802536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C8737-124B-C32E-8462-7D55D0F0E33C}"/>
              </a:ext>
            </a:extLst>
          </p:cNvPr>
          <p:cNvSpPr>
            <a:spLocks noGrp="1"/>
          </p:cNvSpPr>
          <p:nvPr>
            <p:ph type="title"/>
          </p:nvPr>
        </p:nvSpPr>
        <p:spPr>
          <a:xfrm>
            <a:off x="2589212" y="609600"/>
            <a:ext cx="8915399" cy="5615354"/>
          </a:xfrm>
        </p:spPr>
        <p:txBody>
          <a:bodyPr>
            <a:normAutofit fontScale="90000"/>
          </a:bodyPr>
          <a:lstStyle/>
          <a:p>
            <a:pPr algn="ctr">
              <a:lnSpc>
                <a:spcPct val="150000"/>
              </a:lnSpc>
            </a:pPr>
            <a:br>
              <a:rPr lang="en-US" sz="3200" b="1" dirty="0"/>
            </a:br>
            <a:r>
              <a:rPr lang="en-US" sz="3200" b="1" dirty="0"/>
              <a:t>The process diagram of the Origami Hub website illustrates the complete workflow of system operations. It shows how user requests are received, processed, and converted into actions such as product browsing, order placement, and inquiry submission, ensuring smooth coordination between frontend and backend processes.</a:t>
            </a:r>
          </a:p>
        </p:txBody>
      </p:sp>
      <p:sp>
        <p:nvSpPr>
          <p:cNvPr id="4" name="Freeform 2">
            <a:extLst>
              <a:ext uri="{FF2B5EF4-FFF2-40B4-BE49-F238E27FC236}">
                <a16:creationId xmlns:a16="http://schemas.microsoft.com/office/drawing/2014/main" id="{96D45B75-35AC-DA7A-FF19-2AF69DDCF254}"/>
              </a:ext>
            </a:extLst>
          </p:cNvPr>
          <p:cNvSpPr/>
          <p:nvPr/>
        </p:nvSpPr>
        <p:spPr>
          <a:xfrm rot="8324845" flipH="1" flipV="1">
            <a:off x="146993" y="337769"/>
            <a:ext cx="1951894" cy="945146"/>
          </a:xfrm>
          <a:custGeom>
            <a:avLst/>
            <a:gdLst/>
            <a:ahLst/>
            <a:cxnLst/>
            <a:rect l="l" t="t" r="r" b="b"/>
            <a:pathLst>
              <a:path w="3356927" h="2038570">
                <a:moveTo>
                  <a:pt x="3356927" y="2038570"/>
                </a:moveTo>
                <a:lnTo>
                  <a:pt x="0" y="2038570"/>
                </a:lnTo>
                <a:lnTo>
                  <a:pt x="0" y="0"/>
                </a:lnTo>
                <a:lnTo>
                  <a:pt x="3356927" y="0"/>
                </a:lnTo>
                <a:lnTo>
                  <a:pt x="3356927" y="2038570"/>
                </a:lnTo>
                <a:close/>
              </a:path>
            </a:pathLst>
          </a:custGeom>
          <a:blipFill>
            <a:blip r:embed="rId2">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21186342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6F9DD-EF3A-BD64-5FBD-DD7D99A8F049}"/>
              </a:ext>
            </a:extLst>
          </p:cNvPr>
          <p:cNvSpPr>
            <a:spLocks noGrp="1"/>
          </p:cNvSpPr>
          <p:nvPr>
            <p:ph type="title"/>
          </p:nvPr>
        </p:nvSpPr>
        <p:spPr>
          <a:xfrm>
            <a:off x="2589212" y="152400"/>
            <a:ext cx="8915399" cy="937846"/>
          </a:xfrm>
        </p:spPr>
        <p:txBody>
          <a:bodyPr>
            <a:noAutofit/>
          </a:bodyPr>
          <a:lstStyle/>
          <a:p>
            <a:pPr algn="ctr"/>
            <a:r>
              <a:rPr lang="en-US" dirty="0">
                <a:solidFill>
                  <a:schemeClr val="tx2">
                    <a:lumMod val="60000"/>
                    <a:lumOff val="40000"/>
                  </a:schemeClr>
                </a:solidFill>
                <a:latin typeface="Cooper Black" panose="0208090404030B020404" pitchFamily="18" charset="0"/>
              </a:rPr>
              <a:t>Database Design/Structure</a:t>
            </a:r>
          </a:p>
        </p:txBody>
      </p:sp>
      <p:sp>
        <p:nvSpPr>
          <p:cNvPr id="3" name="Text Placeholder 2">
            <a:extLst>
              <a:ext uri="{FF2B5EF4-FFF2-40B4-BE49-F238E27FC236}">
                <a16:creationId xmlns:a16="http://schemas.microsoft.com/office/drawing/2014/main" id="{61234399-51C6-BECD-9E7F-75EB61788FBA}"/>
              </a:ext>
            </a:extLst>
          </p:cNvPr>
          <p:cNvSpPr>
            <a:spLocks noGrp="1"/>
          </p:cNvSpPr>
          <p:nvPr>
            <p:ph type="body" idx="1"/>
          </p:nvPr>
        </p:nvSpPr>
        <p:spPr>
          <a:xfrm>
            <a:off x="2061675" y="1277815"/>
            <a:ext cx="4503248" cy="5263662"/>
          </a:xfrm>
        </p:spPr>
        <p:txBody>
          <a:bodyPr>
            <a:noAutofit/>
          </a:bodyPr>
          <a:lstStyle/>
          <a:p>
            <a:pPr algn="ctr"/>
            <a:r>
              <a:rPr lang="en-US" sz="2800" b="1" dirty="0"/>
              <a:t>The database design structure of the Origami Hub website organizes all system data in a structured and efficient manner. It includes tables for users, products, categories, orders, and inquiries, ensuring accurate data storage, easy retrieval, and data consistency across the website.</a:t>
            </a:r>
          </a:p>
        </p:txBody>
      </p:sp>
      <p:pic>
        <p:nvPicPr>
          <p:cNvPr id="4" name="Picture 3">
            <a:extLst>
              <a:ext uri="{FF2B5EF4-FFF2-40B4-BE49-F238E27FC236}">
                <a16:creationId xmlns:a16="http://schemas.microsoft.com/office/drawing/2014/main" id="{94493CBC-C75D-AB7E-FB9A-4F18833DD647}"/>
              </a:ext>
            </a:extLst>
          </p:cNvPr>
          <p:cNvPicPr>
            <a:picLocks noChangeAspect="1"/>
          </p:cNvPicPr>
          <p:nvPr/>
        </p:nvPicPr>
        <p:blipFill>
          <a:blip r:embed="rId2"/>
          <a:stretch>
            <a:fillRect/>
          </a:stretch>
        </p:blipFill>
        <p:spPr>
          <a:xfrm>
            <a:off x="6963507" y="1090246"/>
            <a:ext cx="4712677" cy="5451231"/>
          </a:xfrm>
          <a:prstGeom prst="rect">
            <a:avLst/>
          </a:prstGeom>
        </p:spPr>
      </p:pic>
      <p:sp>
        <p:nvSpPr>
          <p:cNvPr id="5" name="Freeform 2">
            <a:extLst>
              <a:ext uri="{FF2B5EF4-FFF2-40B4-BE49-F238E27FC236}">
                <a16:creationId xmlns:a16="http://schemas.microsoft.com/office/drawing/2014/main" id="{A0176B2E-721D-BCA2-7C33-C57ADA487AE9}"/>
              </a:ext>
            </a:extLst>
          </p:cNvPr>
          <p:cNvSpPr/>
          <p:nvPr/>
        </p:nvSpPr>
        <p:spPr>
          <a:xfrm rot="9045862" flipH="1" flipV="1">
            <a:off x="135420" y="248788"/>
            <a:ext cx="1951894" cy="1031830"/>
          </a:xfrm>
          <a:custGeom>
            <a:avLst/>
            <a:gdLst/>
            <a:ahLst/>
            <a:cxnLst/>
            <a:rect l="l" t="t" r="r" b="b"/>
            <a:pathLst>
              <a:path w="3356927" h="2038570">
                <a:moveTo>
                  <a:pt x="3356927" y="2038570"/>
                </a:moveTo>
                <a:lnTo>
                  <a:pt x="0" y="2038570"/>
                </a:lnTo>
                <a:lnTo>
                  <a:pt x="0" y="0"/>
                </a:lnTo>
                <a:lnTo>
                  <a:pt x="3356927" y="0"/>
                </a:lnTo>
                <a:lnTo>
                  <a:pt x="3356927" y="2038570"/>
                </a:lnTo>
                <a:close/>
              </a:path>
            </a:pathLst>
          </a:custGeom>
          <a:blipFill>
            <a:blip r:embed="rId3">
              <a:extLst>
                <a:ext uri="{96DAC541-7B7A-43D3-8B79-37D633B846F1}">
                  <asvg:svgBlip xmlns:asvg="http://schemas.microsoft.com/office/drawing/2016/SVG/main" r:embed="rId4"/>
                </a:ext>
              </a:extLst>
            </a:blip>
            <a:stretch>
              <a:fillRect/>
            </a:stretch>
          </a:blipFill>
        </p:spPr>
      </p:sp>
    </p:spTree>
    <p:extLst>
      <p:ext uri="{BB962C8B-B14F-4D97-AF65-F5344CB8AC3E}">
        <p14:creationId xmlns:p14="http://schemas.microsoft.com/office/powerpoint/2010/main" val="690393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C6E3D-CF5A-F22B-B63D-16B71336F51A}"/>
              </a:ext>
            </a:extLst>
          </p:cNvPr>
          <p:cNvSpPr>
            <a:spLocks noGrp="1"/>
          </p:cNvSpPr>
          <p:nvPr>
            <p:ph type="title"/>
          </p:nvPr>
        </p:nvSpPr>
        <p:spPr>
          <a:xfrm>
            <a:off x="2589212" y="609600"/>
            <a:ext cx="8915399" cy="5767754"/>
          </a:xfrm>
        </p:spPr>
        <p:txBody>
          <a:bodyPr>
            <a:noAutofit/>
          </a:bodyPr>
          <a:lstStyle/>
          <a:p>
            <a:pPr algn="ctr"/>
            <a:r>
              <a:rPr lang="en-US" sz="3600" b="1" dirty="0"/>
              <a:t>The database structure also supports secure user authentication and smooth order management. Proper relationships between tables improve system performance, reduce data redundancy, and make the website scalable, reliable, and easy to maintain for future enhancements</a:t>
            </a:r>
          </a:p>
        </p:txBody>
      </p:sp>
      <p:sp>
        <p:nvSpPr>
          <p:cNvPr id="4" name="Freeform 2">
            <a:extLst>
              <a:ext uri="{FF2B5EF4-FFF2-40B4-BE49-F238E27FC236}">
                <a16:creationId xmlns:a16="http://schemas.microsoft.com/office/drawing/2014/main" id="{8B4CEB3B-BBA7-53C5-0524-EF5353814549}"/>
              </a:ext>
            </a:extLst>
          </p:cNvPr>
          <p:cNvSpPr/>
          <p:nvPr/>
        </p:nvSpPr>
        <p:spPr>
          <a:xfrm rot="1614470" flipH="1" flipV="1">
            <a:off x="9947662" y="469556"/>
            <a:ext cx="1951894" cy="999042"/>
          </a:xfrm>
          <a:custGeom>
            <a:avLst/>
            <a:gdLst/>
            <a:ahLst/>
            <a:cxnLst/>
            <a:rect l="l" t="t" r="r" b="b"/>
            <a:pathLst>
              <a:path w="3356927" h="2038570">
                <a:moveTo>
                  <a:pt x="3356927" y="2038570"/>
                </a:moveTo>
                <a:lnTo>
                  <a:pt x="0" y="2038570"/>
                </a:lnTo>
                <a:lnTo>
                  <a:pt x="0" y="0"/>
                </a:lnTo>
                <a:lnTo>
                  <a:pt x="3356927" y="0"/>
                </a:lnTo>
                <a:lnTo>
                  <a:pt x="3356927" y="2038570"/>
                </a:lnTo>
                <a:close/>
              </a:path>
            </a:pathLst>
          </a:custGeom>
          <a:blipFill>
            <a:blip r:embed="rId2">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4931249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68F1A-546C-3132-D77D-A0CD5ED2C0EE}"/>
              </a:ext>
            </a:extLst>
          </p:cNvPr>
          <p:cNvSpPr>
            <a:spLocks noGrp="1"/>
          </p:cNvSpPr>
          <p:nvPr>
            <p:ph type="title"/>
          </p:nvPr>
        </p:nvSpPr>
        <p:spPr>
          <a:xfrm>
            <a:off x="2589212" y="82063"/>
            <a:ext cx="8915399" cy="866028"/>
          </a:xfrm>
        </p:spPr>
        <p:txBody>
          <a:bodyPr/>
          <a:lstStyle/>
          <a:p>
            <a:pPr algn="ctr"/>
            <a:r>
              <a:rPr lang="en-US" dirty="0">
                <a:solidFill>
                  <a:schemeClr val="tx2">
                    <a:lumMod val="60000"/>
                    <a:lumOff val="40000"/>
                  </a:schemeClr>
                </a:solidFill>
                <a:latin typeface="Cooper Black" panose="0208090404030B020404" pitchFamily="18" charset="0"/>
              </a:rPr>
              <a:t>Screen Shot’s</a:t>
            </a:r>
          </a:p>
        </p:txBody>
      </p:sp>
      <p:pic>
        <p:nvPicPr>
          <p:cNvPr id="4" name="Picture 3">
            <a:extLst>
              <a:ext uri="{FF2B5EF4-FFF2-40B4-BE49-F238E27FC236}">
                <a16:creationId xmlns:a16="http://schemas.microsoft.com/office/drawing/2014/main" id="{565447DC-8A1B-2E79-3DC2-EA689E6EEEB5}"/>
              </a:ext>
            </a:extLst>
          </p:cNvPr>
          <p:cNvPicPr>
            <a:picLocks noChangeAspect="1"/>
          </p:cNvPicPr>
          <p:nvPr/>
        </p:nvPicPr>
        <p:blipFill>
          <a:blip r:embed="rId2"/>
          <a:stretch>
            <a:fillRect/>
          </a:stretch>
        </p:blipFill>
        <p:spPr>
          <a:xfrm>
            <a:off x="1817077" y="1100491"/>
            <a:ext cx="9835661" cy="5675446"/>
          </a:xfrm>
          <a:prstGeom prst="rect">
            <a:avLst/>
          </a:prstGeom>
        </p:spPr>
      </p:pic>
      <p:sp>
        <p:nvSpPr>
          <p:cNvPr id="5" name="Freeform 2">
            <a:extLst>
              <a:ext uri="{FF2B5EF4-FFF2-40B4-BE49-F238E27FC236}">
                <a16:creationId xmlns:a16="http://schemas.microsoft.com/office/drawing/2014/main" id="{EC073E20-F24C-861C-CCF6-85BB282C31AB}"/>
              </a:ext>
            </a:extLst>
          </p:cNvPr>
          <p:cNvSpPr/>
          <p:nvPr/>
        </p:nvSpPr>
        <p:spPr>
          <a:xfrm rot="8150801" flipH="1" flipV="1">
            <a:off x="-205" y="308404"/>
            <a:ext cx="1951894" cy="963879"/>
          </a:xfrm>
          <a:custGeom>
            <a:avLst/>
            <a:gdLst/>
            <a:ahLst/>
            <a:cxnLst/>
            <a:rect l="l" t="t" r="r" b="b"/>
            <a:pathLst>
              <a:path w="3356927" h="2038570">
                <a:moveTo>
                  <a:pt x="3356927" y="2038570"/>
                </a:moveTo>
                <a:lnTo>
                  <a:pt x="0" y="2038570"/>
                </a:lnTo>
                <a:lnTo>
                  <a:pt x="0" y="0"/>
                </a:lnTo>
                <a:lnTo>
                  <a:pt x="3356927" y="0"/>
                </a:lnTo>
                <a:lnTo>
                  <a:pt x="3356927" y="2038570"/>
                </a:lnTo>
                <a:close/>
              </a:path>
            </a:pathLst>
          </a:custGeom>
          <a:blipFill>
            <a:blip r:embed="rId3">
              <a:extLst>
                <a:ext uri="{96DAC541-7B7A-43D3-8B79-37D633B846F1}">
                  <asvg:svgBlip xmlns:asvg="http://schemas.microsoft.com/office/drawing/2016/SVG/main" r:embed="rId4"/>
                </a:ext>
              </a:extLst>
            </a:blip>
            <a:stretch>
              <a:fillRect/>
            </a:stretch>
          </a:blipFill>
        </p:spPr>
      </p:sp>
    </p:spTree>
    <p:extLst>
      <p:ext uri="{BB962C8B-B14F-4D97-AF65-F5344CB8AC3E}">
        <p14:creationId xmlns:p14="http://schemas.microsoft.com/office/powerpoint/2010/main" val="33611288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825A3-F9AB-2B65-F102-F8C50AB2B533}"/>
              </a:ext>
            </a:extLst>
          </p:cNvPr>
          <p:cNvSpPr>
            <a:spLocks noGrp="1"/>
          </p:cNvSpPr>
          <p:nvPr>
            <p:ph type="title"/>
          </p:nvPr>
        </p:nvSpPr>
        <p:spPr>
          <a:xfrm>
            <a:off x="2589212" y="609599"/>
            <a:ext cx="8915399" cy="5580185"/>
          </a:xfrm>
        </p:spPr>
        <p:txBody>
          <a:bodyPr>
            <a:noAutofit/>
          </a:bodyPr>
          <a:lstStyle/>
          <a:p>
            <a:pPr algn="ctr"/>
            <a:r>
              <a:rPr lang="en-US" sz="3600" b="1" dirty="0"/>
              <a:t>The screenshots of the Origami Hub website visually demonstrate the overall design, layout, and functionality of the system. They highlight key pages such as the homepage, product listings, and detailed views, showing how content is organized and presented to users.</a:t>
            </a:r>
          </a:p>
        </p:txBody>
      </p:sp>
      <p:sp>
        <p:nvSpPr>
          <p:cNvPr id="4" name="Freeform 2">
            <a:extLst>
              <a:ext uri="{FF2B5EF4-FFF2-40B4-BE49-F238E27FC236}">
                <a16:creationId xmlns:a16="http://schemas.microsoft.com/office/drawing/2014/main" id="{56DC143A-3F8B-8F9A-F717-DCE49BAB48D3}"/>
              </a:ext>
            </a:extLst>
          </p:cNvPr>
          <p:cNvSpPr/>
          <p:nvPr/>
        </p:nvSpPr>
        <p:spPr>
          <a:xfrm rot="1614470" flipH="1" flipV="1">
            <a:off x="10119704" y="5471367"/>
            <a:ext cx="1951894" cy="999042"/>
          </a:xfrm>
          <a:custGeom>
            <a:avLst/>
            <a:gdLst/>
            <a:ahLst/>
            <a:cxnLst/>
            <a:rect l="l" t="t" r="r" b="b"/>
            <a:pathLst>
              <a:path w="3356927" h="2038570">
                <a:moveTo>
                  <a:pt x="3356927" y="2038570"/>
                </a:moveTo>
                <a:lnTo>
                  <a:pt x="0" y="2038570"/>
                </a:lnTo>
                <a:lnTo>
                  <a:pt x="0" y="0"/>
                </a:lnTo>
                <a:lnTo>
                  <a:pt x="3356927" y="0"/>
                </a:lnTo>
                <a:lnTo>
                  <a:pt x="3356927" y="2038570"/>
                </a:lnTo>
                <a:close/>
              </a:path>
            </a:pathLst>
          </a:custGeom>
          <a:blipFill>
            <a:blip r:embed="rId2">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7392030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362D7-6DF8-E9F8-476D-E3EE574A87B2}"/>
              </a:ext>
            </a:extLst>
          </p:cNvPr>
          <p:cNvSpPr>
            <a:spLocks noGrp="1"/>
          </p:cNvSpPr>
          <p:nvPr>
            <p:ph type="title"/>
          </p:nvPr>
        </p:nvSpPr>
        <p:spPr>
          <a:xfrm>
            <a:off x="2589212" y="164124"/>
            <a:ext cx="8915399" cy="867508"/>
          </a:xfrm>
        </p:spPr>
        <p:txBody>
          <a:bodyPr>
            <a:noAutofit/>
          </a:bodyPr>
          <a:lstStyle/>
          <a:p>
            <a:pPr algn="ctr"/>
            <a:r>
              <a:rPr lang="en-US" dirty="0">
                <a:solidFill>
                  <a:schemeClr val="tx2">
                    <a:lumMod val="60000"/>
                    <a:lumOff val="40000"/>
                  </a:schemeClr>
                </a:solidFill>
                <a:latin typeface="Cooper Black" panose="0208090404030B020404" pitchFamily="18" charset="0"/>
              </a:rPr>
              <a:t>Source Code With Comment</a:t>
            </a:r>
          </a:p>
        </p:txBody>
      </p:sp>
      <p:pic>
        <p:nvPicPr>
          <p:cNvPr id="4" name="Picture 3">
            <a:extLst>
              <a:ext uri="{FF2B5EF4-FFF2-40B4-BE49-F238E27FC236}">
                <a16:creationId xmlns:a16="http://schemas.microsoft.com/office/drawing/2014/main" id="{E2B187F1-7457-37BC-EDB6-A44CD250A170}"/>
              </a:ext>
            </a:extLst>
          </p:cNvPr>
          <p:cNvPicPr>
            <a:picLocks noChangeAspect="1"/>
          </p:cNvPicPr>
          <p:nvPr/>
        </p:nvPicPr>
        <p:blipFill>
          <a:blip r:embed="rId2"/>
          <a:stretch>
            <a:fillRect/>
          </a:stretch>
        </p:blipFill>
        <p:spPr>
          <a:xfrm>
            <a:off x="1641232" y="1148862"/>
            <a:ext cx="9863380" cy="5224761"/>
          </a:xfrm>
          <a:prstGeom prst="rect">
            <a:avLst/>
          </a:prstGeom>
        </p:spPr>
      </p:pic>
      <p:sp>
        <p:nvSpPr>
          <p:cNvPr id="5" name="Freeform 2">
            <a:extLst>
              <a:ext uri="{FF2B5EF4-FFF2-40B4-BE49-F238E27FC236}">
                <a16:creationId xmlns:a16="http://schemas.microsoft.com/office/drawing/2014/main" id="{C529A881-373E-9E61-FEA3-04E2216018EE}"/>
              </a:ext>
            </a:extLst>
          </p:cNvPr>
          <p:cNvSpPr/>
          <p:nvPr/>
        </p:nvSpPr>
        <p:spPr>
          <a:xfrm rot="7802833" flipH="1" flipV="1">
            <a:off x="214900" y="238877"/>
            <a:ext cx="1221488" cy="863390"/>
          </a:xfrm>
          <a:custGeom>
            <a:avLst/>
            <a:gdLst/>
            <a:ahLst/>
            <a:cxnLst/>
            <a:rect l="l" t="t" r="r" b="b"/>
            <a:pathLst>
              <a:path w="3356927" h="2038570">
                <a:moveTo>
                  <a:pt x="3356927" y="2038570"/>
                </a:moveTo>
                <a:lnTo>
                  <a:pt x="0" y="2038570"/>
                </a:lnTo>
                <a:lnTo>
                  <a:pt x="0" y="0"/>
                </a:lnTo>
                <a:lnTo>
                  <a:pt x="3356927" y="0"/>
                </a:lnTo>
                <a:lnTo>
                  <a:pt x="3356927" y="2038570"/>
                </a:lnTo>
                <a:close/>
              </a:path>
            </a:pathLst>
          </a:custGeom>
          <a:blipFill>
            <a:blip r:embed="rId3">
              <a:extLst>
                <a:ext uri="{96DAC541-7B7A-43D3-8B79-37D633B846F1}">
                  <asvg:svgBlip xmlns:asvg="http://schemas.microsoft.com/office/drawing/2016/SVG/main" r:embed="rId4"/>
                </a:ext>
              </a:extLst>
            </a:blip>
            <a:stretch>
              <a:fillRect/>
            </a:stretch>
          </a:blipFill>
        </p:spPr>
      </p:sp>
    </p:spTree>
    <p:extLst>
      <p:ext uri="{BB962C8B-B14F-4D97-AF65-F5344CB8AC3E}">
        <p14:creationId xmlns:p14="http://schemas.microsoft.com/office/powerpoint/2010/main" val="4768699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096B0D2-C554-1756-20A2-1840FB0371B4}"/>
              </a:ext>
            </a:extLst>
          </p:cNvPr>
          <p:cNvSpPr>
            <a:spLocks noGrp="1"/>
          </p:cNvSpPr>
          <p:nvPr>
            <p:ph type="body" idx="1"/>
          </p:nvPr>
        </p:nvSpPr>
        <p:spPr>
          <a:xfrm>
            <a:off x="1641232" y="339969"/>
            <a:ext cx="9863380" cy="5569941"/>
          </a:xfrm>
        </p:spPr>
        <p:txBody>
          <a:bodyPr/>
          <a:lstStyle/>
          <a:p>
            <a:pPr algn="ctr"/>
            <a:r>
              <a:rPr lang="en-US" sz="4000" b="1" dirty="0"/>
              <a:t>The source code of the Origami Hub website is written in a well-structured and organized manner with proper comments. These comments explain the purpose of each section, function, and logic, making the code easy to understand, maintain, and modify for future development</a:t>
            </a:r>
            <a:r>
              <a:rPr lang="en-US" dirty="0"/>
              <a:t>.</a:t>
            </a:r>
          </a:p>
        </p:txBody>
      </p:sp>
      <p:sp>
        <p:nvSpPr>
          <p:cNvPr id="5" name="Freeform 2">
            <a:extLst>
              <a:ext uri="{FF2B5EF4-FFF2-40B4-BE49-F238E27FC236}">
                <a16:creationId xmlns:a16="http://schemas.microsoft.com/office/drawing/2014/main" id="{4749CE94-5164-2B57-CE1E-DC3B0A5A0D88}"/>
              </a:ext>
            </a:extLst>
          </p:cNvPr>
          <p:cNvSpPr/>
          <p:nvPr/>
        </p:nvSpPr>
        <p:spPr>
          <a:xfrm rot="1614470" flipH="1" flipV="1">
            <a:off x="9689753" y="5471367"/>
            <a:ext cx="1951894" cy="999042"/>
          </a:xfrm>
          <a:custGeom>
            <a:avLst/>
            <a:gdLst/>
            <a:ahLst/>
            <a:cxnLst/>
            <a:rect l="l" t="t" r="r" b="b"/>
            <a:pathLst>
              <a:path w="3356927" h="2038570">
                <a:moveTo>
                  <a:pt x="3356927" y="2038570"/>
                </a:moveTo>
                <a:lnTo>
                  <a:pt x="0" y="2038570"/>
                </a:lnTo>
                <a:lnTo>
                  <a:pt x="0" y="0"/>
                </a:lnTo>
                <a:lnTo>
                  <a:pt x="3356927" y="0"/>
                </a:lnTo>
                <a:lnTo>
                  <a:pt x="3356927" y="2038570"/>
                </a:lnTo>
                <a:close/>
              </a:path>
            </a:pathLst>
          </a:custGeom>
          <a:blipFill>
            <a:blip r:embed="rId2">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41033652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58CA1-18B1-22B9-A183-401CF9779B9D}"/>
              </a:ext>
            </a:extLst>
          </p:cNvPr>
          <p:cNvSpPr>
            <a:spLocks noGrp="1"/>
          </p:cNvSpPr>
          <p:nvPr>
            <p:ph type="title"/>
          </p:nvPr>
        </p:nvSpPr>
        <p:spPr>
          <a:xfrm>
            <a:off x="2589212" y="187570"/>
            <a:ext cx="8915399" cy="760520"/>
          </a:xfrm>
        </p:spPr>
        <p:txBody>
          <a:bodyPr>
            <a:noAutofit/>
          </a:bodyPr>
          <a:lstStyle/>
          <a:p>
            <a:pPr algn="ctr"/>
            <a:r>
              <a:rPr lang="en-US" sz="4400" dirty="0">
                <a:solidFill>
                  <a:schemeClr val="tx2">
                    <a:lumMod val="60000"/>
                    <a:lumOff val="40000"/>
                  </a:schemeClr>
                </a:solidFill>
                <a:latin typeface="Cooper Black" panose="0208090404030B020404" pitchFamily="18" charset="0"/>
              </a:rPr>
              <a:t>Conclusion</a:t>
            </a:r>
          </a:p>
        </p:txBody>
      </p:sp>
      <p:sp>
        <p:nvSpPr>
          <p:cNvPr id="3" name="Text Placeholder 2">
            <a:extLst>
              <a:ext uri="{FF2B5EF4-FFF2-40B4-BE49-F238E27FC236}">
                <a16:creationId xmlns:a16="http://schemas.microsoft.com/office/drawing/2014/main" id="{3EF0997F-A468-F730-774B-BD5EA4948E5E}"/>
              </a:ext>
            </a:extLst>
          </p:cNvPr>
          <p:cNvSpPr>
            <a:spLocks noGrp="1"/>
          </p:cNvSpPr>
          <p:nvPr>
            <p:ph type="body" idx="1"/>
          </p:nvPr>
        </p:nvSpPr>
        <p:spPr>
          <a:xfrm>
            <a:off x="2589213" y="1066800"/>
            <a:ext cx="4491526" cy="4843110"/>
          </a:xfrm>
        </p:spPr>
        <p:txBody>
          <a:bodyPr>
            <a:noAutofit/>
          </a:bodyPr>
          <a:lstStyle/>
          <a:p>
            <a:pPr algn="ctr"/>
            <a:r>
              <a:rPr lang="en-US" sz="2400" b="1" dirty="0"/>
              <a:t>The Origami Hub website is a complete and well-structured project that combines attractive design with efficient functionality. It provides a user-friendly platform for exploring origami products and information. The project successfully demonstrates practical web development skills, system design, and effective data management.</a:t>
            </a:r>
          </a:p>
        </p:txBody>
      </p:sp>
      <p:pic>
        <p:nvPicPr>
          <p:cNvPr id="4" name="Picture 3">
            <a:extLst>
              <a:ext uri="{FF2B5EF4-FFF2-40B4-BE49-F238E27FC236}">
                <a16:creationId xmlns:a16="http://schemas.microsoft.com/office/drawing/2014/main" id="{3714D120-DA0F-03C2-3F88-02821720DDD0}"/>
              </a:ext>
            </a:extLst>
          </p:cNvPr>
          <p:cNvPicPr>
            <a:picLocks noChangeAspect="1"/>
          </p:cNvPicPr>
          <p:nvPr/>
        </p:nvPicPr>
        <p:blipFill>
          <a:blip r:embed="rId2"/>
          <a:stretch>
            <a:fillRect/>
          </a:stretch>
        </p:blipFill>
        <p:spPr>
          <a:xfrm>
            <a:off x="7186245" y="1066800"/>
            <a:ext cx="4607169" cy="5392615"/>
          </a:xfrm>
          <a:prstGeom prst="rect">
            <a:avLst/>
          </a:prstGeom>
        </p:spPr>
      </p:pic>
      <p:sp>
        <p:nvSpPr>
          <p:cNvPr id="5" name="Freeform 2">
            <a:extLst>
              <a:ext uri="{FF2B5EF4-FFF2-40B4-BE49-F238E27FC236}">
                <a16:creationId xmlns:a16="http://schemas.microsoft.com/office/drawing/2014/main" id="{34F792A1-72C9-C3D7-B1A3-0F8A7625364C}"/>
              </a:ext>
            </a:extLst>
          </p:cNvPr>
          <p:cNvSpPr/>
          <p:nvPr/>
        </p:nvSpPr>
        <p:spPr>
          <a:xfrm rot="7920490" flipH="1" flipV="1">
            <a:off x="200369" y="218866"/>
            <a:ext cx="1951894" cy="1101974"/>
          </a:xfrm>
          <a:custGeom>
            <a:avLst/>
            <a:gdLst/>
            <a:ahLst/>
            <a:cxnLst/>
            <a:rect l="l" t="t" r="r" b="b"/>
            <a:pathLst>
              <a:path w="3356927" h="2038570">
                <a:moveTo>
                  <a:pt x="3356927" y="2038570"/>
                </a:moveTo>
                <a:lnTo>
                  <a:pt x="0" y="2038570"/>
                </a:lnTo>
                <a:lnTo>
                  <a:pt x="0" y="0"/>
                </a:lnTo>
                <a:lnTo>
                  <a:pt x="3356927" y="0"/>
                </a:lnTo>
                <a:lnTo>
                  <a:pt x="3356927" y="2038570"/>
                </a:lnTo>
                <a:close/>
              </a:path>
            </a:pathLst>
          </a:custGeom>
          <a:blipFill>
            <a:blip r:embed="rId3">
              <a:extLst>
                <a:ext uri="{96DAC541-7B7A-43D3-8B79-37D633B846F1}">
                  <asvg:svgBlip xmlns:asvg="http://schemas.microsoft.com/office/drawing/2016/SVG/main" r:embed="rId4"/>
                </a:ext>
              </a:extLst>
            </a:blip>
            <a:stretch>
              <a:fillRect/>
            </a:stretch>
          </a:blipFill>
        </p:spPr>
      </p:sp>
    </p:spTree>
    <p:extLst>
      <p:ext uri="{BB962C8B-B14F-4D97-AF65-F5344CB8AC3E}">
        <p14:creationId xmlns:p14="http://schemas.microsoft.com/office/powerpoint/2010/main" val="37759093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824DA-8FBE-0FD4-A2C7-02C7D538518C}"/>
              </a:ext>
            </a:extLst>
          </p:cNvPr>
          <p:cNvSpPr>
            <a:spLocks noGrp="1"/>
          </p:cNvSpPr>
          <p:nvPr>
            <p:ph type="title"/>
          </p:nvPr>
        </p:nvSpPr>
        <p:spPr>
          <a:xfrm>
            <a:off x="2589213" y="948090"/>
            <a:ext cx="7164388" cy="3061202"/>
          </a:xfrm>
        </p:spPr>
        <p:txBody>
          <a:bodyPr>
            <a:normAutofit/>
          </a:bodyPr>
          <a:lstStyle/>
          <a:p>
            <a:pPr algn="ctr"/>
            <a:r>
              <a:rPr lang="en-US" dirty="0">
                <a:solidFill>
                  <a:schemeClr val="tx2">
                    <a:lumMod val="60000"/>
                    <a:lumOff val="40000"/>
                  </a:schemeClr>
                </a:solidFill>
                <a:latin typeface="Cooper Black" panose="0208090404030B020404" pitchFamily="18" charset="0"/>
              </a:rPr>
              <a:t>Thank You !</a:t>
            </a:r>
            <a:br>
              <a:rPr lang="en-US" dirty="0">
                <a:solidFill>
                  <a:schemeClr val="tx2">
                    <a:lumMod val="60000"/>
                    <a:lumOff val="40000"/>
                  </a:schemeClr>
                </a:solidFill>
                <a:latin typeface="Cooper Black" panose="0208090404030B020404" pitchFamily="18" charset="0"/>
              </a:rPr>
            </a:br>
            <a:r>
              <a:rPr lang="en-US" dirty="0">
                <a:solidFill>
                  <a:schemeClr val="tx1"/>
                </a:solidFill>
                <a:latin typeface="Cooper Black" panose="0208090404030B020404" pitchFamily="18" charset="0"/>
              </a:rPr>
              <a:t>For Visiting My Website</a:t>
            </a:r>
          </a:p>
        </p:txBody>
      </p:sp>
      <p:sp>
        <p:nvSpPr>
          <p:cNvPr id="3" name="Text Placeholder 2">
            <a:extLst>
              <a:ext uri="{FF2B5EF4-FFF2-40B4-BE49-F238E27FC236}">
                <a16:creationId xmlns:a16="http://schemas.microsoft.com/office/drawing/2014/main" id="{CDC0261C-38B1-7A12-5FB4-BD757C652E4C}"/>
              </a:ext>
            </a:extLst>
          </p:cNvPr>
          <p:cNvSpPr>
            <a:spLocks noGrp="1"/>
          </p:cNvSpPr>
          <p:nvPr>
            <p:ph type="body" idx="1"/>
          </p:nvPr>
        </p:nvSpPr>
        <p:spPr>
          <a:xfrm>
            <a:off x="4407877" y="3704492"/>
            <a:ext cx="3763107" cy="2825262"/>
          </a:xfrm>
        </p:spPr>
        <p:txBody>
          <a:bodyPr/>
          <a:lstStyle/>
          <a:p>
            <a:pPr algn="ctr"/>
            <a:r>
              <a:rPr lang="en-US" b="1" dirty="0">
                <a:solidFill>
                  <a:schemeClr val="tx2">
                    <a:lumMod val="60000"/>
                    <a:lumOff val="40000"/>
                  </a:schemeClr>
                </a:solidFill>
              </a:rPr>
              <a:t>Made By:</a:t>
            </a:r>
          </a:p>
          <a:p>
            <a:pPr algn="ctr"/>
            <a:r>
              <a:rPr lang="en-US" b="1" dirty="0">
                <a:solidFill>
                  <a:srgbClr val="C00000"/>
                </a:solidFill>
              </a:rPr>
              <a:t>Zainab Naseem</a:t>
            </a:r>
          </a:p>
          <a:p>
            <a:pPr algn="ctr"/>
            <a:r>
              <a:rPr lang="en-US" b="1" dirty="0">
                <a:solidFill>
                  <a:srgbClr val="C00000"/>
                </a:solidFill>
              </a:rPr>
              <a:t>Hassan Gull</a:t>
            </a:r>
          </a:p>
          <a:p>
            <a:pPr algn="ctr"/>
            <a:r>
              <a:rPr lang="en-US" b="1" dirty="0">
                <a:solidFill>
                  <a:srgbClr val="C00000"/>
                </a:solidFill>
              </a:rPr>
              <a:t>Ayesha Behram</a:t>
            </a:r>
          </a:p>
          <a:p>
            <a:pPr algn="ctr"/>
            <a:r>
              <a:rPr lang="en-US" b="1" dirty="0" err="1">
                <a:solidFill>
                  <a:srgbClr val="C00000"/>
                </a:solidFill>
              </a:rPr>
              <a:t>Sohera</a:t>
            </a:r>
            <a:endParaRPr lang="en-US" b="1" dirty="0">
              <a:solidFill>
                <a:srgbClr val="C00000"/>
              </a:solidFill>
            </a:endParaRPr>
          </a:p>
          <a:p>
            <a:pPr algn="ctr"/>
            <a:r>
              <a:rPr lang="en-US" b="1" dirty="0">
                <a:solidFill>
                  <a:srgbClr val="C00000"/>
                </a:solidFill>
              </a:rPr>
              <a:t>Muhammed Tayyab Tahir</a:t>
            </a:r>
          </a:p>
        </p:txBody>
      </p:sp>
      <p:sp>
        <p:nvSpPr>
          <p:cNvPr id="4" name="Freeform 2">
            <a:extLst>
              <a:ext uri="{FF2B5EF4-FFF2-40B4-BE49-F238E27FC236}">
                <a16:creationId xmlns:a16="http://schemas.microsoft.com/office/drawing/2014/main" id="{D7340F2D-1923-93D0-6A39-CFBBF91A52D6}"/>
              </a:ext>
            </a:extLst>
          </p:cNvPr>
          <p:cNvSpPr/>
          <p:nvPr/>
        </p:nvSpPr>
        <p:spPr>
          <a:xfrm rot="8489101" flipH="1" flipV="1">
            <a:off x="141454" y="386660"/>
            <a:ext cx="1951894" cy="1041914"/>
          </a:xfrm>
          <a:custGeom>
            <a:avLst/>
            <a:gdLst/>
            <a:ahLst/>
            <a:cxnLst/>
            <a:rect l="l" t="t" r="r" b="b"/>
            <a:pathLst>
              <a:path w="3356927" h="2038570">
                <a:moveTo>
                  <a:pt x="3356927" y="2038570"/>
                </a:moveTo>
                <a:lnTo>
                  <a:pt x="0" y="2038570"/>
                </a:lnTo>
                <a:lnTo>
                  <a:pt x="0" y="0"/>
                </a:lnTo>
                <a:lnTo>
                  <a:pt x="3356927" y="0"/>
                </a:lnTo>
                <a:lnTo>
                  <a:pt x="3356927" y="2038570"/>
                </a:lnTo>
                <a:close/>
              </a:path>
            </a:pathLst>
          </a:custGeom>
          <a:blipFill>
            <a:blip r:embed="rId2">
              <a:extLst>
                <a:ext uri="{96DAC541-7B7A-43D3-8B79-37D633B846F1}">
                  <asvg:svgBlip xmlns:asvg="http://schemas.microsoft.com/office/drawing/2016/SVG/main" r:embed="rId3"/>
                </a:ext>
              </a:extLst>
            </a:blip>
            <a:stretch>
              <a:fillRect/>
            </a:stretch>
          </a:blipFill>
        </p:spPr>
      </p:sp>
    </p:spTree>
    <p:extLst>
      <p:ext uri="{BB962C8B-B14F-4D97-AF65-F5344CB8AC3E}">
        <p14:creationId xmlns:p14="http://schemas.microsoft.com/office/powerpoint/2010/main" val="3198596663"/>
      </p:ext>
    </p:extLst>
  </p:cSld>
  <p:clrMapOvr>
    <a:masterClrMapping/>
  </p:clrMapOvr>
</p:sld>
</file>

<file path=ppt/theme/theme1.xml><?xml version="1.0" encoding="utf-8"?>
<a:theme xmlns:a="http://schemas.openxmlformats.org/drawingml/2006/main" name="Wisp">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2199</TotalTime>
  <Words>1222</Words>
  <Application>Microsoft Office PowerPoint</Application>
  <PresentationFormat>Widescreen</PresentationFormat>
  <Paragraphs>72</Paragraphs>
  <Slides>25</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Calibri</vt:lpstr>
      <vt:lpstr>Century Gothic</vt:lpstr>
      <vt:lpstr>Circe</vt:lpstr>
      <vt:lpstr>Cooper Black</vt:lpstr>
      <vt:lpstr>Shantell Sans</vt:lpstr>
      <vt:lpstr>Wingdings 3</vt:lpstr>
      <vt:lpstr>Wisp</vt:lpstr>
      <vt:lpstr>Origami Hub</vt:lpstr>
      <vt:lpstr>Overview:</vt:lpstr>
      <vt:lpstr>About Me:</vt:lpstr>
      <vt:lpstr> </vt:lpstr>
      <vt:lpstr>Acknowledgment</vt:lpstr>
      <vt:lpstr>Synopsis</vt:lpstr>
      <vt:lpstr>Origami Hub is a creative and educational platform designed for origami lovers of all ages. The website focuses on teaching the art of paper folding in a simple and engaging way. It provides step-by-step tutorials that help beginners learn origami with ease. Advanced users can explore complex designs and innovative folding techniques. Origami Hub also shares creative DIY ideas to boost imagination and creativity. The platform encourages learning through visuals, guides, and clear instructions. Users can discover new patterns, shapes, and artistic concepts regularly. </vt:lpstr>
      <vt:lpstr>Analysis</vt:lpstr>
      <vt:lpstr>The analysis of the Origami Hub website shows a strong focus on creativity, usability, and learning efficiency. The website structure is simple and well-organized, making navigation easy for users. Clear categories, visual tutorials, and responsive design enhance the overall user experience. </vt:lpstr>
      <vt:lpstr>Project Design</vt:lpstr>
      <vt:lpstr>The design emphasizes smooth navigation, responsive layout, and visually appealing color schemes. Well-organized sections, clear typography, and graphical elements improve usability and provide an engaging and professional user experience across all devices.</vt:lpstr>
      <vt:lpstr> DFD’s</vt:lpstr>
      <vt:lpstr>The DFD also represents backend processes such as user authentication, order management, and content updates. It helps in understanding how information is processed, stored, and retrieved efficiently, making the website reliable, organized, and easy to manage from both user and admin perspectives. </vt:lpstr>
      <vt:lpstr>Flow Chart</vt:lpstr>
      <vt:lpstr>The flowchart of the Origami Hub website represents the step-by-step flow of user activities within the system. It shows how users navigate from the homepage to browsing origami products, viewing details, and submitting orders or inquiries, ensuring a smooth and logical process flow.</vt:lpstr>
      <vt:lpstr>Process Diagram</vt:lpstr>
      <vt:lpstr> The process diagram of the Origami Hub website illustrates the complete workflow of system operations. It shows how user requests are received, processed, and converted into actions such as product browsing, order placement, and inquiry submission, ensuring smooth coordination between frontend and backend processes.</vt:lpstr>
      <vt:lpstr>Database Design/Structure</vt:lpstr>
      <vt:lpstr>The database structure also supports secure user authentication and smooth order management. Proper relationships between tables improve system performance, reduce data redundancy, and make the website scalable, reliable, and easy to maintain for future enhancements</vt:lpstr>
      <vt:lpstr>Screen Shot’s</vt:lpstr>
      <vt:lpstr>The screenshots of the Origami Hub website visually demonstrate the overall design, layout, and functionality of the system. They highlight key pages such as the homepage, product listings, and detailed views, showing how content is organized and presented to users.</vt:lpstr>
      <vt:lpstr>Source Code With Comment</vt:lpstr>
      <vt:lpstr>PowerPoint Presentation</vt:lpstr>
      <vt:lpstr>Conclusion</vt:lpstr>
      <vt:lpstr>Thank You ! For Visiting My Website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ZR</dc:creator>
  <cp:lastModifiedBy>ZR</cp:lastModifiedBy>
  <cp:revision>3</cp:revision>
  <dcterms:created xsi:type="dcterms:W3CDTF">2025-12-25T03:17:55Z</dcterms:created>
  <dcterms:modified xsi:type="dcterms:W3CDTF">2025-12-27T12:34:18Z</dcterms:modified>
</cp:coreProperties>
</file>